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74" r:id="rId6"/>
    <p:sldId id="279" r:id="rId7"/>
    <p:sldId id="276" r:id="rId8"/>
    <p:sldId id="280" r:id="rId9"/>
    <p:sldId id="271" r:id="rId10"/>
    <p:sldId id="281" r:id="rId11"/>
    <p:sldId id="283" r:id="rId12"/>
    <p:sldId id="285" r:id="rId13"/>
    <p:sldId id="268" r:id="rId14"/>
    <p:sldId id="269" r:id="rId15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85" autoAdjust="0"/>
    <p:restoredTop sz="94660"/>
  </p:normalViewPr>
  <p:slideViewPr>
    <p:cSldViewPr>
      <p:cViewPr varScale="1">
        <p:scale>
          <a:sx n="63" d="100"/>
          <a:sy n="63" d="100"/>
        </p:scale>
        <p:origin x="1356" y="6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noj Reddy Tetala" userId="d0a499fca1df3751" providerId="LiveId" clId="{844F9A02-E604-4125-9813-311D2C5B92A5}"/>
    <pc:docChg chg="undo custSel delSld modSld">
      <pc:chgData name="Manoj Reddy Tetala" userId="d0a499fca1df3751" providerId="LiveId" clId="{844F9A02-E604-4125-9813-311D2C5B92A5}" dt="2026-10-29T14:55:10.002" v="118" actId="47"/>
      <pc:docMkLst>
        <pc:docMk/>
      </pc:docMkLst>
      <pc:sldChg chg="modSp mod">
        <pc:chgData name="Manoj Reddy Tetala" userId="d0a499fca1df3751" providerId="LiveId" clId="{844F9A02-E604-4125-9813-311D2C5B92A5}" dt="2026-10-26T10:54:21.252" v="117" actId="1076"/>
        <pc:sldMkLst>
          <pc:docMk/>
          <pc:sldMk cId="0" sldId="256"/>
        </pc:sldMkLst>
        <pc:spChg chg="mod">
          <ac:chgData name="Manoj Reddy Tetala" userId="d0a499fca1df3751" providerId="LiveId" clId="{844F9A02-E604-4125-9813-311D2C5B92A5}" dt="2026-10-26T10:54:21.252" v="117" actId="1076"/>
          <ac:spMkLst>
            <pc:docMk/>
            <pc:sldMk cId="0" sldId="256"/>
            <ac:spMk id="8" creationId="{00000000-0000-0000-0000-000000000000}"/>
          </ac:spMkLst>
        </pc:spChg>
      </pc:sldChg>
      <pc:sldChg chg="modSp mod">
        <pc:chgData name="Manoj Reddy Tetala" userId="d0a499fca1df3751" providerId="LiveId" clId="{844F9A02-E604-4125-9813-311D2C5B92A5}" dt="2026-10-26T10:17:09.998" v="72"/>
        <pc:sldMkLst>
          <pc:docMk/>
          <pc:sldMk cId="0" sldId="257"/>
        </pc:sldMkLst>
        <pc:spChg chg="mod">
          <ac:chgData name="Manoj Reddy Tetala" userId="d0a499fca1df3751" providerId="LiveId" clId="{844F9A02-E604-4125-9813-311D2C5B92A5}" dt="2026-10-26T10:17:09.998" v="72"/>
          <ac:spMkLst>
            <pc:docMk/>
            <pc:sldMk cId="0" sldId="257"/>
            <ac:spMk id="10" creationId="{00000000-0000-0000-0000-000000000000}"/>
          </ac:spMkLst>
        </pc:spChg>
      </pc:sldChg>
      <pc:sldChg chg="modSp mod">
        <pc:chgData name="Manoj Reddy Tetala" userId="d0a499fca1df3751" providerId="LiveId" clId="{844F9A02-E604-4125-9813-311D2C5B92A5}" dt="2026-10-26T10:17:23.987" v="73"/>
        <pc:sldMkLst>
          <pc:docMk/>
          <pc:sldMk cId="0" sldId="258"/>
        </pc:sldMkLst>
        <pc:spChg chg="mod">
          <ac:chgData name="Manoj Reddy Tetala" userId="d0a499fca1df3751" providerId="LiveId" clId="{844F9A02-E604-4125-9813-311D2C5B92A5}" dt="2026-10-26T10:17:23.987" v="73"/>
          <ac:spMkLst>
            <pc:docMk/>
            <pc:sldMk cId="0" sldId="258"/>
            <ac:spMk id="11" creationId="{00000000-0000-0000-0000-000000000000}"/>
          </ac:spMkLst>
        </pc:spChg>
      </pc:sldChg>
      <pc:sldChg chg="modSp mod">
        <pc:chgData name="Manoj Reddy Tetala" userId="d0a499fca1df3751" providerId="LiveId" clId="{844F9A02-E604-4125-9813-311D2C5B92A5}" dt="2026-10-26T10:17:30.153" v="74"/>
        <pc:sldMkLst>
          <pc:docMk/>
          <pc:sldMk cId="86789223" sldId="259"/>
        </pc:sldMkLst>
        <pc:spChg chg="mod">
          <ac:chgData name="Manoj Reddy Tetala" userId="d0a499fca1df3751" providerId="LiveId" clId="{844F9A02-E604-4125-9813-311D2C5B92A5}" dt="2026-10-26T10:17:30.153" v="74"/>
          <ac:spMkLst>
            <pc:docMk/>
            <pc:sldMk cId="86789223" sldId="259"/>
            <ac:spMk id="18" creationId="{00000000-0000-0000-0000-000000000000}"/>
          </ac:spMkLst>
        </pc:spChg>
      </pc:sldChg>
      <pc:sldChg chg="modSp mod">
        <pc:chgData name="Manoj Reddy Tetala" userId="d0a499fca1df3751" providerId="LiveId" clId="{844F9A02-E604-4125-9813-311D2C5B92A5}" dt="2026-10-26T10:21:16.522" v="105" actId="1076"/>
        <pc:sldMkLst>
          <pc:docMk/>
          <pc:sldMk cId="314495878" sldId="271"/>
        </pc:sldMkLst>
        <pc:spChg chg="mod">
          <ac:chgData name="Manoj Reddy Tetala" userId="d0a499fca1df3751" providerId="LiveId" clId="{844F9A02-E604-4125-9813-311D2C5B92A5}" dt="2026-10-26T10:21:16.522" v="105" actId="1076"/>
          <ac:spMkLst>
            <pc:docMk/>
            <pc:sldMk cId="314495878" sldId="271"/>
            <ac:spMk id="12" creationId="{00000000-0000-0000-0000-000000000000}"/>
          </ac:spMkLst>
        </pc:spChg>
      </pc:sldChg>
      <pc:sldChg chg="modSp mod">
        <pc:chgData name="Manoj Reddy Tetala" userId="d0a499fca1df3751" providerId="LiveId" clId="{844F9A02-E604-4125-9813-311D2C5B92A5}" dt="2026-10-26T10:18:07.166" v="79" actId="1076"/>
        <pc:sldMkLst>
          <pc:docMk/>
          <pc:sldMk cId="4273835673" sldId="274"/>
        </pc:sldMkLst>
        <pc:spChg chg="mod">
          <ac:chgData name="Manoj Reddy Tetala" userId="d0a499fca1df3751" providerId="LiveId" clId="{844F9A02-E604-4125-9813-311D2C5B92A5}" dt="2026-10-26T10:17:53.100" v="77" actId="1076"/>
          <ac:spMkLst>
            <pc:docMk/>
            <pc:sldMk cId="4273835673" sldId="274"/>
            <ac:spMk id="18" creationId="{00000000-0000-0000-0000-000000000000}"/>
          </ac:spMkLst>
        </pc:spChg>
        <pc:grpChg chg="mod">
          <ac:chgData name="Manoj Reddy Tetala" userId="d0a499fca1df3751" providerId="LiveId" clId="{844F9A02-E604-4125-9813-311D2C5B92A5}" dt="2026-10-26T10:18:07.166" v="79" actId="1076"/>
          <ac:grpSpMkLst>
            <pc:docMk/>
            <pc:sldMk cId="4273835673" sldId="274"/>
            <ac:grpSpMk id="4" creationId="{2B9EFFBF-7726-ED21-BD6C-4021B49E4438}"/>
          </ac:grpSpMkLst>
        </pc:grpChg>
        <pc:picChg chg="mod">
          <ac:chgData name="Manoj Reddy Tetala" userId="d0a499fca1df3751" providerId="LiveId" clId="{844F9A02-E604-4125-9813-311D2C5B92A5}" dt="2026-10-26T10:17:48.509" v="76" actId="1076"/>
          <ac:picMkLst>
            <pc:docMk/>
            <pc:sldMk cId="4273835673" sldId="274"/>
            <ac:picMk id="7" creationId="{5FC53D65-7751-C01A-F243-C971B8A54510}"/>
          </ac:picMkLst>
        </pc:picChg>
      </pc:sldChg>
      <pc:sldChg chg="modSp mod">
        <pc:chgData name="Manoj Reddy Tetala" userId="d0a499fca1df3751" providerId="LiveId" clId="{844F9A02-E604-4125-9813-311D2C5B92A5}" dt="2026-10-26T10:21:02.530" v="103" actId="122"/>
        <pc:sldMkLst>
          <pc:docMk/>
          <pc:sldMk cId="709256651" sldId="276"/>
        </pc:sldMkLst>
        <pc:spChg chg="mod">
          <ac:chgData name="Manoj Reddy Tetala" userId="d0a499fca1df3751" providerId="LiveId" clId="{844F9A02-E604-4125-9813-311D2C5B92A5}" dt="2026-10-26T10:21:02.530" v="103" actId="122"/>
          <ac:spMkLst>
            <pc:docMk/>
            <pc:sldMk cId="709256651" sldId="276"/>
            <ac:spMk id="7" creationId="{6FF94120-5DAA-BA86-6F61-CE59BF796C68}"/>
          </ac:spMkLst>
        </pc:spChg>
        <pc:spChg chg="mod">
          <ac:chgData name="Manoj Reddy Tetala" userId="d0a499fca1df3751" providerId="LiveId" clId="{844F9A02-E604-4125-9813-311D2C5B92A5}" dt="2026-10-26T10:20:50.537" v="96" actId="1076"/>
          <ac:spMkLst>
            <pc:docMk/>
            <pc:sldMk cId="709256651" sldId="276"/>
            <ac:spMk id="18" creationId="{00000000-0000-0000-0000-000000000000}"/>
          </ac:spMkLst>
        </pc:spChg>
        <pc:grpChg chg="mod">
          <ac:chgData name="Manoj Reddy Tetala" userId="d0a499fca1df3751" providerId="LiveId" clId="{844F9A02-E604-4125-9813-311D2C5B92A5}" dt="2026-10-26T10:20:54.378" v="97" actId="1076"/>
          <ac:grpSpMkLst>
            <pc:docMk/>
            <pc:sldMk cId="709256651" sldId="276"/>
            <ac:grpSpMk id="3" creationId="{39A132B5-7282-BB0D-41D0-2D605FAF9D2A}"/>
          </ac:grpSpMkLst>
        </pc:grpChg>
      </pc:sldChg>
      <pc:sldChg chg="modSp mod">
        <pc:chgData name="Manoj Reddy Tetala" userId="d0a499fca1df3751" providerId="LiveId" clId="{844F9A02-E604-4125-9813-311D2C5B92A5}" dt="2026-10-26T10:20:12.028" v="91" actId="122"/>
        <pc:sldMkLst>
          <pc:docMk/>
          <pc:sldMk cId="1626336424" sldId="279"/>
        </pc:sldMkLst>
        <pc:spChg chg="mod">
          <ac:chgData name="Manoj Reddy Tetala" userId="d0a499fca1df3751" providerId="LiveId" clId="{844F9A02-E604-4125-9813-311D2C5B92A5}" dt="2026-10-26T10:19:46.859" v="88" actId="122"/>
          <ac:spMkLst>
            <pc:docMk/>
            <pc:sldMk cId="1626336424" sldId="279"/>
            <ac:spMk id="6" creationId="{2F06FBF5-D468-2472-2E09-3659EB0BF5ED}"/>
          </ac:spMkLst>
        </pc:spChg>
        <pc:spChg chg="mod">
          <ac:chgData name="Manoj Reddy Tetala" userId="d0a499fca1df3751" providerId="LiveId" clId="{844F9A02-E604-4125-9813-311D2C5B92A5}" dt="2026-10-26T10:20:12.028" v="91" actId="122"/>
          <ac:spMkLst>
            <pc:docMk/>
            <pc:sldMk cId="1626336424" sldId="279"/>
            <ac:spMk id="18" creationId="{00000000-0000-0000-0000-000000000000}"/>
          </ac:spMkLst>
        </pc:spChg>
        <pc:spChg chg="mod">
          <ac:chgData name="Manoj Reddy Tetala" userId="d0a499fca1df3751" providerId="LiveId" clId="{844F9A02-E604-4125-9813-311D2C5B92A5}" dt="2026-10-26T10:19:46.859" v="88" actId="122"/>
          <ac:spMkLst>
            <pc:docMk/>
            <pc:sldMk cId="1626336424" sldId="279"/>
            <ac:spMk id="19" creationId="{00000000-0000-0000-0000-000000000000}"/>
          </ac:spMkLst>
        </pc:spChg>
        <pc:grpChg chg="mod">
          <ac:chgData name="Manoj Reddy Tetala" userId="d0a499fca1df3751" providerId="LiveId" clId="{844F9A02-E604-4125-9813-311D2C5B92A5}" dt="2026-10-26T10:19:38.113" v="84" actId="1076"/>
          <ac:grpSpMkLst>
            <pc:docMk/>
            <pc:sldMk cId="1626336424" sldId="279"/>
            <ac:grpSpMk id="2" creationId="{5B758792-840A-895D-A2CD-A09955CC1720}"/>
          </ac:grpSpMkLst>
        </pc:grpChg>
      </pc:sldChg>
      <pc:sldChg chg="modSp mod">
        <pc:chgData name="Manoj Reddy Tetala" userId="d0a499fca1df3751" providerId="LiveId" clId="{844F9A02-E604-4125-9813-311D2C5B92A5}" dt="2026-10-26T10:16:33.701" v="44" actId="20577"/>
        <pc:sldMkLst>
          <pc:docMk/>
          <pc:sldMk cId="3510378788" sldId="280"/>
        </pc:sldMkLst>
        <pc:spChg chg="mod">
          <ac:chgData name="Manoj Reddy Tetala" userId="d0a499fca1df3751" providerId="LiveId" clId="{844F9A02-E604-4125-9813-311D2C5B92A5}" dt="2026-10-26T10:16:33.701" v="44" actId="20577"/>
          <ac:spMkLst>
            <pc:docMk/>
            <pc:sldMk cId="3510378788" sldId="280"/>
            <ac:spMk id="18" creationId="{00000000-0000-0000-0000-000000000000}"/>
          </ac:spMkLst>
        </pc:spChg>
      </pc:sldChg>
      <pc:sldChg chg="modSp mod">
        <pc:chgData name="Manoj Reddy Tetala" userId="d0a499fca1df3751" providerId="LiveId" clId="{844F9A02-E604-4125-9813-311D2C5B92A5}" dt="2026-10-26T10:22:27.268" v="112" actId="255"/>
        <pc:sldMkLst>
          <pc:docMk/>
          <pc:sldMk cId="3744217247" sldId="281"/>
        </pc:sldMkLst>
        <pc:spChg chg="mod">
          <ac:chgData name="Manoj Reddy Tetala" userId="d0a499fca1df3751" providerId="LiveId" clId="{844F9A02-E604-4125-9813-311D2C5B92A5}" dt="2026-10-26T10:22:27.268" v="112" actId="255"/>
          <ac:spMkLst>
            <pc:docMk/>
            <pc:sldMk cId="3744217247" sldId="281"/>
            <ac:spMk id="25" creationId="{A5CA9835-2A27-E3B2-E349-E0FE4429CFBE}"/>
          </ac:spMkLst>
        </pc:spChg>
      </pc:sldChg>
      <pc:sldChg chg="modSp">
        <pc:chgData name="Manoj Reddy Tetala" userId="d0a499fca1df3751" providerId="LiveId" clId="{844F9A02-E604-4125-9813-311D2C5B92A5}" dt="2026-10-26T10:21:42.745" v="106"/>
        <pc:sldMkLst>
          <pc:docMk/>
          <pc:sldMk cId="3751606688" sldId="283"/>
        </pc:sldMkLst>
        <pc:spChg chg="mod">
          <ac:chgData name="Manoj Reddy Tetala" userId="d0a499fca1df3751" providerId="LiveId" clId="{844F9A02-E604-4125-9813-311D2C5B92A5}" dt="2026-10-26T10:21:42.745" v="106"/>
          <ac:spMkLst>
            <pc:docMk/>
            <pc:sldMk cId="3751606688" sldId="283"/>
            <ac:spMk id="25" creationId="{00000000-0000-0000-0000-000000000000}"/>
          </ac:spMkLst>
        </pc:spChg>
      </pc:sldChg>
      <pc:sldChg chg="modSp del mod">
        <pc:chgData name="Manoj Reddy Tetala" userId="d0a499fca1df3751" providerId="LiveId" clId="{844F9A02-E604-4125-9813-311D2C5B92A5}" dt="2026-10-29T14:55:10.002" v="118" actId="47"/>
        <pc:sldMkLst>
          <pc:docMk/>
          <pc:sldMk cId="49352596" sldId="284"/>
        </pc:sldMkLst>
      </pc:sldChg>
      <pc:sldChg chg="modSp mod">
        <pc:chgData name="Manoj Reddy Tetala" userId="d0a499fca1df3751" providerId="LiveId" clId="{844F9A02-E604-4125-9813-311D2C5B92A5}" dt="2026-10-26T10:22:04.522" v="111" actId="113"/>
        <pc:sldMkLst>
          <pc:docMk/>
          <pc:sldMk cId="0" sldId="285"/>
        </pc:sldMkLst>
        <pc:spChg chg="mod">
          <ac:chgData name="Manoj Reddy Tetala" userId="d0a499fca1df3751" providerId="LiveId" clId="{844F9A02-E604-4125-9813-311D2C5B92A5}" dt="2026-10-26T10:22:04.522" v="111" actId="113"/>
          <ac:spMkLst>
            <pc:docMk/>
            <pc:sldMk cId="0" sldId="285"/>
            <ac:spMk id="9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r>
              <a:rPr lang="en-US" sz="1500" b="0" dirty="0">
                <a:latin typeface="Arial"/>
              </a:rPr>
              <a:t>Transaction Type Distribution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Transactions</c:v>
                </c:pt>
              </c:strCache>
            </c:strRef>
          </c:tx>
          <c:spPr>
            <a:solidFill>
              <a:srgbClr val="1F77B4"/>
            </a:solidFill>
            <a:ln>
              <a:solidFill>
                <a:srgbClr val="1F77B4"/>
              </a:solidFill>
            </a:ln>
          </c:spPr>
          <c:invertIfNegative val="1"/>
          <c:cat>
            <c:strRef>
              <c:f>Sheet1!$A$2:$A$5</c:f>
              <c:strCache>
                <c:ptCount val="4"/>
                <c:pt idx="0">
                  <c:v>P2P</c:v>
                </c:pt>
                <c:pt idx="1">
                  <c:v>P2M</c:v>
                </c:pt>
                <c:pt idx="2">
                  <c:v>Bill Payment</c:v>
                </c:pt>
                <c:pt idx="3">
                  <c:v>Recharge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112000</c:v>
                </c:pt>
                <c:pt idx="1">
                  <c:v>88000</c:v>
                </c:pt>
                <c:pt idx="2">
                  <c:v>37000</c:v>
                </c:pt>
                <c:pt idx="3">
                  <c:v>13000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1F77B4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0A1-4BBE-8568-DB081FEC49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20000"/>
          <c:min val="0"/>
        </c:scaling>
        <c:delete val="0"/>
        <c:axPos val="l"/>
        <c:majorGridlines>
          <c:spPr>
            <a:ln w="7620">
              <a:solidFill>
                <a:srgbClr val="BEBEBE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500" dirty="0"/>
                  <a:t>Number of Transactions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-2068027336"/>
        <c:crosses val="autoZero"/>
        <c:crossBetween val="between"/>
        <c:majorUnit val="2000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r>
              <a:rPr lang="en-US" sz="1500" b="0" dirty="0">
                <a:latin typeface="Arial"/>
              </a:rPr>
              <a:t>Weekday vs Weekend Transactions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Transactions</c:v>
                </c:pt>
              </c:strCache>
            </c:strRef>
          </c:tx>
          <c:spPr>
            <a:solidFill>
              <a:srgbClr val="1F77B4"/>
            </a:solidFill>
            <a:ln>
              <a:solidFill>
                <a:srgbClr val="1F77B4"/>
              </a:solidFill>
            </a:ln>
          </c:spPr>
          <c:invertIfNegative val="1"/>
          <c:cat>
            <c:strRef>
              <c:f>Sheet1!$A$2:$A$3</c:f>
              <c:strCache>
                <c:ptCount val="2"/>
                <c:pt idx="0">
                  <c:v>Weekday</c:v>
                </c:pt>
                <c:pt idx="1">
                  <c:v>Weekend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179000</c:v>
                </c:pt>
                <c:pt idx="1">
                  <c:v>72000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1F77B4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84F-4634-BFF4-ACE3F2DE76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00000"/>
          <c:min val="0"/>
        </c:scaling>
        <c:delete val="0"/>
        <c:axPos val="l"/>
        <c:majorGridlines>
          <c:spPr>
            <a:ln w="7620">
              <a:solidFill>
                <a:srgbClr val="BEBEBE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500" dirty="0"/>
                  <a:t>Number of Transactions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-2068027336"/>
        <c:crosses val="autoZero"/>
        <c:crossBetween val="between"/>
        <c:majorUnit val="2500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r>
              <a:rPr lang="en-US" sz="1500" b="0" dirty="0">
                <a:latin typeface="Arial"/>
              </a:rPr>
              <a:t>Transaction Activity by Hour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Transactions</c:v>
                </c:pt>
              </c:strCache>
            </c:strRef>
          </c:tx>
          <c:spPr>
            <a:ln w="19050">
              <a:solidFill>
                <a:srgbClr val="1F77B4"/>
              </a:solidFill>
            </a:ln>
          </c:spPr>
          <c:marker>
            <c:symbol val="diamond"/>
            <c:size val="4"/>
            <c:spPr>
              <a:solidFill>
                <a:srgbClr val="1F77B4"/>
              </a:solidFill>
              <a:ln>
                <a:solidFill>
                  <a:srgbClr val="1F77B4"/>
                </a:solidFill>
              </a:ln>
            </c:spPr>
          </c:marker>
          <c:cat>
            <c:strRef>
              <c:f>Sheet1!$A$2:$A$25</c:f>
              <c:strCach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3500</c:v>
                </c:pt>
                <c:pt idx="1">
                  <c:v>2500</c:v>
                </c:pt>
                <c:pt idx="2">
                  <c:v>1800</c:v>
                </c:pt>
                <c:pt idx="3">
                  <c:v>1500</c:v>
                </c:pt>
                <c:pt idx="4">
                  <c:v>1300</c:v>
                </c:pt>
                <c:pt idx="5">
                  <c:v>1400</c:v>
                </c:pt>
                <c:pt idx="6">
                  <c:v>2000</c:v>
                </c:pt>
                <c:pt idx="7">
                  <c:v>3500</c:v>
                </c:pt>
                <c:pt idx="8">
                  <c:v>6500</c:v>
                </c:pt>
                <c:pt idx="9">
                  <c:v>8500</c:v>
                </c:pt>
                <c:pt idx="10">
                  <c:v>10500</c:v>
                </c:pt>
                <c:pt idx="11">
                  <c:v>14000</c:v>
                </c:pt>
                <c:pt idx="12">
                  <c:v>15500</c:v>
                </c:pt>
                <c:pt idx="13">
                  <c:v>17000</c:v>
                </c:pt>
                <c:pt idx="14">
                  <c:v>11500</c:v>
                </c:pt>
                <c:pt idx="15">
                  <c:v>12500</c:v>
                </c:pt>
                <c:pt idx="16">
                  <c:v>14000</c:v>
                </c:pt>
                <c:pt idx="17">
                  <c:v>18000</c:v>
                </c:pt>
                <c:pt idx="18">
                  <c:v>20500</c:v>
                </c:pt>
                <c:pt idx="19">
                  <c:v>22000</c:v>
                </c:pt>
                <c:pt idx="20">
                  <c:v>18500</c:v>
                </c:pt>
                <c:pt idx="21">
                  <c:v>16000</c:v>
                </c:pt>
                <c:pt idx="22">
                  <c:v>9500</c:v>
                </c:pt>
                <c:pt idx="23">
                  <c:v>5500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86-47E4-BDB7-9196C17166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 sz="1500" dirty="0"/>
                  <a:t>Hour of Day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23000"/>
          <c:min val="0"/>
        </c:scaling>
        <c:delete val="0"/>
        <c:axPos val="l"/>
        <c:majorGridlines>
          <c:spPr>
            <a:ln w="7620">
              <a:solidFill>
                <a:srgbClr val="BEBEBE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500" dirty="0"/>
                  <a:t>Number of Transactions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2118791784"/>
        <c:crosses val="autoZero"/>
        <c:crossBetween val="between"/>
        <c:majorUnit val="500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r>
              <a:rPr lang="en-US" sz="1500" b="0" dirty="0">
                <a:latin typeface="Arial"/>
              </a:rPr>
              <a:t>Transactions by Device Type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Transactions</c:v>
                </c:pt>
              </c:strCache>
            </c:strRef>
          </c:tx>
          <c:spPr>
            <a:solidFill>
              <a:srgbClr val="1F77B4"/>
            </a:solidFill>
            <a:ln>
              <a:solidFill>
                <a:srgbClr val="1F77B4"/>
              </a:solidFill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Android</c:v>
                </c:pt>
                <c:pt idx="1">
                  <c:v>iOS</c:v>
                </c:pt>
                <c:pt idx="2">
                  <c:v>Web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185000</c:v>
                </c:pt>
                <c:pt idx="1">
                  <c:v>50000</c:v>
                </c:pt>
                <c:pt idx="2">
                  <c:v>12000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1F77B4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16F-4806-9015-20F0510395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 sz="1500" dirty="0"/>
                  <a:t>Device Type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00000"/>
          <c:min val="0"/>
        </c:scaling>
        <c:delete val="0"/>
        <c:axPos val="l"/>
        <c:majorGridlines>
          <c:spPr>
            <a:ln w="7620">
              <a:solidFill>
                <a:srgbClr val="BEBEBE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500" dirty="0"/>
                  <a:t>Number of Transactions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-2068027336"/>
        <c:crosses val="autoZero"/>
        <c:crossBetween val="between"/>
        <c:majorUnit val="2500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97538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419B0A-DB98-47ED-A0D2-B47FD394FE07}" type="datetimeFigureOut">
              <a:rPr lang="en-IN" smtClean="0"/>
              <a:pPr/>
              <a:t>29-10-2026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32163" y="971550"/>
            <a:ext cx="3394075" cy="26225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06475" y="3740150"/>
            <a:ext cx="8045450" cy="30607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97538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E471F2-2083-493A-8C9E-53209FFA1EC8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6813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E471F2-2083-493A-8C9E-53209FFA1EC8}" type="slidenum">
              <a:rPr lang="en-IN" smtClean="0"/>
              <a:pPr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6106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1E0C1-6277-CAD3-8A7C-7F0F37C61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3776A0-3BEE-1FDC-EADA-6B6FA1E1A0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753676-942B-2284-A56F-CCE051D8D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68B2BB-B290-5A6F-7542-202146F1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E471F2-2083-493A-8C9E-53209FFA1EC8}" type="slidenum">
              <a:rPr lang="en-IN" smtClean="0"/>
              <a:pPr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75766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10/29/2026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10/29/2026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10/29/2026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10/29/2026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48056" y="258722"/>
            <a:ext cx="4601366" cy="704793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30316" y="125730"/>
            <a:ext cx="4997767" cy="104513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663904" y="251407"/>
            <a:ext cx="4577410" cy="506849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2718911" y="290750"/>
            <a:ext cx="4471670" cy="400685"/>
          </a:xfrm>
          <a:custGeom>
            <a:avLst/>
            <a:gdLst/>
            <a:ahLst/>
            <a:cxnLst/>
            <a:rect l="l" t="t" r="r" b="b"/>
            <a:pathLst>
              <a:path w="4471670" h="400684">
                <a:moveTo>
                  <a:pt x="4386510" y="0"/>
                </a:moveTo>
                <a:lnTo>
                  <a:pt x="84762" y="0"/>
                </a:lnTo>
                <a:lnTo>
                  <a:pt x="51758" y="5238"/>
                </a:lnTo>
                <a:lnTo>
                  <a:pt x="24831" y="19592"/>
                </a:lnTo>
                <a:lnTo>
                  <a:pt x="6705" y="40757"/>
                </a:lnTo>
                <a:lnTo>
                  <a:pt x="0" y="66741"/>
                </a:lnTo>
                <a:lnTo>
                  <a:pt x="0" y="333813"/>
                </a:lnTo>
                <a:lnTo>
                  <a:pt x="6705" y="359797"/>
                </a:lnTo>
                <a:lnTo>
                  <a:pt x="24831" y="381066"/>
                </a:lnTo>
                <a:lnTo>
                  <a:pt x="51758" y="395316"/>
                </a:lnTo>
                <a:lnTo>
                  <a:pt x="84762" y="400554"/>
                </a:lnTo>
                <a:lnTo>
                  <a:pt x="4386510" y="400554"/>
                </a:lnTo>
                <a:lnTo>
                  <a:pt x="4419514" y="395316"/>
                </a:lnTo>
                <a:lnTo>
                  <a:pt x="4446441" y="381066"/>
                </a:lnTo>
                <a:lnTo>
                  <a:pt x="4464567" y="359797"/>
                </a:lnTo>
                <a:lnTo>
                  <a:pt x="4471273" y="333813"/>
                </a:lnTo>
                <a:lnTo>
                  <a:pt x="4471273" y="66741"/>
                </a:lnTo>
                <a:lnTo>
                  <a:pt x="4464567" y="40757"/>
                </a:lnTo>
                <a:lnTo>
                  <a:pt x="4446441" y="19592"/>
                </a:lnTo>
                <a:lnTo>
                  <a:pt x="4419514" y="5238"/>
                </a:lnTo>
                <a:lnTo>
                  <a:pt x="4386510" y="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292554" y="282840"/>
            <a:ext cx="3375117" cy="56971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10/29/2026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30970" y="881554"/>
            <a:ext cx="2528570" cy="3752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21188" y="1409149"/>
            <a:ext cx="8949055" cy="3294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10/29/2026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.xml"/><Relationship Id="rId3" Type="http://schemas.openxmlformats.org/officeDocument/2006/relationships/image" Target="../media/image2.png"/><Relationship Id="rId7" Type="http://schemas.openxmlformats.org/officeDocument/2006/relationships/chart" Target="../charts/chart3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8.png"/><Relationship Id="rId9" Type="http://schemas.openxmlformats.org/officeDocument/2006/relationships/image" Target="../media/image6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93969" y="211046"/>
            <a:ext cx="4610910" cy="6286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1051560"/>
            <a:ext cx="7315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500" b="1">
                <a:solidFill>
                  <a:srgbClr val="233464"/>
                </a:solidFill>
                <a:latin typeface="Aptos"/>
              </a:defRPr>
            </a:pPr>
            <a:r>
              <a:rPr sz="2800" dirty="0">
                <a:latin typeface="Times New Roman" pitchFamily="18" charset="0"/>
                <a:cs typeface="Times New Roman" pitchFamily="18" charset="0"/>
              </a:rPr>
              <a:t>Data Analysis Essentials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08760"/>
            <a:ext cx="73152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300" b="1">
                <a:solidFill>
                  <a:srgbClr val="C25B30"/>
                </a:solidFill>
                <a:latin typeface="Aptos"/>
              </a:defRPr>
            </a:pPr>
            <a:r>
              <a:rPr dirty="0">
                <a:latin typeface="Times New Roman" pitchFamily="18" charset="0"/>
                <a:cs typeface="Times New Roman" pitchFamily="18" charset="0"/>
              </a:rPr>
              <a:t>Cornerstone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8778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3000" b="1">
                <a:solidFill>
                  <a:srgbClr val="233464"/>
                </a:solidFill>
                <a:latin typeface="Aptos"/>
              </a:defRPr>
            </a:pP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UPI TRANSACTION ANALYSIS</a:t>
            </a:r>
            <a:endParaRPr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51560" y="3352800"/>
            <a:ext cx="7955279" cy="2387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sz="24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Presented by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T.MANOJ REDDY(25B11CS946)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K.SURYA(25B11CS002)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A.DIVIJA(25B11CS005)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S. JASWANTHI(25B11CS845)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sz="1600" b="1" dirty="0">
                <a:latin typeface="Times New Roman" pitchFamily="18" charset="0"/>
                <a:cs typeface="Times New Roman" pitchFamily="18" charset="0"/>
              </a:rPr>
              <a:t>Guide: Mr. </a:t>
            </a:r>
            <a:r>
              <a:rPr sz="1600" b="1" dirty="0" err="1">
                <a:latin typeface="Times New Roman" pitchFamily="18" charset="0"/>
                <a:cs typeface="Times New Roman" pitchFamily="18" charset="0"/>
              </a:rPr>
              <a:t>K. Ashok Teja, Assistant Professor, CSE Dept.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4624" y="5894010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latin typeface="Times New Roman" pitchFamily="18" charset="0"/>
                <a:cs typeface="Times New Roman" pitchFamily="18" charset="0"/>
              </a:rPr>
              <a:t>Department of Computer Science and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5" name="object 3"/>
          <p:cNvGrpSpPr/>
          <p:nvPr/>
        </p:nvGrpSpPr>
        <p:grpSpPr>
          <a:xfrm>
            <a:off x="2438400" y="33670"/>
            <a:ext cx="5334000" cy="1198311"/>
            <a:chOff x="2648188" y="47148"/>
            <a:chExt cx="5103904" cy="1198311"/>
          </a:xfrm>
        </p:grpSpPr>
        <p:pic>
          <p:nvPicPr>
            <p:cNvPr id="6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545080" y="269414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CONTENTS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1676400"/>
            <a:ext cx="7132320" cy="5052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Problem Understanding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Introduction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Current Approach &amp; Limitations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Proposed Approach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Dataset Description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Requirements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Methodology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Data Visualization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Key Insights &amp; Analysis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Implementation Workflow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2667000" y="53695"/>
            <a:ext cx="5103904" cy="1198311"/>
            <a:chOff x="2648188" y="47148"/>
            <a:chExt cx="5103904" cy="119831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0" name="object 3">
            <a:extLst>
              <a:ext uri="{FF2B5EF4-FFF2-40B4-BE49-F238E27FC236}">
                <a16:creationId xmlns:a16="http://schemas.microsoft.com/office/drawing/2014/main" id="{1B5A0518-1CDA-CA94-327E-0995E9EC2B84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67000" y="304800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PROBLEM UNDERSTANDING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920" y="1462390"/>
            <a:ext cx="8686800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UPI generates a huge volume of digital transaction data every day. 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Raw transaction records are difficult to understand without systematic analysis. 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Manual examination of thousands of transactions is time-consuming. 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Important patterns related to transaction behaviour, time, location and fraud may remain hidden. 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Data analytics can transform raw UPI records into meaningful insights. 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This project analyses UPI transactions to identify transaction patterns and characteristics associated with fraudulent transactions</a:t>
            </a:r>
            <a:r>
              <a:rPr lang="en-IN" sz="2800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2B9EFFBF-7726-ED21-BD6C-4021B49E4438}"/>
              </a:ext>
            </a:extLst>
          </p:cNvPr>
          <p:cNvGrpSpPr/>
          <p:nvPr/>
        </p:nvGrpSpPr>
        <p:grpSpPr>
          <a:xfrm>
            <a:off x="2667000" y="0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359EAE0-4827-E1C6-F87E-DCB8892B400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F4EE5AF0-F0A0-481E-EB59-2A06E92AC7E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5FC53D65-7751-C01A-F243-C971B8A545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92DCFA7B-7796-4FFE-22C4-D8D11B1128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1633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INTRODUCTION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1129711"/>
            <a:ext cx="877824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UPI has become an important digital payment method.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Large volumes of transaction data are generated through different transaction types and channels.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The dataset contains information about transaction amount, status, merchant category, location, device, network and fraud.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Python-based data analysis helps process and interpret this information.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Pandas is used for data loading, filtering, grouping and statistical analysis.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Matplotlib is used to visualize important transaction patterns.</a:t>
            </a:r>
          </a:p>
          <a:p>
            <a:pPr algn="just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789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2B9EFFBF-7726-ED21-BD6C-4021B49E4438}"/>
              </a:ext>
            </a:extLst>
          </p:cNvPr>
          <p:cNvGrpSpPr/>
          <p:nvPr/>
        </p:nvGrpSpPr>
        <p:grpSpPr>
          <a:xfrm>
            <a:off x="2619784" y="63329"/>
            <a:ext cx="5334000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359EAE0-4827-E1C6-F87E-DCB8892B400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F4EE5AF0-F0A0-481E-EB59-2A06E92AC7E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5FC53D65-7751-C01A-F243-C971B8A545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30942" y="266940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92DCFA7B-7796-4FFE-22C4-D8D11B1128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89304" y="339794"/>
            <a:ext cx="5181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CURRENT / MANUAL APPROACH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1752600"/>
            <a:ext cx="8778240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Transaction data is stored in large CSV/database records.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Manual inspection of individual transactions is difficult.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Finding transaction trends manually takes significant time.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Fraudulent transactions can be difficult to identify from raw records.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Comparing transaction categories manually is inefficient.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Raw numerical data is difficult to interpret without visualization</a:t>
            </a:r>
          </a:p>
          <a:p>
            <a:pPr algn="l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3835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25B97-4948-1D36-1564-48F015098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>
            <a:extLst>
              <a:ext uri="{FF2B5EF4-FFF2-40B4-BE49-F238E27FC236}">
                <a16:creationId xmlns:a16="http://schemas.microsoft.com/office/drawing/2014/main" id="{D28B387B-EB3D-FC8A-3A51-DDD2B8696A7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>
            <a:extLst>
              <a:ext uri="{FF2B5EF4-FFF2-40B4-BE49-F238E27FC236}">
                <a16:creationId xmlns:a16="http://schemas.microsoft.com/office/drawing/2014/main" id="{5B758792-840A-895D-A2CD-A09955CC1720}"/>
              </a:ext>
            </a:extLst>
          </p:cNvPr>
          <p:cNvGrpSpPr/>
          <p:nvPr/>
        </p:nvGrpSpPr>
        <p:grpSpPr>
          <a:xfrm>
            <a:off x="2209800" y="87763"/>
            <a:ext cx="6858000" cy="1198311"/>
            <a:chOff x="2648188" y="47148"/>
            <a:chExt cx="5103904" cy="1198311"/>
          </a:xfrm>
        </p:grpSpPr>
        <p:pic>
          <p:nvPicPr>
            <p:cNvPr id="3" name="object 4">
              <a:extLst>
                <a:ext uri="{FF2B5EF4-FFF2-40B4-BE49-F238E27FC236}">
                  <a16:creationId xmlns:a16="http://schemas.microsoft.com/office/drawing/2014/main" id="{E290B6E4-4C6A-D92F-FFFC-B388B784351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>
              <a:extLst>
                <a:ext uri="{FF2B5EF4-FFF2-40B4-BE49-F238E27FC236}">
                  <a16:creationId xmlns:a16="http://schemas.microsoft.com/office/drawing/2014/main" id="{87F4EE37-279F-308C-F87F-6E638DA1937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>
              <a:extLst>
                <a:ext uri="{FF2B5EF4-FFF2-40B4-BE49-F238E27FC236}">
                  <a16:creationId xmlns:a16="http://schemas.microsoft.com/office/drawing/2014/main" id="{8ED23BED-35EB-2EF2-62D6-17D1E3CB0003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>
              <a:extLst>
                <a:ext uri="{FF2B5EF4-FFF2-40B4-BE49-F238E27FC236}">
                  <a16:creationId xmlns:a16="http://schemas.microsoft.com/office/drawing/2014/main" id="{2F06FBF5-D468-2472-2E09-3659EB0BF5ED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476500" y="300038"/>
            <a:ext cx="6324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LIMITATIONS OF MANUAL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1452223"/>
            <a:ext cx="877824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Time-consuming for large datasets. </a:t>
            </a:r>
          </a:p>
          <a:p>
            <a:pPr lvl="0" algn="just"/>
            <a:endParaRPr lang="en-IN" sz="2400" dirty="0"/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Difficult to process 250,000 transactions manually.</a:t>
            </a:r>
          </a:p>
          <a:p>
            <a:pPr lvl="0" algn="just"/>
            <a:r>
              <a:rPr lang="en-IN" sz="2400" dirty="0"/>
              <a:t> 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High possibility of human error. </a:t>
            </a:r>
          </a:p>
          <a:p>
            <a:pPr lvl="0" algn="just"/>
            <a:endParaRPr lang="en-IN" sz="2400" dirty="0"/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Difficult to identify time-based patterns. </a:t>
            </a:r>
          </a:p>
          <a:p>
            <a:pPr lvl="0" algn="just"/>
            <a:endParaRPr lang="en-IN" sz="2400" dirty="0"/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Fraud patterns may remain hidden. </a:t>
            </a:r>
          </a:p>
          <a:p>
            <a:pPr lvl="0" algn="just"/>
            <a:endParaRPr lang="en-IN" sz="2400" dirty="0"/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</a:t>
            </a:r>
            <a:r>
              <a:rPr lang="en-IN" sz="2400" dirty="0"/>
              <a:t>Comparing states, devices, networks and merchant categories is difficult. </a:t>
            </a:r>
          </a:p>
          <a:p>
            <a:pPr lvl="0" algn="just"/>
            <a:endParaRPr lang="en-IN" sz="2400" dirty="0"/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Raw data does not provide an easy visual understanding.</a:t>
            </a:r>
          </a:p>
          <a:p>
            <a:pPr algn="just">
              <a:spcAft>
                <a:spcPts val="7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6336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3" name="object 3">
            <a:extLst>
              <a:ext uri="{FF2B5EF4-FFF2-40B4-BE49-F238E27FC236}">
                <a16:creationId xmlns:a16="http://schemas.microsoft.com/office/drawing/2014/main" id="{39A132B5-7282-BB0D-41D0-2D605FAF9D2A}"/>
              </a:ext>
            </a:extLst>
          </p:cNvPr>
          <p:cNvGrpSpPr/>
          <p:nvPr/>
        </p:nvGrpSpPr>
        <p:grpSpPr>
          <a:xfrm>
            <a:off x="2724116" y="204311"/>
            <a:ext cx="4997767" cy="1092279"/>
            <a:chOff x="2703195" y="86439"/>
            <a:chExt cx="4997767" cy="1092279"/>
          </a:xfrm>
        </p:grpSpPr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19E5F2C6-879E-09C8-70D8-F12E4105BA4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12F6F0F7-7EC3-7119-588E-9CA45688A5E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6FF94120-5DAA-BA86-6F61-CE59BF796C68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pPr algn="ctr"/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662680" y="36142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PROPOSED APPROACH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058200"/>
            <a:ext cx="8503920" cy="71711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Load the UPI dataset using Python and Pandas.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Explore the dataset structure and attributes.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Validate missing values and duplicate records.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Filter successful and fraudulent transactions.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Convert timestamp information into useful time attributes.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Group transactions by important categories.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Perform statistical and comparative analysis.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Create visualizations using Matplotlib.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Interpret patterns and identify characteristics associated with fraud.</a:t>
            </a:r>
          </a:p>
          <a:p>
            <a:pPr algn="l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9256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4944C-8816-A98A-BE5A-6A28E3D13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>
            <a:extLst>
              <a:ext uri="{FF2B5EF4-FFF2-40B4-BE49-F238E27FC236}">
                <a16:creationId xmlns:a16="http://schemas.microsoft.com/office/drawing/2014/main" id="{97977331-EA1C-CA44-869F-6C400FF95B9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4" name="object 3">
            <a:extLst>
              <a:ext uri="{FF2B5EF4-FFF2-40B4-BE49-F238E27FC236}">
                <a16:creationId xmlns:a16="http://schemas.microsoft.com/office/drawing/2014/main" id="{493C539F-A86A-512C-CDC1-7D279B60EB1C}"/>
              </a:ext>
            </a:extLst>
          </p:cNvPr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EF4257B-2B43-17B3-FF4F-1187B669162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C6F1369C-4970-FF55-E67B-BCF08160A62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CF69E22F-BC21-03E7-F9F3-42AA69CA9E9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470ED999-51AF-0BD8-F3EE-37C965CA5C3F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722007" y="286489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DATASET D</a:t>
            </a: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ESCRIPTION</a:t>
            </a:r>
            <a:endParaRPr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36A059D-6856-DDF6-C2FA-11C5B1B111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7328752"/>
              </p:ext>
            </p:extLst>
          </p:nvPr>
        </p:nvGraphicFramePr>
        <p:xfrm>
          <a:off x="425450" y="2571217"/>
          <a:ext cx="448310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701">
                  <a:extLst>
                    <a:ext uri="{9D8B030D-6E8A-4147-A177-3AD203B41FA5}">
                      <a16:colId xmlns:a16="http://schemas.microsoft.com/office/drawing/2014/main" val="3790256215"/>
                    </a:ext>
                  </a:extLst>
                </a:gridCol>
                <a:gridCol w="2699399">
                  <a:extLst>
                    <a:ext uri="{9D8B030D-6E8A-4147-A177-3AD203B41FA5}">
                      <a16:colId xmlns:a16="http://schemas.microsoft.com/office/drawing/2014/main" val="123890867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Field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Description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268975674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transaction id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Unique ID assigned to each transaction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277488591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timestamp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Date and time of the transaction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41808099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transaction type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Type of transaction (P2P / P2M)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121516388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merchant_category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Merchant category for the payment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84551229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amount (INR)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Transaction amount in Indian Rupees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176088608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transaction_status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Transaction outcome (SUCCESS / FAILED)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338131512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sender_state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State of the sender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319441589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fraud_flag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Fraud indicator (0 = non-fraud, 1 = fraud)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3802110629"/>
                  </a:ext>
                </a:extLst>
              </a:tr>
            </a:tbl>
          </a:graphicData>
        </a:graphic>
      </p:graphicFrame>
      <p:sp>
        <p:nvSpPr>
          <p:cNvPr id="33" name="Rounded Rectangle 20">
            <a:extLst>
              <a:ext uri="{FF2B5EF4-FFF2-40B4-BE49-F238E27FC236}">
                <a16:creationId xmlns:a16="http://schemas.microsoft.com/office/drawing/2014/main" id="{E15AB9C0-757E-54D3-2838-99550CA9508C}"/>
              </a:ext>
            </a:extLst>
          </p:cNvPr>
          <p:cNvSpPr/>
          <p:nvPr/>
        </p:nvSpPr>
        <p:spPr>
          <a:xfrm>
            <a:off x="5241370" y="2571217"/>
            <a:ext cx="45262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46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941781-A925-ECE9-CBEF-751ED2AF3790}"/>
              </a:ext>
            </a:extLst>
          </p:cNvPr>
          <p:cNvSpPr txBox="1"/>
          <p:nvPr/>
        </p:nvSpPr>
        <p:spPr>
          <a:xfrm>
            <a:off x="5652850" y="2726665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46F11"/>
                </a:solidFill>
                <a:latin typeface="Times New Roman"/>
              </a:rPr>
              <a:t>Dataset Snapshot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5120CCD-5BF6-36CF-6B16-75C2B1AFC6C7}"/>
              </a:ext>
            </a:extLst>
          </p:cNvPr>
          <p:cNvSpPr txBox="1"/>
          <p:nvPr/>
        </p:nvSpPr>
        <p:spPr>
          <a:xfrm>
            <a:off x="5652850" y="3046705"/>
            <a:ext cx="38404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F4E79"/>
                </a:solidFill>
                <a:latin typeface="Arial"/>
              </a:rPr>
              <a:t>250,000 records   |   </a:t>
            </a:r>
            <a:r>
              <a:rPr lang="en-US" sz="1000" dirty="0">
                <a:solidFill>
                  <a:srgbClr val="1F4E79"/>
                </a:solidFill>
                <a:latin typeface="Arial"/>
              </a:rPr>
              <a:t>27</a:t>
            </a:r>
            <a:r>
              <a:rPr sz="1000" b="0" i="0" dirty="0">
                <a:solidFill>
                  <a:srgbClr val="1F4E79"/>
                </a:solidFill>
                <a:latin typeface="Arial"/>
              </a:rPr>
              <a:t> columns   |   Year: 2024</a:t>
            </a:r>
          </a:p>
        </p:txBody>
      </p:sp>
      <p:sp>
        <p:nvSpPr>
          <p:cNvPr id="39" name="Rounded Rectangle 23">
            <a:extLst>
              <a:ext uri="{FF2B5EF4-FFF2-40B4-BE49-F238E27FC236}">
                <a16:creationId xmlns:a16="http://schemas.microsoft.com/office/drawing/2014/main" id="{CCA4B64E-9B16-1B11-E6D8-87696664218C}"/>
              </a:ext>
            </a:extLst>
          </p:cNvPr>
          <p:cNvSpPr/>
          <p:nvPr/>
        </p:nvSpPr>
        <p:spPr>
          <a:xfrm>
            <a:off x="5241370" y="3577057"/>
            <a:ext cx="45262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46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171A38-BCB1-B1C1-8E56-A1BFFE370385}"/>
              </a:ext>
            </a:extLst>
          </p:cNvPr>
          <p:cNvSpPr txBox="1"/>
          <p:nvPr/>
        </p:nvSpPr>
        <p:spPr>
          <a:xfrm>
            <a:off x="5652850" y="3732505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46F11"/>
                </a:solidFill>
                <a:latin typeface="Times New Roman"/>
              </a:rPr>
              <a:t>Data Quality Checks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B2D66CC-9164-61D1-B6F9-84E4A61B1C1B}"/>
              </a:ext>
            </a:extLst>
          </p:cNvPr>
          <p:cNvSpPr txBox="1"/>
          <p:nvPr/>
        </p:nvSpPr>
        <p:spPr>
          <a:xfrm>
            <a:off x="5652850" y="4052545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F4E79"/>
                </a:solidFill>
                <a:latin typeface="Arial"/>
              </a:rPr>
              <a:t>0 missing values   •   0 duplicate rows   •   numeric and categorical fields verified</a:t>
            </a:r>
          </a:p>
        </p:txBody>
      </p:sp>
      <p:sp>
        <p:nvSpPr>
          <p:cNvPr id="45" name="Rounded Rectangle 26">
            <a:extLst>
              <a:ext uri="{FF2B5EF4-FFF2-40B4-BE49-F238E27FC236}">
                <a16:creationId xmlns:a16="http://schemas.microsoft.com/office/drawing/2014/main" id="{76CC8FE3-D438-438F-102D-69D410D0FD03}"/>
              </a:ext>
            </a:extLst>
          </p:cNvPr>
          <p:cNvSpPr/>
          <p:nvPr/>
        </p:nvSpPr>
        <p:spPr>
          <a:xfrm>
            <a:off x="5241370" y="4582896"/>
            <a:ext cx="45262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46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E6CA88C-F9A3-3831-3FF2-F59CC9F10D87}"/>
              </a:ext>
            </a:extLst>
          </p:cNvPr>
          <p:cNvSpPr txBox="1"/>
          <p:nvPr/>
        </p:nvSpPr>
        <p:spPr>
          <a:xfrm>
            <a:off x="5652850" y="4738344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46F11"/>
                </a:solidFill>
                <a:latin typeface="Times New Roman"/>
              </a:rPr>
              <a:t>Tools &amp; Libraries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F75649-22A8-74AA-8BD0-FBFFA993304B}"/>
              </a:ext>
            </a:extLst>
          </p:cNvPr>
          <p:cNvSpPr txBox="1"/>
          <p:nvPr/>
        </p:nvSpPr>
        <p:spPr>
          <a:xfrm>
            <a:off x="5652850" y="5058384"/>
            <a:ext cx="38404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F4E79"/>
                </a:solidFill>
                <a:latin typeface="Arial"/>
              </a:rPr>
              <a:t>Python   •   Pandas   •   NumPy   •   Matplotlib 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417630-B02B-9BFD-C4E7-8078E6A9BE9B}"/>
              </a:ext>
            </a:extLst>
          </p:cNvPr>
          <p:cNvSpPr txBox="1"/>
          <p:nvPr/>
        </p:nvSpPr>
        <p:spPr>
          <a:xfrm>
            <a:off x="777240" y="114300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1F4E79"/>
                </a:solidFill>
                <a:latin typeface="Times New Roman"/>
              </a:rPr>
              <a:t>UPI Transactions 2024 dataset — transaction-level data for payment analysis</a:t>
            </a:r>
          </a:p>
        </p:txBody>
      </p:sp>
    </p:spTree>
    <p:extLst>
      <p:ext uri="{BB962C8B-B14F-4D97-AF65-F5344CB8AC3E}">
        <p14:creationId xmlns:p14="http://schemas.microsoft.com/office/powerpoint/2010/main" val="351037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3">
            <a:extLst>
              <a:ext uri="{FF2B5EF4-FFF2-40B4-BE49-F238E27FC236}">
                <a16:creationId xmlns:a16="http://schemas.microsoft.com/office/drawing/2014/main" id="{21ABBE52-8710-4E6B-00A1-6AE2E264A905}"/>
              </a:ext>
            </a:extLst>
          </p:cNvPr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6" name="object 4">
              <a:extLst>
                <a:ext uri="{FF2B5EF4-FFF2-40B4-BE49-F238E27FC236}">
                  <a16:creationId xmlns:a16="http://schemas.microsoft.com/office/drawing/2014/main" id="{BB01548A-FFE9-E3D8-12A9-78CF2115655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C2274CD8-F01F-9319-4AED-E01AFBB7B3F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>
              <a:extLst>
                <a:ext uri="{FF2B5EF4-FFF2-40B4-BE49-F238E27FC236}">
                  <a16:creationId xmlns:a16="http://schemas.microsoft.com/office/drawing/2014/main" id="{798807C2-A29E-0BF3-6CFE-592456DB3D5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0012A6F5-DCDD-5346-54A8-BF352762053D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</p:grpSp>
      <p:pic>
        <p:nvPicPr>
          <p:cNvPr id="11" name="object 3">
            <a:extLst>
              <a:ext uri="{FF2B5EF4-FFF2-40B4-BE49-F238E27FC236}">
                <a16:creationId xmlns:a16="http://schemas.microsoft.com/office/drawing/2014/main" id="{A01798C2-99DE-A723-BAF6-CF11F4E8C1FC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20919" y="37267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sz="22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METHODOLOGY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253" y="1115220"/>
            <a:ext cx="97708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itchFamily="18" charset="0"/>
                <a:cs typeface="Times New Roman" pitchFamily="18" charset="0"/>
              </a:rPr>
              <a:t>Module 1 – Data Loading</a:t>
            </a:r>
          </a:p>
          <a:p>
            <a:pPr algn="ctr"/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Import required libraries.</a:t>
            </a:r>
          </a:p>
          <a:p>
            <a:pPr algn="ctr"/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Load UPI Transaction CSV.</a:t>
            </a:r>
          </a:p>
          <a:p>
            <a:pPr algn="ctr"/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52502A97-D245-72B2-C4CE-36C3CF74332D}"/>
              </a:ext>
            </a:extLst>
          </p:cNvPr>
          <p:cNvSpPr/>
          <p:nvPr/>
        </p:nvSpPr>
        <p:spPr>
          <a:xfrm>
            <a:off x="4796282" y="2373939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34B842-9CD3-AA46-6CA7-F730C9D1D96E}"/>
              </a:ext>
            </a:extLst>
          </p:cNvPr>
          <p:cNvSpPr txBox="1"/>
          <p:nvPr/>
        </p:nvSpPr>
        <p:spPr>
          <a:xfrm>
            <a:off x="2766285" y="2609096"/>
            <a:ext cx="42498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2 – Data Exploration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dataset size.</a:t>
            </a:r>
          </a:p>
          <a:p>
            <a:pPr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Inspect Columns and  data types.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18714A5-46F1-BD0D-4A00-BB0C1211F660}"/>
              </a:ext>
            </a:extLst>
          </p:cNvPr>
          <p:cNvSpPr/>
          <p:nvPr/>
        </p:nvSpPr>
        <p:spPr>
          <a:xfrm>
            <a:off x="4756604" y="3814644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59C03E-C4CB-43D3-0C7D-3D50822A8B32}"/>
              </a:ext>
            </a:extLst>
          </p:cNvPr>
          <p:cNvSpPr txBox="1"/>
          <p:nvPr/>
        </p:nvSpPr>
        <p:spPr>
          <a:xfrm>
            <a:off x="2145238" y="4228115"/>
            <a:ext cx="576792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3 – Data Validation</a:t>
            </a:r>
          </a:p>
          <a:p>
            <a:pPr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and fill missing values.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 duplicate records.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 transaction amounts and fraud flags.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E02D8121-E16D-A49A-1052-85D8AFE05F58}"/>
              </a:ext>
            </a:extLst>
          </p:cNvPr>
          <p:cNvSpPr/>
          <p:nvPr/>
        </p:nvSpPr>
        <p:spPr>
          <a:xfrm>
            <a:off x="4850334" y="5797775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C9C953-BED3-2F43-1A1F-3B7650BC3A88}"/>
              </a:ext>
            </a:extLst>
          </p:cNvPr>
          <p:cNvSpPr txBox="1"/>
          <p:nvPr/>
        </p:nvSpPr>
        <p:spPr>
          <a:xfrm>
            <a:off x="2566639" y="6216465"/>
            <a:ext cx="50292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4 – Data Preprocessing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timestamp into datetime format.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hour, day and other time info.</a:t>
            </a:r>
          </a:p>
        </p:txBody>
      </p:sp>
    </p:spTree>
    <p:extLst>
      <p:ext uri="{BB962C8B-B14F-4D97-AF65-F5344CB8AC3E}">
        <p14:creationId xmlns:p14="http://schemas.microsoft.com/office/powerpoint/2010/main" val="314495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BE1A7-3004-3B9A-3BDF-6F0CD676F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8C6D514-1AF0-EDB1-7078-687065ECF56B}"/>
              </a:ext>
            </a:extLst>
          </p:cNvPr>
          <p:cNvSpPr txBox="1"/>
          <p:nvPr/>
        </p:nvSpPr>
        <p:spPr>
          <a:xfrm>
            <a:off x="2414826" y="43745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METHODOLOGY</a:t>
            </a:r>
          </a:p>
        </p:txBody>
      </p:sp>
      <p:grpSp>
        <p:nvGrpSpPr>
          <p:cNvPr id="4" name="object 3">
            <a:extLst>
              <a:ext uri="{FF2B5EF4-FFF2-40B4-BE49-F238E27FC236}">
                <a16:creationId xmlns:a16="http://schemas.microsoft.com/office/drawing/2014/main" id="{F02D1B8B-963F-84C5-69F0-17C3EECCFD8D}"/>
              </a:ext>
            </a:extLst>
          </p:cNvPr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10" name="object 4">
              <a:extLst>
                <a:ext uri="{FF2B5EF4-FFF2-40B4-BE49-F238E27FC236}">
                  <a16:creationId xmlns:a16="http://schemas.microsoft.com/office/drawing/2014/main" id="{BD448D2F-A85D-4EA9-4AFA-DBD143FFC36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1" name="object 5">
              <a:extLst>
                <a:ext uri="{FF2B5EF4-FFF2-40B4-BE49-F238E27FC236}">
                  <a16:creationId xmlns:a16="http://schemas.microsoft.com/office/drawing/2014/main" id="{70B9531E-FF63-3CBC-8C76-5101CEB24CF2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2" name="object 6">
              <a:extLst>
                <a:ext uri="{FF2B5EF4-FFF2-40B4-BE49-F238E27FC236}">
                  <a16:creationId xmlns:a16="http://schemas.microsoft.com/office/drawing/2014/main" id="{A51A82D2-D894-569F-6C1F-514FA4F1297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3" name="object 7">
              <a:extLst>
                <a:ext uri="{FF2B5EF4-FFF2-40B4-BE49-F238E27FC236}">
                  <a16:creationId xmlns:a16="http://schemas.microsoft.com/office/drawing/2014/main" id="{B3782B54-B821-DE87-C2B7-79ECF9E77AF9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A5CA9835-2A27-E3B2-E349-E0FE4429CFBE}"/>
              </a:ext>
            </a:extLst>
          </p:cNvPr>
          <p:cNvSpPr txBox="1"/>
          <p:nvPr/>
        </p:nvSpPr>
        <p:spPr>
          <a:xfrm>
            <a:off x="2586213" y="413290"/>
            <a:ext cx="5029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sz="22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METHODOLOGY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9BA950-6049-F76A-4A0C-CF5ED87D2763}"/>
              </a:ext>
            </a:extLst>
          </p:cNvPr>
          <p:cNvSpPr txBox="1"/>
          <p:nvPr/>
        </p:nvSpPr>
        <p:spPr>
          <a:xfrm>
            <a:off x="1816265" y="953427"/>
            <a:ext cx="665297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5 –Data Filtering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Separate successful transactions.</a:t>
            </a:r>
          </a:p>
          <a:p>
            <a:pPr lvl="0" algn="ctr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Separate fraudulent transactions.</a:t>
            </a:r>
          </a:p>
        </p:txBody>
      </p:sp>
      <p:sp>
        <p:nvSpPr>
          <p:cNvPr id="29" name="Arrow: Down 28">
            <a:extLst>
              <a:ext uri="{FF2B5EF4-FFF2-40B4-BE49-F238E27FC236}">
                <a16:creationId xmlns:a16="http://schemas.microsoft.com/office/drawing/2014/main" id="{3B0312D2-1C2D-0FC3-47A4-8970E0D691E7}"/>
              </a:ext>
            </a:extLst>
          </p:cNvPr>
          <p:cNvSpPr/>
          <p:nvPr/>
        </p:nvSpPr>
        <p:spPr>
          <a:xfrm>
            <a:off x="4850336" y="2073672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A49019-54D3-0F1F-3651-5D4892AE3078}"/>
              </a:ext>
            </a:extLst>
          </p:cNvPr>
          <p:cNvSpPr txBox="1"/>
          <p:nvPr/>
        </p:nvSpPr>
        <p:spPr>
          <a:xfrm>
            <a:off x="2895600" y="2407224"/>
            <a:ext cx="48768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6 –Data Aggregation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by transaction type.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by merchant category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by fraud status.</a:t>
            </a:r>
          </a:p>
          <a:p>
            <a:pPr algn="ctr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6D0F4567-D057-4BE7-32A7-334EC2164A2C}"/>
              </a:ext>
            </a:extLst>
          </p:cNvPr>
          <p:cNvSpPr/>
          <p:nvPr/>
        </p:nvSpPr>
        <p:spPr>
          <a:xfrm>
            <a:off x="4850336" y="3959586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3C43C12-4B70-F721-9E0A-DD8370D3BABC}"/>
              </a:ext>
            </a:extLst>
          </p:cNvPr>
          <p:cNvSpPr txBox="1"/>
          <p:nvPr/>
        </p:nvSpPr>
        <p:spPr>
          <a:xfrm>
            <a:off x="2628152" y="4271243"/>
            <a:ext cx="50292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7 – Data Visualization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counts.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totals.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transaction and fraud patterns.</a:t>
            </a:r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D2A13C47-9211-7F6A-3235-E7CA857CC45D}"/>
              </a:ext>
            </a:extLst>
          </p:cNvPr>
          <p:cNvSpPr/>
          <p:nvPr/>
        </p:nvSpPr>
        <p:spPr>
          <a:xfrm>
            <a:off x="4850336" y="5619639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78BCE5-A3E9-0942-2521-8A05596F86BE}"/>
              </a:ext>
            </a:extLst>
          </p:cNvPr>
          <p:cNvSpPr txBox="1"/>
          <p:nvPr/>
        </p:nvSpPr>
        <p:spPr>
          <a:xfrm>
            <a:off x="3124200" y="5931296"/>
            <a:ext cx="639217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8 –Visualization &amp; Interpretation </a:t>
            </a:r>
          </a:p>
          <a:p>
            <a:pPr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Generate charts.</a:t>
            </a:r>
          </a:p>
          <a:p>
            <a:pPr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Identify important patterns.</a:t>
            </a:r>
          </a:p>
          <a:p>
            <a:pPr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Interpret the results.</a:t>
            </a:r>
          </a:p>
        </p:txBody>
      </p:sp>
      <p:pic>
        <p:nvPicPr>
          <p:cNvPr id="6" name="object 3">
            <a:extLst>
              <a:ext uri="{FF2B5EF4-FFF2-40B4-BE49-F238E27FC236}">
                <a16:creationId xmlns:a16="http://schemas.microsoft.com/office/drawing/2014/main" id="{8391EE48-4536-CEE1-28E6-C78CC277B6C3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172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>
            <a:extLst>
              <a:ext uri="{FF2B5EF4-FFF2-40B4-BE49-F238E27FC236}">
                <a16:creationId xmlns:a16="http://schemas.microsoft.com/office/drawing/2014/main" id="{D26E0863-A3EE-1EC4-F128-4D4F1A60D3A0}"/>
              </a:ext>
            </a:extLst>
          </p:cNvPr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>
              <a:extLst>
                <a:ext uri="{FF2B5EF4-FFF2-40B4-BE49-F238E27FC236}">
                  <a16:creationId xmlns:a16="http://schemas.microsoft.com/office/drawing/2014/main" id="{77890B8C-7EC3-B7B1-BF56-4F5DE13755D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>
              <a:extLst>
                <a:ext uri="{FF2B5EF4-FFF2-40B4-BE49-F238E27FC236}">
                  <a16:creationId xmlns:a16="http://schemas.microsoft.com/office/drawing/2014/main" id="{E9CC3DEB-E45E-85F9-CD38-C2C4966FBC3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>
              <a:extLst>
                <a:ext uri="{FF2B5EF4-FFF2-40B4-BE49-F238E27FC236}">
                  <a16:creationId xmlns:a16="http://schemas.microsoft.com/office/drawing/2014/main" id="{4C3D8E05-12DF-F9A5-1AF2-87C24DA53BB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EF5B48B8-D150-0E57-59D0-4E3B78C29486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468880" y="39684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DATA VISUALIZATION</a:t>
            </a:r>
          </a:p>
        </p:txBody>
      </p:sp>
      <p:graphicFrame>
        <p:nvGraphicFramePr>
          <p:cNvPr id="17" name="Chart 16">
            <a:extLst>
              <a:ext uri="{FF2B5EF4-FFF2-40B4-BE49-F238E27FC236}">
                <a16:creationId xmlns:a16="http://schemas.microsoft.com/office/drawing/2014/main" id="{882820B1-24F5-11B0-D6C9-6AEE95AB9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751496"/>
              </p:ext>
            </p:extLst>
          </p:nvPr>
        </p:nvGraphicFramePr>
        <p:xfrm>
          <a:off x="0" y="1965960"/>
          <a:ext cx="489204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8" name="Chart 17">
            <a:extLst>
              <a:ext uri="{FF2B5EF4-FFF2-40B4-BE49-F238E27FC236}">
                <a16:creationId xmlns:a16="http://schemas.microsoft.com/office/drawing/2014/main" id="{22FAEAE2-B88A-6D0F-066D-3A6537C856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2322529"/>
              </p:ext>
            </p:extLst>
          </p:nvPr>
        </p:nvGraphicFramePr>
        <p:xfrm>
          <a:off x="5486400" y="1965960"/>
          <a:ext cx="457200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9" name="Chart 18">
            <a:extLst>
              <a:ext uri="{FF2B5EF4-FFF2-40B4-BE49-F238E27FC236}">
                <a16:creationId xmlns:a16="http://schemas.microsoft.com/office/drawing/2014/main" id="{18ECC0A3-857E-6A4F-3C4F-C20F8257B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8163693"/>
              </p:ext>
            </p:extLst>
          </p:nvPr>
        </p:nvGraphicFramePr>
        <p:xfrm>
          <a:off x="0" y="4343400"/>
          <a:ext cx="489204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1" name="Chart 30">
            <a:extLst>
              <a:ext uri="{FF2B5EF4-FFF2-40B4-BE49-F238E27FC236}">
                <a16:creationId xmlns:a16="http://schemas.microsoft.com/office/drawing/2014/main" id="{1A5C935E-A7D8-3F76-5737-8ED93306C0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140259"/>
              </p:ext>
            </p:extLst>
          </p:nvPr>
        </p:nvGraphicFramePr>
        <p:xfrm>
          <a:off x="5486400" y="4343400"/>
          <a:ext cx="457200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pic>
        <p:nvPicPr>
          <p:cNvPr id="34" name="object 3">
            <a:extLst>
              <a:ext uri="{FF2B5EF4-FFF2-40B4-BE49-F238E27FC236}">
                <a16:creationId xmlns:a16="http://schemas.microsoft.com/office/drawing/2014/main" id="{34AF480C-426C-0B6C-66B9-3146420461A2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606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D26E0863-A3EE-1EC4-F128-4D4F1A60D3A0}"/>
              </a:ext>
            </a:extLst>
          </p:cNvPr>
          <p:cNvGrpSpPr/>
          <p:nvPr/>
        </p:nvGrpSpPr>
        <p:grpSpPr>
          <a:xfrm>
            <a:off x="2590800" y="0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77890B8C-7EC3-B7B1-BF56-4F5DE13755D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E9CC3DEB-E45E-85F9-CD38-C2C4966FBC3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4C3D8E05-12DF-F9A5-1AF2-87C24DA53BB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EF5B48B8-D150-0E57-59D0-4E3B78C29486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2921913" y="196401"/>
            <a:ext cx="421457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200" b="1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KEY INSIGHTS &amp; ANALYSIS</a:t>
            </a:r>
          </a:p>
          <a:p>
            <a:endParaRPr lang="en-US" sz="2200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662192" y="1355421"/>
            <a:ext cx="8961120" cy="5524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800" b="1" dirty="0"/>
              <a:t>Overall Transaction Statistics : -</a:t>
            </a:r>
          </a:p>
          <a:p>
            <a:pPr algn="just"/>
            <a:endParaRPr lang="en-IN" sz="2800" dirty="0"/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Total Transactions:</a:t>
            </a:r>
            <a:r>
              <a:rPr lang="en-IN" sz="2800" dirty="0"/>
              <a:t> 250,000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Total Transaction Value:</a:t>
            </a:r>
            <a:r>
              <a:rPr lang="en-IN" sz="2800" dirty="0"/>
              <a:t> ₹327,939,009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Average Transaction:</a:t>
            </a:r>
            <a:r>
              <a:rPr lang="en-IN" sz="2800" dirty="0"/>
              <a:t> ₹1,311.76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Minimum Transaction:</a:t>
            </a:r>
            <a:r>
              <a:rPr lang="en-IN" sz="2800" dirty="0"/>
              <a:t> ₹10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Maximum Transaction:</a:t>
            </a:r>
            <a:r>
              <a:rPr lang="en-IN" sz="2800" dirty="0"/>
              <a:t> ₹42,099 </a:t>
            </a:r>
          </a:p>
          <a:p>
            <a:pPr lvl="0" algn="just"/>
            <a:endParaRPr lang="en-IN" sz="2800" dirty="0"/>
          </a:p>
          <a:p>
            <a:pPr algn="just"/>
            <a:r>
              <a:rPr lang="en-IN" sz="2800" b="1" dirty="0"/>
              <a:t>Transaction Status : -</a:t>
            </a:r>
          </a:p>
          <a:p>
            <a:pPr algn="just"/>
            <a:endParaRPr lang="en-IN" sz="2800" dirty="0"/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Successful:</a:t>
            </a:r>
            <a:r>
              <a:rPr lang="en-IN" sz="2800" dirty="0"/>
              <a:t> 237,624 — 95.05%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Failed:</a:t>
            </a:r>
            <a:r>
              <a:rPr lang="en-IN" sz="2800" dirty="0"/>
              <a:t> 12,376 — 4.95% </a:t>
            </a:r>
          </a:p>
          <a:p>
            <a:pPr algn="just">
              <a:spcAft>
                <a:spcPts val="1400"/>
              </a:spcAft>
            </a:pPr>
            <a:endParaRPr sz="1700" dirty="0">
              <a:solidFill>
                <a:srgbClr val="2D2D2D"/>
              </a:solidFill>
              <a:latin typeface="Times New Roman"/>
            </a:endParaRPr>
          </a:p>
        </p:txBody>
      </p:sp>
      <p:pic>
        <p:nvPicPr>
          <p:cNvPr id="11" name="object 3">
            <a:extLst>
              <a:ext uri="{FF2B5EF4-FFF2-40B4-BE49-F238E27FC236}">
                <a16:creationId xmlns:a16="http://schemas.microsoft.com/office/drawing/2014/main" id="{24A4BBF2-B375-F3AA-E53A-2414F823FDD0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>
            <a:extLst>
              <a:ext uri="{FF2B5EF4-FFF2-40B4-BE49-F238E27FC236}">
                <a16:creationId xmlns:a16="http://schemas.microsoft.com/office/drawing/2014/main" id="{20B8B724-A73F-F006-222B-6A4FF27EB83E}"/>
              </a:ext>
            </a:extLst>
          </p:cNvPr>
          <p:cNvGrpSpPr/>
          <p:nvPr/>
        </p:nvGrpSpPr>
        <p:grpSpPr>
          <a:xfrm>
            <a:off x="2477248" y="152400"/>
            <a:ext cx="5103904" cy="1198311"/>
            <a:chOff x="2648188" y="47148"/>
            <a:chExt cx="5103904" cy="1198311"/>
          </a:xfrm>
        </p:grpSpPr>
        <p:pic>
          <p:nvPicPr>
            <p:cNvPr id="8" name="object 4">
              <a:extLst>
                <a:ext uri="{FF2B5EF4-FFF2-40B4-BE49-F238E27FC236}">
                  <a16:creationId xmlns:a16="http://schemas.microsoft.com/office/drawing/2014/main" id="{8D96FE08-6C48-29F6-B8BF-733A1FE4EFC2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9" name="object 5">
              <a:extLst>
                <a:ext uri="{FF2B5EF4-FFF2-40B4-BE49-F238E27FC236}">
                  <a16:creationId xmlns:a16="http://schemas.microsoft.com/office/drawing/2014/main" id="{F663E0BF-F2C3-9990-10F0-85152F3B749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10" name="object 6">
              <a:extLst>
                <a:ext uri="{FF2B5EF4-FFF2-40B4-BE49-F238E27FC236}">
                  <a16:creationId xmlns:a16="http://schemas.microsoft.com/office/drawing/2014/main" id="{AF92C391-8A67-101D-C7DE-D42721562E9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11" name="object 7">
              <a:extLst>
                <a:ext uri="{FF2B5EF4-FFF2-40B4-BE49-F238E27FC236}">
                  <a16:creationId xmlns:a16="http://schemas.microsoft.com/office/drawing/2014/main" id="{5C67209A-2109-EE49-1C12-165FDE2056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object 3">
            <a:extLst>
              <a:ext uri="{FF2B5EF4-FFF2-40B4-BE49-F238E27FC236}">
                <a16:creationId xmlns:a16="http://schemas.microsoft.com/office/drawing/2014/main" id="{A2CEDFE4-2383-831F-CDEE-1CF3B0215E16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88870" y="36844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CONCLUSION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981" y="1475556"/>
            <a:ext cx="841248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The project demonstrates a complete UPI transaction data-analysis workflow. </a:t>
            </a:r>
          </a:p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Python and Pandas were used to process and analyse 250,000 transaction records. </a:t>
            </a:r>
          </a:p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Data validation confirmed zero missing values and zero duplicate records. </a:t>
            </a:r>
          </a:p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Statistical analysis provided an understanding of transaction amounts, status and types. </a:t>
            </a:r>
          </a:p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Visualization helped identify patterns across time, merchant, device, network and geographical dimensions. </a:t>
            </a:r>
          </a:p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Fraud analysis helped identify characteristics associated with fraudulent transactions. </a:t>
            </a:r>
          </a:p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The project demonstrates how raw transaction data can be converted into meaningful analytical insights.</a:t>
            </a:r>
          </a:p>
          <a:p>
            <a:pPr algn="just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03485" y="6016903"/>
            <a:ext cx="8138160" cy="1536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C25B30"/>
                </a:solidFill>
                <a:latin typeface="Aptos"/>
              </a:defRPr>
            </a:pPr>
            <a:r>
              <a:rPr sz="2400" dirty="0">
                <a:latin typeface="Times New Roman" pitchFamily="18" charset="0"/>
                <a:cs typeface="Times New Roman" pitchFamily="18" charset="0"/>
              </a:rPr>
              <a:t>Future scope:</a:t>
            </a:r>
            <a:r>
              <a:rPr lang="en-IN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IN" sz="2000" b="1" i="1" dirty="0"/>
              <a:t>“Transforming UPI data insights into smarter, faster, and more secure digital payment solutions through advanced analytics and fraud detection.”</a:t>
            </a:r>
            <a:endParaRPr lang="en-IN" sz="2000" b="1" dirty="0"/>
          </a:p>
          <a:p>
            <a:pPr algn="ctr">
              <a:spcAft>
                <a:spcPts val="700"/>
              </a:spcAft>
              <a:defRPr sz="1600" b="1">
                <a:solidFill>
                  <a:srgbClr val="C25B30"/>
                </a:solidFill>
                <a:latin typeface="Aptos"/>
              </a:defRPr>
            </a:pPr>
            <a:endParaRPr sz="24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41927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58400" cy="7772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Freeform: Shape 23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9400" y="0"/>
            <a:ext cx="8219599" cy="77724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5372" y="0"/>
            <a:ext cx="8207655" cy="77724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257302" y="2266230"/>
            <a:ext cx="7543800" cy="3132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700"/>
              </a:spcAft>
              <a:defRPr sz="3400" b="1">
                <a:solidFill>
                  <a:srgbClr val="233464"/>
                </a:solidFill>
                <a:latin typeface="Aptos"/>
              </a:defRPr>
            </a:pPr>
            <a:r>
              <a:rPr lang="en-US" sz="3600" kern="1200" dirty="0">
                <a:solidFill>
                  <a:schemeClr val="tx1"/>
                </a:solidFill>
                <a:latin typeface="Times New Roman" pitchFamily="18" charset="0"/>
                <a:ea typeface="+mj-ea"/>
                <a:cs typeface="Times New Roman" pitchFamily="18" charset="0"/>
              </a:rPr>
              <a:t>THANK YOU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67812" y="6261424"/>
            <a:ext cx="3922776" cy="310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object 3">
            <a:extLst>
              <a:ext uri="{FF2B5EF4-FFF2-40B4-BE49-F238E27FC236}">
                <a16:creationId xmlns:a16="http://schemas.microsoft.com/office/drawing/2014/main" id="{A36E30A8-BD1B-0058-4620-F390351DADB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778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3455</TotalTime>
  <Words>947</Words>
  <Application>Microsoft Office PowerPoint</Application>
  <PresentationFormat>Custom</PresentationFormat>
  <Paragraphs>175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Palatino Linotype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Zeroth Review</dc:title>
  <dc:creator>RESHMA BASAPATHI</dc:creator>
  <cp:lastModifiedBy>Manoj Reddy Tetala</cp:lastModifiedBy>
  <cp:revision>118</cp:revision>
  <cp:lastPrinted>2025-10-14T18:21:49Z</cp:lastPrinted>
  <dcterms:created xsi:type="dcterms:W3CDTF">2025-10-10T08:28:06Z</dcterms:created>
  <dcterms:modified xsi:type="dcterms:W3CDTF">2026-10-29T14:55:19Z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2025-09-12T00:00:00Z</vt:filetime>
  </property>
  <property fmtid="{D5CDD505-2E9C-101B-9397-08002B2CF9AE}" pid="3" name="LastSaved">
    <vt:filetime>2025-10-10T00:00:00Z</vt:filetime>
  </property>
</Properties>
</file>