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
  </p:notesMasterIdLst>
  <p:sldIdLst>
    <p:sldId id="256" r:id="rId2"/>
    <p:sldId id="257" r:id="rId3"/>
    <p:sldId id="258" r:id="rId4"/>
    <p:sldId id="259" r:id="rId5"/>
    <p:sldId id="274" r:id="rId6"/>
    <p:sldId id="279" r:id="rId7"/>
    <p:sldId id="276" r:id="rId8"/>
    <p:sldId id="280" r:id="rId9"/>
    <p:sldId id="278" r:id="rId10"/>
    <p:sldId id="271" r:id="rId11"/>
    <p:sldId id="281" r:id="rId12"/>
    <p:sldId id="283" r:id="rId13"/>
    <p:sldId id="285" r:id="rId14"/>
    <p:sldId id="284" r:id="rId15"/>
    <p:sldId id="268" r:id="rId16"/>
    <p:sldId id="269" r:id="rId17"/>
  </p:sldIdLst>
  <p:sldSz cx="10058400" cy="7772400"/>
  <p:notesSz cx="10058400" cy="77724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85" autoAdjust="0"/>
    <p:restoredTop sz="94660"/>
  </p:normalViewPr>
  <p:slideViewPr>
    <p:cSldViewPr>
      <p:cViewPr varScale="1">
        <p:scale>
          <a:sx n="69" d="100"/>
          <a:sy n="69" d="100"/>
        </p:scale>
        <p:origin x="1594" y="206"/>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359275" cy="38893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5697538" y="0"/>
            <a:ext cx="4359275" cy="388938"/>
          </a:xfrm>
          <a:prstGeom prst="rect">
            <a:avLst/>
          </a:prstGeom>
        </p:spPr>
        <p:txBody>
          <a:bodyPr vert="horz" lIns="91440" tIns="45720" rIns="91440" bIns="45720" rtlCol="0"/>
          <a:lstStyle>
            <a:lvl1pPr algn="r">
              <a:defRPr sz="1200"/>
            </a:lvl1pPr>
          </a:lstStyle>
          <a:p>
            <a:fld id="{0B419B0A-DB98-47ED-A0D2-B47FD394FE07}" type="datetimeFigureOut">
              <a:rPr lang="en-IN" smtClean="0"/>
              <a:pPr/>
              <a:t>29-09-2026</a:t>
            </a:fld>
            <a:endParaRPr lang="en-IN"/>
          </a:p>
        </p:txBody>
      </p:sp>
      <p:sp>
        <p:nvSpPr>
          <p:cNvPr id="4" name="Slide Image Placeholder 3"/>
          <p:cNvSpPr>
            <a:spLocks noGrp="1" noRot="1" noChangeAspect="1"/>
          </p:cNvSpPr>
          <p:nvPr>
            <p:ph type="sldImg" idx="2"/>
          </p:nvPr>
        </p:nvSpPr>
        <p:spPr>
          <a:xfrm>
            <a:off x="3332163" y="971550"/>
            <a:ext cx="3394075" cy="262255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1006475" y="3740150"/>
            <a:ext cx="8045450" cy="306070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7383463"/>
            <a:ext cx="4359275" cy="38893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5697538" y="7383463"/>
            <a:ext cx="4359275" cy="388937"/>
          </a:xfrm>
          <a:prstGeom prst="rect">
            <a:avLst/>
          </a:prstGeom>
        </p:spPr>
        <p:txBody>
          <a:bodyPr vert="horz" lIns="91440" tIns="45720" rIns="91440" bIns="45720" rtlCol="0" anchor="b"/>
          <a:lstStyle>
            <a:lvl1pPr algn="r">
              <a:defRPr sz="1200"/>
            </a:lvl1pPr>
          </a:lstStyle>
          <a:p>
            <a:fld id="{67E471F2-2083-493A-8C9E-53209FFA1EC8}" type="slidenum">
              <a:rPr lang="en-IN" smtClean="0"/>
              <a:pPr/>
              <a:t>‹#›</a:t>
            </a:fld>
            <a:endParaRPr lang="en-IN"/>
          </a:p>
        </p:txBody>
      </p:sp>
    </p:spTree>
    <p:extLst>
      <p:ext uri="{BB962C8B-B14F-4D97-AF65-F5344CB8AC3E}">
        <p14:creationId xmlns:p14="http://schemas.microsoft.com/office/powerpoint/2010/main" val="446813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p:txBody>
          <a:bodyPr/>
          <a:lstStyle/>
          <a:p>
            <a:fld id="{67E471F2-2083-493A-8C9E-53209FFA1EC8}" type="slidenum">
              <a:rPr lang="en-IN" smtClean="0"/>
              <a:pPr/>
              <a:t>10</a:t>
            </a:fld>
            <a:endParaRPr lang="en-IN"/>
          </a:p>
        </p:txBody>
      </p:sp>
    </p:spTree>
    <p:extLst>
      <p:ext uri="{BB962C8B-B14F-4D97-AF65-F5344CB8AC3E}">
        <p14:creationId xmlns:p14="http://schemas.microsoft.com/office/powerpoint/2010/main" val="20061069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1E0C1-6277-CAD3-8A7C-7F0F37C61C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3776A0-3BEE-1FDC-EADA-6B6FA1E1A03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753676-942B-2284-A56F-CCE051D8DD0F}"/>
              </a:ext>
            </a:extLst>
          </p:cNvPr>
          <p:cNvSpPr>
            <a:spLocks noGrp="1"/>
          </p:cNvSpPr>
          <p:nvPr>
            <p:ph type="body" idx="1"/>
          </p:nvPr>
        </p:nvSpPr>
        <p:spPr/>
        <p:txBody>
          <a:bodyPr/>
          <a:lstStyle/>
          <a:p>
            <a:endParaRPr lang="en-IN" dirty="0"/>
          </a:p>
        </p:txBody>
      </p:sp>
      <p:sp>
        <p:nvSpPr>
          <p:cNvPr id="4" name="Slide Number Placeholder 3">
            <a:extLst>
              <a:ext uri="{FF2B5EF4-FFF2-40B4-BE49-F238E27FC236}">
                <a16:creationId xmlns:a16="http://schemas.microsoft.com/office/drawing/2014/main" id="{EA68B2BB-B290-5A6F-7542-202146F1BA1C}"/>
              </a:ext>
            </a:extLst>
          </p:cNvPr>
          <p:cNvSpPr>
            <a:spLocks noGrp="1"/>
          </p:cNvSpPr>
          <p:nvPr>
            <p:ph type="sldNum" sz="quarter" idx="10"/>
          </p:nvPr>
        </p:nvSpPr>
        <p:spPr/>
        <p:txBody>
          <a:bodyPr/>
          <a:lstStyle/>
          <a:p>
            <a:fld id="{67E471F2-2083-493A-8C9E-53209FFA1EC8}" type="slidenum">
              <a:rPr lang="en-IN" smtClean="0"/>
              <a:pPr/>
              <a:t>11</a:t>
            </a:fld>
            <a:endParaRPr lang="en-IN"/>
          </a:p>
        </p:txBody>
      </p:sp>
    </p:spTree>
    <p:extLst>
      <p:ext uri="{BB962C8B-B14F-4D97-AF65-F5344CB8AC3E}">
        <p14:creationId xmlns:p14="http://schemas.microsoft.com/office/powerpoint/2010/main" val="15275766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754380" y="2409444"/>
            <a:ext cx="8549640" cy="1632204"/>
          </a:xfrm>
          <a:prstGeom prst="rect">
            <a:avLst/>
          </a:prstGeom>
        </p:spPr>
        <p:txBody>
          <a:bodyPr wrap="square" lIns="0" tIns="0" rIns="0" bIns="0">
            <a:spAutoFit/>
          </a:bodyPr>
          <a:lstStyle>
            <a:lvl1pPr>
              <a:defRPr sz="2300" b="1" i="0">
                <a:solidFill>
                  <a:srgbClr val="375F92"/>
                </a:solidFill>
                <a:latin typeface="Palatino Linotype"/>
                <a:cs typeface="Palatino Linotype"/>
              </a:defRPr>
            </a:lvl1pPr>
          </a:lstStyle>
          <a:p>
            <a:endParaRPr/>
          </a:p>
        </p:txBody>
      </p:sp>
      <p:sp>
        <p:nvSpPr>
          <p:cNvPr id="3" name="Holder 3"/>
          <p:cNvSpPr>
            <a:spLocks noGrp="1"/>
          </p:cNvSpPr>
          <p:nvPr>
            <p:ph type="subTitle" idx="4"/>
          </p:nvPr>
        </p:nvSpPr>
        <p:spPr>
          <a:xfrm>
            <a:off x="1508760" y="4352544"/>
            <a:ext cx="7040880" cy="1943100"/>
          </a:xfrm>
          <a:prstGeom prst="rect">
            <a:avLst/>
          </a:prstGeom>
        </p:spPr>
        <p:txBody>
          <a:bodyPr wrap="square" lIns="0" tIns="0" rIns="0" bIns="0">
            <a:spAutoFit/>
          </a:bodyPr>
          <a:lstStyle>
            <a:lvl1pPr>
              <a:defRPr sz="1950" b="1" i="0">
                <a:solidFill>
                  <a:schemeClr val="tx1"/>
                </a:solidFill>
                <a:latin typeface="Palatino Linotype"/>
                <a:cs typeface="Palatino Linotype"/>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pPr/>
              <a:t>9/29/2026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pPr/>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00" b="1" i="0">
                <a:solidFill>
                  <a:srgbClr val="375F92"/>
                </a:solidFill>
                <a:latin typeface="Palatino Linotype"/>
                <a:cs typeface="Palatino Linotype"/>
              </a:defRPr>
            </a:lvl1pPr>
          </a:lstStyle>
          <a:p>
            <a:endParaRPr/>
          </a:p>
        </p:txBody>
      </p:sp>
      <p:sp>
        <p:nvSpPr>
          <p:cNvPr id="3" name="Holder 3"/>
          <p:cNvSpPr>
            <a:spLocks noGrp="1"/>
          </p:cNvSpPr>
          <p:nvPr>
            <p:ph type="body" idx="1"/>
          </p:nvPr>
        </p:nvSpPr>
        <p:spPr/>
        <p:txBody>
          <a:bodyPr lIns="0" tIns="0" rIns="0" bIns="0"/>
          <a:lstStyle>
            <a:lvl1pPr>
              <a:defRPr sz="1950" b="1" i="0">
                <a:solidFill>
                  <a:schemeClr val="tx1"/>
                </a:solidFill>
                <a:latin typeface="Palatino Linotype"/>
                <a:cs typeface="Palatino Linotype"/>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pPr/>
              <a:t>9/29/2026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pPr/>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00" b="1" i="0">
                <a:solidFill>
                  <a:srgbClr val="375F92"/>
                </a:solidFill>
                <a:latin typeface="Palatino Linotype"/>
                <a:cs typeface="Palatino Linotype"/>
              </a:defRPr>
            </a:lvl1pPr>
          </a:lstStyle>
          <a:p>
            <a:endParaRPr/>
          </a:p>
        </p:txBody>
      </p:sp>
      <p:sp>
        <p:nvSpPr>
          <p:cNvPr id="3" name="Holder 3"/>
          <p:cNvSpPr>
            <a:spLocks noGrp="1"/>
          </p:cNvSpPr>
          <p:nvPr>
            <p:ph sz="half" idx="2"/>
          </p:nvPr>
        </p:nvSpPr>
        <p:spPr>
          <a:xfrm>
            <a:off x="502920" y="1787652"/>
            <a:ext cx="4375404" cy="5129784"/>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5180076" y="1787652"/>
            <a:ext cx="4375404" cy="5129784"/>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pPr/>
              <a:t>9/29/2026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pPr/>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300" b="1" i="0">
                <a:solidFill>
                  <a:srgbClr val="375F92"/>
                </a:solidFill>
                <a:latin typeface="Palatino Linotype"/>
                <a:cs typeface="Palatino Linotype"/>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pPr/>
              <a:t>9/29/2026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pPr/>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2648056" y="258722"/>
            <a:ext cx="4601366" cy="704793"/>
          </a:xfrm>
          <a:prstGeom prst="rect">
            <a:avLst/>
          </a:prstGeom>
        </p:spPr>
      </p:pic>
      <p:pic>
        <p:nvPicPr>
          <p:cNvPr id="17" name="bg object 17"/>
          <p:cNvPicPr/>
          <p:nvPr/>
        </p:nvPicPr>
        <p:blipFill>
          <a:blip r:embed="rId3" cstate="print"/>
          <a:stretch>
            <a:fillRect/>
          </a:stretch>
        </p:blipFill>
        <p:spPr>
          <a:xfrm>
            <a:off x="2530316" y="125730"/>
            <a:ext cx="4997767" cy="1045130"/>
          </a:xfrm>
          <a:prstGeom prst="rect">
            <a:avLst/>
          </a:prstGeom>
        </p:spPr>
      </p:pic>
      <p:pic>
        <p:nvPicPr>
          <p:cNvPr id="18" name="bg object 18"/>
          <p:cNvPicPr/>
          <p:nvPr/>
        </p:nvPicPr>
        <p:blipFill>
          <a:blip r:embed="rId4" cstate="print"/>
          <a:stretch>
            <a:fillRect/>
          </a:stretch>
        </p:blipFill>
        <p:spPr>
          <a:xfrm>
            <a:off x="2663904" y="251407"/>
            <a:ext cx="4577410" cy="506849"/>
          </a:xfrm>
          <a:prstGeom prst="rect">
            <a:avLst/>
          </a:prstGeom>
        </p:spPr>
      </p:pic>
      <p:sp>
        <p:nvSpPr>
          <p:cNvPr id="19" name="bg object 19"/>
          <p:cNvSpPr/>
          <p:nvPr/>
        </p:nvSpPr>
        <p:spPr>
          <a:xfrm>
            <a:off x="2718911" y="290750"/>
            <a:ext cx="4471670" cy="400685"/>
          </a:xfrm>
          <a:custGeom>
            <a:avLst/>
            <a:gdLst/>
            <a:ahLst/>
            <a:cxnLst/>
            <a:rect l="l" t="t" r="r" b="b"/>
            <a:pathLst>
              <a:path w="4471670" h="400684">
                <a:moveTo>
                  <a:pt x="4386510" y="0"/>
                </a:moveTo>
                <a:lnTo>
                  <a:pt x="84762" y="0"/>
                </a:lnTo>
                <a:lnTo>
                  <a:pt x="51758" y="5238"/>
                </a:lnTo>
                <a:lnTo>
                  <a:pt x="24831" y="19592"/>
                </a:lnTo>
                <a:lnTo>
                  <a:pt x="6705" y="40757"/>
                </a:lnTo>
                <a:lnTo>
                  <a:pt x="0" y="66741"/>
                </a:lnTo>
                <a:lnTo>
                  <a:pt x="0" y="333813"/>
                </a:lnTo>
                <a:lnTo>
                  <a:pt x="6705" y="359797"/>
                </a:lnTo>
                <a:lnTo>
                  <a:pt x="24831" y="381066"/>
                </a:lnTo>
                <a:lnTo>
                  <a:pt x="51758" y="395316"/>
                </a:lnTo>
                <a:lnTo>
                  <a:pt x="84762" y="400554"/>
                </a:lnTo>
                <a:lnTo>
                  <a:pt x="4386510" y="400554"/>
                </a:lnTo>
                <a:lnTo>
                  <a:pt x="4419514" y="395316"/>
                </a:lnTo>
                <a:lnTo>
                  <a:pt x="4446441" y="381066"/>
                </a:lnTo>
                <a:lnTo>
                  <a:pt x="4464567" y="359797"/>
                </a:lnTo>
                <a:lnTo>
                  <a:pt x="4471273" y="333813"/>
                </a:lnTo>
                <a:lnTo>
                  <a:pt x="4471273" y="66741"/>
                </a:lnTo>
                <a:lnTo>
                  <a:pt x="4464567" y="40757"/>
                </a:lnTo>
                <a:lnTo>
                  <a:pt x="4446441" y="19592"/>
                </a:lnTo>
                <a:lnTo>
                  <a:pt x="4419514" y="5238"/>
                </a:lnTo>
                <a:lnTo>
                  <a:pt x="4386510" y="0"/>
                </a:lnTo>
                <a:close/>
              </a:path>
            </a:pathLst>
          </a:custGeom>
          <a:solidFill>
            <a:srgbClr val="FF6600"/>
          </a:solidFill>
        </p:spPr>
        <p:txBody>
          <a:bodyPr wrap="square" lIns="0" tIns="0" rIns="0" bIns="0" rtlCol="0"/>
          <a:lstStyle/>
          <a:p>
            <a:endParaRPr/>
          </a:p>
        </p:txBody>
      </p:sp>
      <p:pic>
        <p:nvPicPr>
          <p:cNvPr id="20" name="bg object 20"/>
          <p:cNvPicPr/>
          <p:nvPr/>
        </p:nvPicPr>
        <p:blipFill>
          <a:blip r:embed="rId5" cstate="print"/>
          <a:stretch>
            <a:fillRect/>
          </a:stretch>
        </p:blipFill>
        <p:spPr>
          <a:xfrm>
            <a:off x="3292554" y="282840"/>
            <a:ext cx="3375117" cy="569714"/>
          </a:xfrm>
          <a:prstGeom prst="rect">
            <a:avLst/>
          </a:prstGeom>
        </p:spPr>
      </p:pic>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pPr/>
              <a:t>9/29/2026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pPr/>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3830970" y="881554"/>
            <a:ext cx="2528570" cy="375284"/>
          </a:xfrm>
          <a:prstGeom prst="rect">
            <a:avLst/>
          </a:prstGeom>
        </p:spPr>
        <p:txBody>
          <a:bodyPr wrap="square" lIns="0" tIns="0" rIns="0" bIns="0">
            <a:spAutoFit/>
          </a:bodyPr>
          <a:lstStyle>
            <a:lvl1pPr>
              <a:defRPr sz="2300" b="1" i="0">
                <a:solidFill>
                  <a:srgbClr val="375F92"/>
                </a:solidFill>
                <a:latin typeface="Palatino Linotype"/>
                <a:cs typeface="Palatino Linotype"/>
              </a:defRPr>
            </a:lvl1pPr>
          </a:lstStyle>
          <a:p>
            <a:endParaRPr/>
          </a:p>
        </p:txBody>
      </p:sp>
      <p:sp>
        <p:nvSpPr>
          <p:cNvPr id="3" name="Holder 3"/>
          <p:cNvSpPr>
            <a:spLocks noGrp="1"/>
          </p:cNvSpPr>
          <p:nvPr>
            <p:ph type="body" idx="1"/>
          </p:nvPr>
        </p:nvSpPr>
        <p:spPr>
          <a:xfrm>
            <a:off x="621188" y="1409149"/>
            <a:ext cx="8949055" cy="3294379"/>
          </a:xfrm>
          <a:prstGeom prst="rect">
            <a:avLst/>
          </a:prstGeom>
        </p:spPr>
        <p:txBody>
          <a:bodyPr wrap="square" lIns="0" tIns="0" rIns="0" bIns="0">
            <a:spAutoFit/>
          </a:bodyPr>
          <a:lstStyle>
            <a:lvl1pPr>
              <a:defRPr sz="1950" b="1" i="0">
                <a:solidFill>
                  <a:schemeClr val="tx1"/>
                </a:solidFill>
                <a:latin typeface="Palatino Linotype"/>
                <a:cs typeface="Palatino Linotype"/>
              </a:defRPr>
            </a:lvl1pPr>
          </a:lstStyle>
          <a:p>
            <a:endParaRPr/>
          </a:p>
        </p:txBody>
      </p:sp>
      <p:sp>
        <p:nvSpPr>
          <p:cNvPr id="4" name="Holder 4"/>
          <p:cNvSpPr>
            <a:spLocks noGrp="1"/>
          </p:cNvSpPr>
          <p:nvPr>
            <p:ph type="ftr" sz="quarter" idx="5"/>
          </p:nvPr>
        </p:nvSpPr>
        <p:spPr>
          <a:xfrm>
            <a:off x="3419856" y="7228332"/>
            <a:ext cx="3218688" cy="38862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502920" y="7228332"/>
            <a:ext cx="2313432" cy="38862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pPr/>
              <a:t>9/29/2026</a:t>
            </a:fld>
            <a:endParaRPr lang="en-US"/>
          </a:p>
        </p:txBody>
      </p:sp>
      <p:sp>
        <p:nvSpPr>
          <p:cNvPr id="6" name="Holder 6"/>
          <p:cNvSpPr>
            <a:spLocks noGrp="1"/>
          </p:cNvSpPr>
          <p:nvPr>
            <p:ph type="sldNum" sz="quarter" idx="7"/>
          </p:nvPr>
        </p:nvSpPr>
        <p:spPr>
          <a:xfrm>
            <a:off x="7242048" y="7228332"/>
            <a:ext cx="2313432" cy="38862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pPr/>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5.xml"/><Relationship Id="rId5" Type="http://schemas.openxmlformats.org/officeDocument/2006/relationships/image" Target="../media/image8.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jpe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image" Target="../media/image6.jpe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6.jpeg"/><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6.jpeg"/><Relationship Id="rId5" Type="http://schemas.openxmlformats.org/officeDocument/2006/relationships/image" Target="../media/image8.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jpeg"/><Relationship Id="rId5" Type="http://schemas.openxmlformats.org/officeDocument/2006/relationships/image" Target="../media/image8.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2.png"/><Relationship Id="rId7" Type="http://schemas.openxmlformats.org/officeDocument/2006/relationships/image" Target="../media/image14.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10" Type="http://schemas.openxmlformats.org/officeDocument/2006/relationships/image" Target="../media/image6.jpeg"/><Relationship Id="rId4" Type="http://schemas.openxmlformats.org/officeDocument/2006/relationships/image" Target="../media/image8.png"/><Relationship Id="rId9"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6.jpeg"/><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693969" y="211046"/>
            <a:ext cx="4610910" cy="628649"/>
          </a:xfrm>
          <a:prstGeom prst="rect">
            <a:avLst/>
          </a:prstGeom>
        </p:spPr>
      </p:pic>
      <p:sp>
        <p:nvSpPr>
          <p:cNvPr id="3" name="TextBox 2"/>
          <p:cNvSpPr txBox="1"/>
          <p:nvPr/>
        </p:nvSpPr>
        <p:spPr>
          <a:xfrm>
            <a:off x="1463040" y="1051560"/>
            <a:ext cx="7315200" cy="523220"/>
          </a:xfrm>
          <a:prstGeom prst="rect">
            <a:avLst/>
          </a:prstGeom>
          <a:noFill/>
        </p:spPr>
        <p:txBody>
          <a:bodyPr wrap="square">
            <a:spAutoFit/>
          </a:bodyPr>
          <a:lstStyle/>
          <a:p>
            <a:pPr algn="ctr">
              <a:spcAft>
                <a:spcPts val="700"/>
              </a:spcAft>
              <a:defRPr sz="2500" b="1">
                <a:solidFill>
                  <a:srgbClr val="233464"/>
                </a:solidFill>
                <a:latin typeface="Aptos"/>
              </a:defRPr>
            </a:pPr>
            <a:r>
              <a:rPr sz="2800" dirty="0">
                <a:latin typeface="Times New Roman" pitchFamily="18" charset="0"/>
                <a:cs typeface="Times New Roman" pitchFamily="18" charset="0"/>
              </a:rPr>
              <a:t>Data Analysis Essentials</a:t>
            </a:r>
          </a:p>
        </p:txBody>
      </p:sp>
      <p:sp>
        <p:nvSpPr>
          <p:cNvPr id="4" name="TextBox 3"/>
          <p:cNvSpPr txBox="1"/>
          <p:nvPr/>
        </p:nvSpPr>
        <p:spPr>
          <a:xfrm>
            <a:off x="1463040" y="1508760"/>
            <a:ext cx="7315200" cy="446276"/>
          </a:xfrm>
          <a:prstGeom prst="rect">
            <a:avLst/>
          </a:prstGeom>
          <a:noFill/>
        </p:spPr>
        <p:txBody>
          <a:bodyPr wrap="square">
            <a:spAutoFit/>
          </a:bodyPr>
          <a:lstStyle/>
          <a:p>
            <a:pPr algn="ctr">
              <a:spcAft>
                <a:spcPts val="700"/>
              </a:spcAft>
              <a:defRPr sz="2300" b="1">
                <a:solidFill>
                  <a:srgbClr val="C25B30"/>
                </a:solidFill>
                <a:latin typeface="Aptos"/>
              </a:defRPr>
            </a:pPr>
            <a:r>
              <a:rPr dirty="0">
                <a:latin typeface="Times New Roman" pitchFamily="18" charset="0"/>
                <a:cs typeface="Times New Roman" pitchFamily="18" charset="0"/>
              </a:rPr>
              <a:t>Cornerstone Project</a:t>
            </a:r>
          </a:p>
        </p:txBody>
      </p:sp>
      <p:sp>
        <p:nvSpPr>
          <p:cNvPr id="5" name="TextBox 4"/>
          <p:cNvSpPr txBox="1"/>
          <p:nvPr/>
        </p:nvSpPr>
        <p:spPr>
          <a:xfrm>
            <a:off x="640080" y="2331720"/>
            <a:ext cx="8778240" cy="584775"/>
          </a:xfrm>
          <a:prstGeom prst="rect">
            <a:avLst/>
          </a:prstGeom>
          <a:noFill/>
        </p:spPr>
        <p:txBody>
          <a:bodyPr wrap="square">
            <a:spAutoFit/>
          </a:bodyPr>
          <a:lstStyle/>
          <a:p>
            <a:pPr algn="ctr">
              <a:spcAft>
                <a:spcPts val="700"/>
              </a:spcAft>
              <a:defRPr sz="3000" b="1">
                <a:solidFill>
                  <a:srgbClr val="233464"/>
                </a:solidFill>
                <a:latin typeface="Aptos"/>
              </a:defRPr>
            </a:pPr>
            <a:r>
              <a:rPr lang="en-US" sz="3200" dirty="0">
                <a:latin typeface="Times New Roman" pitchFamily="18" charset="0"/>
                <a:cs typeface="Times New Roman" pitchFamily="18" charset="0"/>
              </a:rPr>
              <a:t>UPI TRANSITION ANALYSIS</a:t>
            </a:r>
            <a:endParaRPr sz="3200" dirty="0">
              <a:latin typeface="Times New Roman" pitchFamily="18" charset="0"/>
              <a:cs typeface="Times New Roman" pitchFamily="18" charset="0"/>
            </a:endParaRPr>
          </a:p>
        </p:txBody>
      </p:sp>
      <p:sp>
        <p:nvSpPr>
          <p:cNvPr id="7" name="TextBox 6"/>
          <p:cNvSpPr txBox="1"/>
          <p:nvPr/>
        </p:nvSpPr>
        <p:spPr>
          <a:xfrm>
            <a:off x="1051560" y="3352800"/>
            <a:ext cx="7955279" cy="2387833"/>
          </a:xfrm>
          <a:prstGeom prst="rect">
            <a:avLst/>
          </a:prstGeom>
          <a:noFill/>
        </p:spPr>
        <p:txBody>
          <a:bodyPr wrap="square">
            <a:spAutoFit/>
          </a:bodyPr>
          <a:lstStyle/>
          <a:p>
            <a:pPr algn="ctr">
              <a:spcAft>
                <a:spcPts val="700"/>
              </a:spcAft>
              <a:defRPr sz="1400" b="0">
                <a:solidFill>
                  <a:srgbClr val="2D2D2D"/>
                </a:solidFill>
                <a:latin typeface="Aptos"/>
              </a:defRPr>
            </a:pPr>
            <a:r>
              <a:rPr sz="2400" b="1" dirty="0">
                <a:solidFill>
                  <a:srgbClr val="FF0000"/>
                </a:solidFill>
                <a:latin typeface="Times New Roman" pitchFamily="18" charset="0"/>
                <a:cs typeface="Times New Roman" pitchFamily="18" charset="0"/>
              </a:rPr>
              <a:t>Presented by</a:t>
            </a:r>
          </a:p>
          <a:p>
            <a:pPr algn="ctr">
              <a:spcAft>
                <a:spcPts val="700"/>
              </a:spcAft>
              <a:defRPr sz="1400" b="0">
                <a:solidFill>
                  <a:srgbClr val="2D2D2D"/>
                </a:solidFill>
                <a:latin typeface="Aptos"/>
              </a:defRPr>
            </a:pPr>
            <a:r>
              <a:rPr lang="en-US" sz="2000" b="1" dirty="0">
                <a:latin typeface="Times New Roman" pitchFamily="18" charset="0"/>
                <a:cs typeface="Times New Roman" pitchFamily="18" charset="0"/>
              </a:rPr>
              <a:t>K.SURYA(25B11CS002)</a:t>
            </a:r>
          </a:p>
          <a:p>
            <a:pPr algn="ctr">
              <a:spcAft>
                <a:spcPts val="700"/>
              </a:spcAft>
              <a:defRPr sz="1400" b="0">
                <a:solidFill>
                  <a:srgbClr val="2D2D2D"/>
                </a:solidFill>
                <a:latin typeface="Aptos"/>
              </a:defRPr>
            </a:pPr>
            <a:r>
              <a:rPr lang="en-US" sz="2000" b="1" dirty="0">
                <a:latin typeface="Times New Roman" pitchFamily="18" charset="0"/>
                <a:cs typeface="Times New Roman" pitchFamily="18" charset="0"/>
              </a:rPr>
              <a:t>A.DIVIJA(25B11CS005)</a:t>
            </a:r>
          </a:p>
          <a:p>
            <a:pPr algn="ctr">
              <a:spcAft>
                <a:spcPts val="700"/>
              </a:spcAft>
              <a:defRPr sz="1400" b="0">
                <a:solidFill>
                  <a:srgbClr val="2D2D2D"/>
                </a:solidFill>
                <a:latin typeface="Aptos"/>
              </a:defRPr>
            </a:pPr>
            <a:r>
              <a:rPr lang="en-US" sz="2000" b="1" dirty="0">
                <a:latin typeface="Times New Roman" pitchFamily="18" charset="0"/>
                <a:cs typeface="Times New Roman" pitchFamily="18" charset="0"/>
              </a:rPr>
              <a:t>SANA JASWANTHI(25B11CS845)</a:t>
            </a:r>
          </a:p>
          <a:p>
            <a:pPr algn="ctr">
              <a:spcAft>
                <a:spcPts val="700"/>
              </a:spcAft>
              <a:defRPr sz="1400" b="0">
                <a:solidFill>
                  <a:srgbClr val="2D2D2D"/>
                </a:solidFill>
                <a:latin typeface="Aptos"/>
              </a:defRPr>
            </a:pPr>
            <a:r>
              <a:rPr lang="en-US" sz="2000" b="1" dirty="0">
                <a:latin typeface="Times New Roman" pitchFamily="18" charset="0"/>
                <a:cs typeface="Times New Roman" pitchFamily="18" charset="0"/>
              </a:rPr>
              <a:t>T.MANOJ REDDY(25B11CS946)</a:t>
            </a:r>
          </a:p>
          <a:p>
            <a:pPr algn="ctr">
              <a:spcAft>
                <a:spcPts val="700"/>
              </a:spcAft>
              <a:defRPr sz="1400" b="0">
                <a:solidFill>
                  <a:srgbClr val="2D2D2D"/>
                </a:solidFill>
                <a:latin typeface="Aptos"/>
              </a:defRPr>
            </a:pPr>
            <a:r>
              <a:rPr sz="1600" b="1" dirty="0">
                <a:latin typeface="Times New Roman" pitchFamily="18" charset="0"/>
                <a:cs typeface="Times New Roman" pitchFamily="18" charset="0"/>
              </a:rPr>
              <a:t>Guide: Mr. </a:t>
            </a:r>
            <a:r>
              <a:rPr sz="1600" b="1" dirty="0" err="1">
                <a:latin typeface="Times New Roman" pitchFamily="18" charset="0"/>
                <a:cs typeface="Times New Roman" pitchFamily="18" charset="0"/>
              </a:rPr>
              <a:t>K. Ashok Teja, Assistant Professor, CSE Dept.</a:t>
            </a:r>
          </a:p>
        </p:txBody>
      </p:sp>
      <p:sp>
        <p:nvSpPr>
          <p:cNvPr id="8" name="TextBox 7"/>
          <p:cNvSpPr txBox="1"/>
          <p:nvPr/>
        </p:nvSpPr>
        <p:spPr>
          <a:xfrm>
            <a:off x="914400" y="6446520"/>
            <a:ext cx="8229600" cy="400110"/>
          </a:xfrm>
          <a:prstGeom prst="rect">
            <a:avLst/>
          </a:prstGeom>
          <a:noFill/>
        </p:spPr>
        <p:txBody>
          <a:bodyPr wrap="square">
            <a:spAutoFit/>
          </a:bodyPr>
          <a:lstStyle/>
          <a:p>
            <a:pPr algn="ctr">
              <a:spcAft>
                <a:spcPts val="700"/>
              </a:spcAft>
              <a:defRPr sz="1300" b="1">
                <a:solidFill>
                  <a:srgbClr val="233464"/>
                </a:solidFill>
                <a:latin typeface="Aptos"/>
              </a:defRPr>
            </a:pPr>
            <a:r>
              <a:rPr sz="2000" dirty="0">
                <a:latin typeface="Times New Roman" pitchFamily="18" charset="0"/>
                <a:cs typeface="Times New Roman" pitchFamily="18" charset="0"/>
              </a:rPr>
              <a:t>Department of Computer Science and Engineering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object 3"/>
          <p:cNvPicPr/>
          <p:nvPr/>
        </p:nvPicPr>
        <p:blipFill>
          <a:blip r:embed="rId2" cstate="print"/>
          <a:stretch>
            <a:fillRect/>
          </a:stretch>
        </p:blipFill>
        <p:spPr>
          <a:xfrm>
            <a:off x="290750" y="204311"/>
            <a:ext cx="1163002" cy="424338"/>
          </a:xfrm>
          <a:prstGeom prst="rect">
            <a:avLst/>
          </a:prstGeom>
        </p:spPr>
      </p:pic>
      <p:grpSp>
        <p:nvGrpSpPr>
          <p:cNvPr id="5" name="object 3"/>
          <p:cNvGrpSpPr/>
          <p:nvPr/>
        </p:nvGrpSpPr>
        <p:grpSpPr>
          <a:xfrm>
            <a:off x="2438400" y="33670"/>
            <a:ext cx="5334000" cy="1198311"/>
            <a:chOff x="2648188" y="47148"/>
            <a:chExt cx="5103904" cy="1198311"/>
          </a:xfrm>
        </p:grpSpPr>
        <p:pic>
          <p:nvPicPr>
            <p:cNvPr id="6" name="object 4"/>
            <p:cNvPicPr/>
            <p:nvPr/>
          </p:nvPicPr>
          <p:blipFill>
            <a:blip r:embed="rId3" cstate="print"/>
            <a:stretch>
              <a:fillRect/>
            </a:stretch>
          </p:blipFill>
          <p:spPr>
            <a:xfrm>
              <a:off x="2648188" y="47148"/>
              <a:ext cx="5103904" cy="1198311"/>
            </a:xfrm>
            <a:prstGeom prst="rect">
              <a:avLst/>
            </a:prstGeom>
          </p:spPr>
        </p:pic>
        <p:pic>
          <p:nvPicPr>
            <p:cNvPr id="7" name="object 5"/>
            <p:cNvPicPr/>
            <p:nvPr/>
          </p:nvPicPr>
          <p:blipFill>
            <a:blip r:embed="rId4" cstate="print"/>
            <a:stretch>
              <a:fillRect/>
            </a:stretch>
          </p:blipFill>
          <p:spPr>
            <a:xfrm>
              <a:off x="2703195" y="86439"/>
              <a:ext cx="4997767" cy="1092279"/>
            </a:xfrm>
            <a:prstGeom prst="rect">
              <a:avLst/>
            </a:prstGeom>
          </p:spPr>
        </p:pic>
        <p:pic>
          <p:nvPicPr>
            <p:cNvPr id="8" name="object 6"/>
            <p:cNvPicPr/>
            <p:nvPr/>
          </p:nvPicPr>
          <p:blipFill>
            <a:blip r:embed="rId5" cstate="print"/>
            <a:stretch>
              <a:fillRect/>
            </a:stretch>
          </p:blipFill>
          <p:spPr>
            <a:xfrm>
              <a:off x="2828925" y="243549"/>
              <a:ext cx="4585268" cy="522565"/>
            </a:xfrm>
            <a:prstGeom prst="rect">
              <a:avLst/>
            </a:prstGeom>
          </p:spPr>
        </p:pic>
        <p:sp>
          <p:nvSpPr>
            <p:cNvPr id="9" name="object 7"/>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dirty="0"/>
            </a:p>
          </p:txBody>
        </p:sp>
      </p:grpSp>
      <p:sp>
        <p:nvSpPr>
          <p:cNvPr id="10" name="TextBox 9"/>
          <p:cNvSpPr txBox="1"/>
          <p:nvPr/>
        </p:nvSpPr>
        <p:spPr>
          <a:xfrm>
            <a:off x="2545080" y="269414"/>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lang="en-US" dirty="0">
                <a:solidFill>
                  <a:schemeClr val="bg1"/>
                </a:solidFill>
                <a:latin typeface="Times New Roman" pitchFamily="18" charset="0"/>
                <a:cs typeface="Times New Roman" pitchFamily="18" charset="0"/>
              </a:rPr>
              <a:t>Contents</a:t>
            </a:r>
            <a:endParaRPr dirty="0">
              <a:solidFill>
                <a:schemeClr val="bg1"/>
              </a:solidFill>
              <a:latin typeface="Times New Roman" pitchFamily="18" charset="0"/>
              <a:cs typeface="Times New Roman" pitchFamily="18" charset="0"/>
            </a:endParaRPr>
          </a:p>
        </p:txBody>
      </p:sp>
      <p:sp>
        <p:nvSpPr>
          <p:cNvPr id="11" name="TextBox 10"/>
          <p:cNvSpPr txBox="1"/>
          <p:nvPr/>
        </p:nvSpPr>
        <p:spPr>
          <a:xfrm>
            <a:off x="1219200" y="1676400"/>
            <a:ext cx="7132320" cy="5052665"/>
          </a:xfrm>
          <a:prstGeom prst="rect">
            <a:avLst/>
          </a:prstGeom>
          <a:noFill/>
        </p:spPr>
        <p:txBody>
          <a:bodyPr wrap="square">
            <a:spAutoFit/>
          </a:bodyPr>
          <a:lstStyle/>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Problem Understanding</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Introduction</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Current Approach &amp; Limitations</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Proposed Approach</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Dataset Description</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Requirements</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Methodology</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Data Visualization</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Key Insights &amp; Analysis</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Implementation Workflow</a:t>
            </a:r>
          </a:p>
          <a:p>
            <a:pPr algn="l">
              <a:spcAft>
                <a:spcPts val="700"/>
              </a:spcAft>
              <a:defRPr sz="2000" b="0">
                <a:solidFill>
                  <a:srgbClr val="2D2D2D"/>
                </a:solidFill>
                <a:latin typeface="Aptos"/>
              </a:defRPr>
            </a:pPr>
            <a:r>
              <a:rPr sz="2400" dirty="0">
                <a:latin typeface="Times New Roman" panose="02020603050405020304" pitchFamily="18" charset="0"/>
                <a:cs typeface="Times New Roman" panose="02020603050405020304" pitchFamily="18" charset="0"/>
              </a:rPr>
              <a:t>• Conclusion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3" name="object 3"/>
          <p:cNvGrpSpPr/>
          <p:nvPr/>
        </p:nvGrpSpPr>
        <p:grpSpPr>
          <a:xfrm>
            <a:off x="2667000" y="53695"/>
            <a:ext cx="5103904" cy="1198311"/>
            <a:chOff x="2648188" y="47148"/>
            <a:chExt cx="5103904" cy="1198311"/>
          </a:xfrm>
        </p:grpSpPr>
        <p:pic>
          <p:nvPicPr>
            <p:cNvPr id="4" name="object 4"/>
            <p:cNvPicPr/>
            <p:nvPr/>
          </p:nvPicPr>
          <p:blipFill>
            <a:blip r:embed="rId2" cstate="print"/>
            <a:stretch>
              <a:fillRect/>
            </a:stretch>
          </p:blipFill>
          <p:spPr>
            <a:xfrm>
              <a:off x="2648188" y="47148"/>
              <a:ext cx="5103904" cy="1198311"/>
            </a:xfrm>
            <a:prstGeom prst="rect">
              <a:avLst/>
            </a:prstGeom>
          </p:spPr>
        </p:pic>
        <p:pic>
          <p:nvPicPr>
            <p:cNvPr id="5" name="object 5"/>
            <p:cNvPicPr/>
            <p:nvPr/>
          </p:nvPicPr>
          <p:blipFill>
            <a:blip r:embed="rId3" cstate="print"/>
            <a:stretch>
              <a:fillRect/>
            </a:stretch>
          </p:blipFill>
          <p:spPr>
            <a:xfrm>
              <a:off x="2703195" y="86439"/>
              <a:ext cx="4997767" cy="1092279"/>
            </a:xfrm>
            <a:prstGeom prst="rect">
              <a:avLst/>
            </a:prstGeom>
          </p:spPr>
        </p:pic>
        <p:pic>
          <p:nvPicPr>
            <p:cNvPr id="6" name="object 6"/>
            <p:cNvPicPr/>
            <p:nvPr/>
          </p:nvPicPr>
          <p:blipFill>
            <a:blip r:embed="rId4" cstate="print"/>
            <a:stretch>
              <a:fillRect/>
            </a:stretch>
          </p:blipFill>
          <p:spPr>
            <a:xfrm>
              <a:off x="2828925" y="243549"/>
              <a:ext cx="4585268" cy="522565"/>
            </a:xfrm>
            <a:prstGeom prst="rect">
              <a:avLst/>
            </a:prstGeom>
          </p:spPr>
        </p:pic>
        <p:sp>
          <p:nvSpPr>
            <p:cNvPr id="7" name="object 7"/>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dirty="0"/>
            </a:p>
          </p:txBody>
        </p:sp>
      </p:grpSp>
      <p:pic>
        <p:nvPicPr>
          <p:cNvPr id="10" name="object 3">
            <a:extLst>
              <a:ext uri="{FF2B5EF4-FFF2-40B4-BE49-F238E27FC236}">
                <a16:creationId xmlns:a16="http://schemas.microsoft.com/office/drawing/2014/main" id="{1B5A0518-1CDA-CA94-327E-0995E9EC2B84}"/>
              </a:ext>
            </a:extLst>
          </p:cNvPr>
          <p:cNvPicPr/>
          <p:nvPr/>
        </p:nvPicPr>
        <p:blipFill>
          <a:blip r:embed="rId5" cstate="print"/>
          <a:stretch>
            <a:fillRect/>
          </a:stretch>
        </p:blipFill>
        <p:spPr>
          <a:xfrm>
            <a:off x="290750" y="204311"/>
            <a:ext cx="1163002" cy="424338"/>
          </a:xfrm>
          <a:prstGeom prst="rect">
            <a:avLst/>
          </a:prstGeom>
        </p:spPr>
      </p:pic>
      <p:sp>
        <p:nvSpPr>
          <p:cNvPr id="11" name="TextBox 10"/>
          <p:cNvSpPr txBox="1"/>
          <p:nvPr/>
        </p:nvSpPr>
        <p:spPr>
          <a:xfrm>
            <a:off x="2667000" y="304800"/>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dirty="0">
                <a:solidFill>
                  <a:schemeClr val="bg1"/>
                </a:solidFill>
                <a:latin typeface="Times New Roman" pitchFamily="18" charset="0"/>
                <a:cs typeface="Times New Roman" pitchFamily="18" charset="0"/>
              </a:rPr>
              <a:t>PROBLEM UNDERSTANDING</a:t>
            </a:r>
          </a:p>
        </p:txBody>
      </p:sp>
      <p:sp>
        <p:nvSpPr>
          <p:cNvPr id="12" name="TextBox 11"/>
          <p:cNvSpPr txBox="1"/>
          <p:nvPr/>
        </p:nvSpPr>
        <p:spPr>
          <a:xfrm>
            <a:off x="796971" y="1342375"/>
            <a:ext cx="8686800" cy="4216539"/>
          </a:xfrm>
          <a:prstGeom prst="rect">
            <a:avLst/>
          </a:prstGeom>
          <a:noFill/>
        </p:spPr>
        <p:txBody>
          <a:bodyPr wrap="square">
            <a:spAutoFit/>
          </a:bodyPr>
          <a:lstStyle/>
          <a:p>
            <a:pPr lvl="0"/>
            <a:r>
              <a:rPr lang="en-IN" sz="2400" dirty="0"/>
              <a:t>The rapid growth of UPI has generated a large volume of digital transaction data, making it difficult to identify meaningful patterns through manual examination. Raw transaction records contain information such as transaction type, amount, merchant category, location, status, and fraud indicators, but these details require systematic analysis to become useful insights. By applying data cleaning, exploratory data analysis, and visualization techniques, the project aims to understand transaction behaviour, identify important patterns and trends, and examine characteristics associated with potentially fraudulent transactions</a:t>
            </a:r>
            <a:r>
              <a:rPr lang="en-IN" sz="2800" dirty="0"/>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3">
            <a:extLst>
              <a:ext uri="{FF2B5EF4-FFF2-40B4-BE49-F238E27FC236}">
                <a16:creationId xmlns:a16="http://schemas.microsoft.com/office/drawing/2014/main" id="{2B9EFFBF-7726-ED21-BD6C-4021B49E4438}"/>
              </a:ext>
            </a:extLst>
          </p:cNvPr>
          <p:cNvGrpSpPr/>
          <p:nvPr/>
        </p:nvGrpSpPr>
        <p:grpSpPr>
          <a:xfrm>
            <a:off x="2667000" y="0"/>
            <a:ext cx="5103904" cy="1198311"/>
            <a:chOff x="2648188" y="47148"/>
            <a:chExt cx="5103904" cy="1198311"/>
          </a:xfrm>
        </p:grpSpPr>
        <p:pic>
          <p:nvPicPr>
            <p:cNvPr id="5" name="object 4">
              <a:extLst>
                <a:ext uri="{FF2B5EF4-FFF2-40B4-BE49-F238E27FC236}">
                  <a16:creationId xmlns:a16="http://schemas.microsoft.com/office/drawing/2014/main" id="{5359EAE0-4827-E1C6-F87E-DCB8892B4005}"/>
                </a:ext>
              </a:extLst>
            </p:cNvPr>
            <p:cNvPicPr/>
            <p:nvPr/>
          </p:nvPicPr>
          <p:blipFill>
            <a:blip r:embed="rId2" cstate="print"/>
            <a:stretch>
              <a:fillRect/>
            </a:stretch>
          </p:blipFill>
          <p:spPr>
            <a:xfrm>
              <a:off x="2648188" y="47148"/>
              <a:ext cx="5103904" cy="1198311"/>
            </a:xfrm>
            <a:prstGeom prst="rect">
              <a:avLst/>
            </a:prstGeom>
          </p:spPr>
        </p:pic>
        <p:pic>
          <p:nvPicPr>
            <p:cNvPr id="6" name="object 5">
              <a:extLst>
                <a:ext uri="{FF2B5EF4-FFF2-40B4-BE49-F238E27FC236}">
                  <a16:creationId xmlns:a16="http://schemas.microsoft.com/office/drawing/2014/main" id="{F4EE5AF0-F0A0-481E-EB59-2A06E92AC7E1}"/>
                </a:ext>
              </a:extLst>
            </p:cNvPr>
            <p:cNvPicPr/>
            <p:nvPr/>
          </p:nvPicPr>
          <p:blipFill>
            <a:blip r:embed="rId3" cstate="print"/>
            <a:stretch>
              <a:fillRect/>
            </a:stretch>
          </p:blipFill>
          <p:spPr>
            <a:xfrm>
              <a:off x="2703195" y="86439"/>
              <a:ext cx="4997767" cy="1092279"/>
            </a:xfrm>
            <a:prstGeom prst="rect">
              <a:avLst/>
            </a:prstGeom>
          </p:spPr>
        </p:pic>
        <p:pic>
          <p:nvPicPr>
            <p:cNvPr id="7" name="object 6">
              <a:extLst>
                <a:ext uri="{FF2B5EF4-FFF2-40B4-BE49-F238E27FC236}">
                  <a16:creationId xmlns:a16="http://schemas.microsoft.com/office/drawing/2014/main" id="{5FC53D65-7751-C01A-F243-C971B8A54510}"/>
                </a:ext>
              </a:extLst>
            </p:cNvPr>
            <p:cNvPicPr/>
            <p:nvPr/>
          </p:nvPicPr>
          <p:blipFill>
            <a:blip r:embed="rId4" cstate="print"/>
            <a:stretch>
              <a:fillRect/>
            </a:stretch>
          </p:blipFill>
          <p:spPr>
            <a:xfrm>
              <a:off x="2828925" y="243549"/>
              <a:ext cx="4585268" cy="522565"/>
            </a:xfrm>
            <a:prstGeom prst="rect">
              <a:avLst/>
            </a:prstGeom>
          </p:spPr>
        </p:pic>
        <p:sp>
          <p:nvSpPr>
            <p:cNvPr id="8" name="object 7">
              <a:extLst>
                <a:ext uri="{FF2B5EF4-FFF2-40B4-BE49-F238E27FC236}">
                  <a16:creationId xmlns:a16="http://schemas.microsoft.com/office/drawing/2014/main" id="{92DCFA7B-7796-4FFE-22C4-D8D11B1128AC}"/>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dirty="0"/>
            </a:p>
          </p:txBody>
        </p:sp>
      </p:grpSp>
      <p:pic>
        <p:nvPicPr>
          <p:cNvPr id="17" name="object 3">
            <a:extLst>
              <a:ext uri="{FF2B5EF4-FFF2-40B4-BE49-F238E27FC236}">
                <a16:creationId xmlns:a16="http://schemas.microsoft.com/office/drawing/2014/main" id="{EED75953-77B8-EB79-983F-0DFB76BE35E9}"/>
              </a:ext>
            </a:extLst>
          </p:cNvPr>
          <p:cNvPicPr/>
          <p:nvPr/>
        </p:nvPicPr>
        <p:blipFill>
          <a:blip r:embed="rId5" cstate="print"/>
          <a:stretch>
            <a:fillRect/>
          </a:stretch>
        </p:blipFill>
        <p:spPr>
          <a:xfrm>
            <a:off x="290750" y="204311"/>
            <a:ext cx="1163002" cy="424338"/>
          </a:xfrm>
          <a:prstGeom prst="rect">
            <a:avLst/>
          </a:prstGeom>
        </p:spPr>
      </p:pic>
      <p:sp>
        <p:nvSpPr>
          <p:cNvPr id="18" name="TextBox 17"/>
          <p:cNvSpPr txBox="1"/>
          <p:nvPr/>
        </p:nvSpPr>
        <p:spPr>
          <a:xfrm>
            <a:off x="2468880" y="216336"/>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dirty="0">
                <a:solidFill>
                  <a:schemeClr val="bg1"/>
                </a:solidFill>
                <a:latin typeface="Times New Roman" pitchFamily="18" charset="0"/>
                <a:cs typeface="Times New Roman" pitchFamily="18" charset="0"/>
              </a:rPr>
              <a:t>Introduction</a:t>
            </a:r>
          </a:p>
        </p:txBody>
      </p:sp>
      <p:sp>
        <p:nvSpPr>
          <p:cNvPr id="19" name="TextBox 18"/>
          <p:cNvSpPr txBox="1"/>
          <p:nvPr/>
        </p:nvSpPr>
        <p:spPr>
          <a:xfrm>
            <a:off x="640080" y="1129711"/>
            <a:ext cx="8778240" cy="6124754"/>
          </a:xfrm>
          <a:prstGeom prst="rect">
            <a:avLst/>
          </a:prstGeom>
          <a:noFill/>
        </p:spPr>
        <p:txBody>
          <a:bodyPr wrap="square">
            <a:spAutoFit/>
          </a:bodyPr>
          <a:lstStyle/>
          <a:p>
            <a:pPr lvl="0"/>
            <a:r>
              <a:rPr lang="en-IN" sz="2800" dirty="0">
                <a:latin typeface="Times New Roman" panose="02020603050405020304" pitchFamily="18" charset="0"/>
                <a:cs typeface="Times New Roman" panose="02020603050405020304" pitchFamily="18" charset="0"/>
              </a:rPr>
              <a:t>• </a:t>
            </a:r>
            <a:r>
              <a:rPr lang="en-IN" sz="2800" dirty="0"/>
              <a:t>UPI has become an important digital payment method. </a:t>
            </a:r>
          </a:p>
          <a:p>
            <a:pPr lvl="0"/>
            <a:r>
              <a:rPr lang="en-IN" sz="2800" dirty="0">
                <a:latin typeface="Times New Roman" panose="02020603050405020304" pitchFamily="18" charset="0"/>
                <a:cs typeface="Times New Roman" panose="02020603050405020304" pitchFamily="18" charset="0"/>
              </a:rPr>
              <a:t>• </a:t>
            </a:r>
            <a:r>
              <a:rPr lang="en-IN" sz="2800" dirty="0"/>
              <a:t>Large volumes of transaction data are generated through different transaction types and channels. </a:t>
            </a:r>
          </a:p>
          <a:p>
            <a:pPr lvl="0"/>
            <a:r>
              <a:rPr lang="en-IN" sz="2800" dirty="0">
                <a:latin typeface="Times New Roman" panose="02020603050405020304" pitchFamily="18" charset="0"/>
                <a:cs typeface="Times New Roman" panose="02020603050405020304" pitchFamily="18" charset="0"/>
              </a:rPr>
              <a:t>• </a:t>
            </a:r>
            <a:r>
              <a:rPr lang="en-IN" sz="2800" dirty="0"/>
              <a:t>The dataset contains information about transaction amount, status, merchant category, location, device, network and fraud. </a:t>
            </a:r>
          </a:p>
          <a:p>
            <a:pPr lvl="0"/>
            <a:r>
              <a:rPr lang="en-IN" sz="2800" dirty="0">
                <a:latin typeface="Times New Roman" panose="02020603050405020304" pitchFamily="18" charset="0"/>
                <a:cs typeface="Times New Roman" panose="02020603050405020304" pitchFamily="18" charset="0"/>
              </a:rPr>
              <a:t>• </a:t>
            </a:r>
            <a:r>
              <a:rPr lang="en-IN" sz="2800" dirty="0"/>
              <a:t>Python-based data analysis helps process and interpret this information. </a:t>
            </a:r>
          </a:p>
          <a:p>
            <a:pPr lvl="0"/>
            <a:r>
              <a:rPr lang="en-IN" sz="2800" dirty="0">
                <a:latin typeface="Times New Roman" panose="02020603050405020304" pitchFamily="18" charset="0"/>
                <a:cs typeface="Times New Roman" panose="02020603050405020304" pitchFamily="18" charset="0"/>
              </a:rPr>
              <a:t>• </a:t>
            </a:r>
            <a:r>
              <a:rPr lang="en-IN" sz="2800" dirty="0"/>
              <a:t>Pandas is used for data loading, filtering, grouping and statistical analysis. </a:t>
            </a:r>
          </a:p>
          <a:p>
            <a:pPr lvl="0"/>
            <a:r>
              <a:rPr lang="en-IN" sz="2800" dirty="0">
                <a:latin typeface="Times New Roman" panose="02020603050405020304" pitchFamily="18" charset="0"/>
                <a:cs typeface="Times New Roman" panose="02020603050405020304" pitchFamily="18" charset="0"/>
              </a:rPr>
              <a:t>• </a:t>
            </a:r>
            <a:r>
              <a:rPr lang="en-IN" sz="2800" dirty="0"/>
              <a:t>Matplotlib is used to visualize important transaction patterns.</a:t>
            </a:r>
          </a:p>
          <a:p>
            <a:pPr algn="l">
              <a:spcAft>
                <a:spcPts val="700"/>
              </a:spcAft>
              <a:defRPr sz="1900" b="0">
                <a:solidFill>
                  <a:srgbClr val="2D2D2D"/>
                </a:solidFill>
                <a:latin typeface="Aptos"/>
              </a:defRPr>
            </a:pPr>
            <a:endParaRPr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67892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3">
            <a:extLst>
              <a:ext uri="{FF2B5EF4-FFF2-40B4-BE49-F238E27FC236}">
                <a16:creationId xmlns:a16="http://schemas.microsoft.com/office/drawing/2014/main" id="{2B9EFFBF-7726-ED21-BD6C-4021B49E4438}"/>
              </a:ext>
            </a:extLst>
          </p:cNvPr>
          <p:cNvGrpSpPr/>
          <p:nvPr/>
        </p:nvGrpSpPr>
        <p:grpSpPr>
          <a:xfrm>
            <a:off x="2667000" y="85008"/>
            <a:ext cx="5103904" cy="1198311"/>
            <a:chOff x="2648188" y="47148"/>
            <a:chExt cx="5103904" cy="1198311"/>
          </a:xfrm>
        </p:grpSpPr>
        <p:pic>
          <p:nvPicPr>
            <p:cNvPr id="5" name="object 4">
              <a:extLst>
                <a:ext uri="{FF2B5EF4-FFF2-40B4-BE49-F238E27FC236}">
                  <a16:creationId xmlns:a16="http://schemas.microsoft.com/office/drawing/2014/main" id="{5359EAE0-4827-E1C6-F87E-DCB8892B4005}"/>
                </a:ext>
              </a:extLst>
            </p:cNvPr>
            <p:cNvPicPr/>
            <p:nvPr/>
          </p:nvPicPr>
          <p:blipFill>
            <a:blip r:embed="rId2" cstate="print"/>
            <a:stretch>
              <a:fillRect/>
            </a:stretch>
          </p:blipFill>
          <p:spPr>
            <a:xfrm>
              <a:off x="2648188" y="47148"/>
              <a:ext cx="5103904" cy="1198311"/>
            </a:xfrm>
            <a:prstGeom prst="rect">
              <a:avLst/>
            </a:prstGeom>
          </p:spPr>
        </p:pic>
        <p:pic>
          <p:nvPicPr>
            <p:cNvPr id="6" name="object 5">
              <a:extLst>
                <a:ext uri="{FF2B5EF4-FFF2-40B4-BE49-F238E27FC236}">
                  <a16:creationId xmlns:a16="http://schemas.microsoft.com/office/drawing/2014/main" id="{F4EE5AF0-F0A0-481E-EB59-2A06E92AC7E1}"/>
                </a:ext>
              </a:extLst>
            </p:cNvPr>
            <p:cNvPicPr/>
            <p:nvPr/>
          </p:nvPicPr>
          <p:blipFill>
            <a:blip r:embed="rId3" cstate="print"/>
            <a:stretch>
              <a:fillRect/>
            </a:stretch>
          </p:blipFill>
          <p:spPr>
            <a:xfrm>
              <a:off x="2703195" y="86439"/>
              <a:ext cx="4997767" cy="1092279"/>
            </a:xfrm>
            <a:prstGeom prst="rect">
              <a:avLst/>
            </a:prstGeom>
          </p:spPr>
        </p:pic>
        <p:pic>
          <p:nvPicPr>
            <p:cNvPr id="7" name="object 6">
              <a:extLst>
                <a:ext uri="{FF2B5EF4-FFF2-40B4-BE49-F238E27FC236}">
                  <a16:creationId xmlns:a16="http://schemas.microsoft.com/office/drawing/2014/main" id="{5FC53D65-7751-C01A-F243-C971B8A54510}"/>
                </a:ext>
              </a:extLst>
            </p:cNvPr>
            <p:cNvPicPr/>
            <p:nvPr/>
          </p:nvPicPr>
          <p:blipFill>
            <a:blip r:embed="rId4" cstate="print"/>
            <a:stretch>
              <a:fillRect/>
            </a:stretch>
          </p:blipFill>
          <p:spPr>
            <a:xfrm>
              <a:off x="2828925" y="243549"/>
              <a:ext cx="4585268" cy="522565"/>
            </a:xfrm>
            <a:prstGeom prst="rect">
              <a:avLst/>
            </a:prstGeom>
          </p:spPr>
        </p:pic>
        <p:sp>
          <p:nvSpPr>
            <p:cNvPr id="8" name="object 7">
              <a:extLst>
                <a:ext uri="{FF2B5EF4-FFF2-40B4-BE49-F238E27FC236}">
                  <a16:creationId xmlns:a16="http://schemas.microsoft.com/office/drawing/2014/main" id="{92DCFA7B-7796-4FFE-22C4-D8D11B1128AC}"/>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dirty="0"/>
            </a:p>
          </p:txBody>
        </p:sp>
      </p:grpSp>
      <p:pic>
        <p:nvPicPr>
          <p:cNvPr id="17" name="object 3">
            <a:extLst>
              <a:ext uri="{FF2B5EF4-FFF2-40B4-BE49-F238E27FC236}">
                <a16:creationId xmlns:a16="http://schemas.microsoft.com/office/drawing/2014/main" id="{EED75953-77B8-EB79-983F-0DFB76BE35E9}"/>
              </a:ext>
            </a:extLst>
          </p:cNvPr>
          <p:cNvPicPr/>
          <p:nvPr/>
        </p:nvPicPr>
        <p:blipFill>
          <a:blip r:embed="rId5" cstate="print"/>
          <a:stretch>
            <a:fillRect/>
          </a:stretch>
        </p:blipFill>
        <p:spPr>
          <a:xfrm>
            <a:off x="290750" y="204311"/>
            <a:ext cx="1163002" cy="424338"/>
          </a:xfrm>
          <a:prstGeom prst="rect">
            <a:avLst/>
          </a:prstGeom>
        </p:spPr>
      </p:pic>
      <p:sp>
        <p:nvSpPr>
          <p:cNvPr id="18" name="TextBox 17"/>
          <p:cNvSpPr txBox="1"/>
          <p:nvPr/>
        </p:nvSpPr>
        <p:spPr>
          <a:xfrm>
            <a:off x="2667000" y="304800"/>
            <a:ext cx="5181600" cy="430887"/>
          </a:xfrm>
          <a:prstGeom prst="rect">
            <a:avLst/>
          </a:prstGeom>
          <a:noFill/>
        </p:spPr>
        <p:txBody>
          <a:bodyPr wrap="square">
            <a:spAutoFit/>
          </a:bodyPr>
          <a:lstStyle/>
          <a:p>
            <a:pPr algn="ctr">
              <a:spcAft>
                <a:spcPts val="700"/>
              </a:spcAft>
              <a:defRPr sz="2200" b="1">
                <a:solidFill>
                  <a:srgbClr val="233464"/>
                </a:solidFill>
                <a:latin typeface="Aptos"/>
              </a:defRPr>
            </a:pPr>
            <a:r>
              <a:rPr dirty="0">
                <a:solidFill>
                  <a:schemeClr val="bg1"/>
                </a:solidFill>
                <a:latin typeface="Times New Roman" pitchFamily="18" charset="0"/>
                <a:cs typeface="Times New Roman" pitchFamily="18" charset="0"/>
              </a:rPr>
              <a:t>Current / Manual Approach</a:t>
            </a:r>
          </a:p>
        </p:txBody>
      </p:sp>
      <p:sp>
        <p:nvSpPr>
          <p:cNvPr id="19" name="TextBox 18"/>
          <p:cNvSpPr txBox="1"/>
          <p:nvPr/>
        </p:nvSpPr>
        <p:spPr>
          <a:xfrm>
            <a:off x="640080" y="1752600"/>
            <a:ext cx="8778240" cy="4955203"/>
          </a:xfrm>
          <a:prstGeom prst="rect">
            <a:avLst/>
          </a:prstGeom>
          <a:noFill/>
        </p:spPr>
        <p:txBody>
          <a:bodyPr wrap="square">
            <a:spAutoFit/>
          </a:bodyPr>
          <a:lstStyle/>
          <a:p>
            <a:pPr lvl="0"/>
            <a:r>
              <a:rPr lang="en-IN" sz="2400" dirty="0">
                <a:latin typeface="Times New Roman" panose="02020603050405020304" pitchFamily="18" charset="0"/>
                <a:cs typeface="Times New Roman" panose="02020603050405020304" pitchFamily="18" charset="0"/>
              </a:rPr>
              <a:t>• </a:t>
            </a:r>
            <a:r>
              <a:rPr lang="en-IN" sz="2400" dirty="0"/>
              <a:t>Transaction data is stored in large CSV/database records.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Manual inspection of individual transactions is difficult.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Finding transaction trends manually takes significant time.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Fraudulent transactions can be difficult to identify from raw records.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Comparing transaction categories manually is inefficient.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Raw numerical data is difficult to interpret without visualization</a:t>
            </a:r>
          </a:p>
          <a:p>
            <a:pPr algn="l">
              <a:spcAft>
                <a:spcPts val="700"/>
              </a:spcAft>
              <a:defRPr sz="1900" b="0">
                <a:solidFill>
                  <a:srgbClr val="2D2D2D"/>
                </a:solidFill>
                <a:latin typeface="Aptos"/>
              </a:defRPr>
            </a:pPr>
            <a:endParaRPr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73835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25B97-4948-1D36-1564-48F015098A9E}"/>
            </a:ext>
          </a:extLst>
        </p:cNvPr>
        <p:cNvGrpSpPr/>
        <p:nvPr/>
      </p:nvGrpSpPr>
      <p:grpSpPr>
        <a:xfrm>
          <a:off x="0" y="0"/>
          <a:ext cx="0" cy="0"/>
          <a:chOff x="0" y="0"/>
          <a:chExt cx="0" cy="0"/>
        </a:xfrm>
      </p:grpSpPr>
      <p:pic>
        <p:nvPicPr>
          <p:cNvPr id="17" name="object 3">
            <a:extLst>
              <a:ext uri="{FF2B5EF4-FFF2-40B4-BE49-F238E27FC236}">
                <a16:creationId xmlns:a16="http://schemas.microsoft.com/office/drawing/2014/main" id="{D28B387B-EB3D-FC8A-3A51-DDD2B8696A73}"/>
              </a:ext>
            </a:extLst>
          </p:cNvPr>
          <p:cNvPicPr/>
          <p:nvPr/>
        </p:nvPicPr>
        <p:blipFill>
          <a:blip r:embed="rId2" cstate="print"/>
          <a:stretch>
            <a:fillRect/>
          </a:stretch>
        </p:blipFill>
        <p:spPr>
          <a:xfrm>
            <a:off x="290750" y="204311"/>
            <a:ext cx="1163002" cy="424338"/>
          </a:xfrm>
          <a:prstGeom prst="rect">
            <a:avLst/>
          </a:prstGeom>
        </p:spPr>
      </p:pic>
      <p:grpSp>
        <p:nvGrpSpPr>
          <p:cNvPr id="2" name="object 3">
            <a:extLst>
              <a:ext uri="{FF2B5EF4-FFF2-40B4-BE49-F238E27FC236}">
                <a16:creationId xmlns:a16="http://schemas.microsoft.com/office/drawing/2014/main" id="{5B758792-840A-895D-A2CD-A09955CC1720}"/>
              </a:ext>
            </a:extLst>
          </p:cNvPr>
          <p:cNvGrpSpPr/>
          <p:nvPr/>
        </p:nvGrpSpPr>
        <p:grpSpPr>
          <a:xfrm>
            <a:off x="2743200" y="0"/>
            <a:ext cx="5103904" cy="1198311"/>
            <a:chOff x="2648188" y="47148"/>
            <a:chExt cx="5103904" cy="1198311"/>
          </a:xfrm>
        </p:grpSpPr>
        <p:pic>
          <p:nvPicPr>
            <p:cNvPr id="3" name="object 4">
              <a:extLst>
                <a:ext uri="{FF2B5EF4-FFF2-40B4-BE49-F238E27FC236}">
                  <a16:creationId xmlns:a16="http://schemas.microsoft.com/office/drawing/2014/main" id="{E290B6E4-4C6A-D92F-FFFC-B388B7843517}"/>
                </a:ext>
              </a:extLst>
            </p:cNvPr>
            <p:cNvPicPr/>
            <p:nvPr/>
          </p:nvPicPr>
          <p:blipFill>
            <a:blip r:embed="rId3" cstate="print"/>
            <a:stretch>
              <a:fillRect/>
            </a:stretch>
          </p:blipFill>
          <p:spPr>
            <a:xfrm>
              <a:off x="2648188" y="47148"/>
              <a:ext cx="5103904" cy="1198311"/>
            </a:xfrm>
            <a:prstGeom prst="rect">
              <a:avLst/>
            </a:prstGeom>
          </p:spPr>
        </p:pic>
        <p:pic>
          <p:nvPicPr>
            <p:cNvPr id="4" name="object 5">
              <a:extLst>
                <a:ext uri="{FF2B5EF4-FFF2-40B4-BE49-F238E27FC236}">
                  <a16:creationId xmlns:a16="http://schemas.microsoft.com/office/drawing/2014/main" id="{87F4EE37-279F-308C-F87F-6E638DA19370}"/>
                </a:ext>
              </a:extLst>
            </p:cNvPr>
            <p:cNvPicPr/>
            <p:nvPr/>
          </p:nvPicPr>
          <p:blipFill>
            <a:blip r:embed="rId4" cstate="print"/>
            <a:stretch>
              <a:fillRect/>
            </a:stretch>
          </p:blipFill>
          <p:spPr>
            <a:xfrm>
              <a:off x="2703195" y="86439"/>
              <a:ext cx="4997767" cy="1092279"/>
            </a:xfrm>
            <a:prstGeom prst="rect">
              <a:avLst/>
            </a:prstGeom>
          </p:spPr>
        </p:pic>
        <p:pic>
          <p:nvPicPr>
            <p:cNvPr id="5" name="object 6">
              <a:extLst>
                <a:ext uri="{FF2B5EF4-FFF2-40B4-BE49-F238E27FC236}">
                  <a16:creationId xmlns:a16="http://schemas.microsoft.com/office/drawing/2014/main" id="{8ED23BED-35EB-2EF2-62D6-17D1E3CB0003}"/>
                </a:ext>
              </a:extLst>
            </p:cNvPr>
            <p:cNvPicPr/>
            <p:nvPr/>
          </p:nvPicPr>
          <p:blipFill>
            <a:blip r:embed="rId5" cstate="print"/>
            <a:stretch>
              <a:fillRect/>
            </a:stretch>
          </p:blipFill>
          <p:spPr>
            <a:xfrm>
              <a:off x="2828925" y="243549"/>
              <a:ext cx="4585268" cy="522565"/>
            </a:xfrm>
            <a:prstGeom prst="rect">
              <a:avLst/>
            </a:prstGeom>
          </p:spPr>
        </p:pic>
        <p:sp>
          <p:nvSpPr>
            <p:cNvPr id="6" name="object 7">
              <a:extLst>
                <a:ext uri="{FF2B5EF4-FFF2-40B4-BE49-F238E27FC236}">
                  <a16:creationId xmlns:a16="http://schemas.microsoft.com/office/drawing/2014/main" id="{2F06FBF5-D468-2472-2E09-3659EB0BF5ED}"/>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dirty="0"/>
            </a:p>
          </p:txBody>
        </p:sp>
      </p:grpSp>
      <p:sp>
        <p:nvSpPr>
          <p:cNvPr id="18" name="TextBox 17"/>
          <p:cNvSpPr txBox="1"/>
          <p:nvPr/>
        </p:nvSpPr>
        <p:spPr>
          <a:xfrm>
            <a:off x="2743200" y="256032"/>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dirty="0">
                <a:solidFill>
                  <a:schemeClr val="bg1"/>
                </a:solidFill>
                <a:latin typeface="Times New Roman" pitchFamily="18" charset="0"/>
                <a:cs typeface="Times New Roman" pitchFamily="18" charset="0"/>
              </a:rPr>
              <a:t>Limitations of Manual Analysis</a:t>
            </a:r>
          </a:p>
        </p:txBody>
      </p:sp>
      <p:sp>
        <p:nvSpPr>
          <p:cNvPr id="19" name="TextBox 18"/>
          <p:cNvSpPr txBox="1"/>
          <p:nvPr/>
        </p:nvSpPr>
        <p:spPr>
          <a:xfrm>
            <a:off x="640080" y="1452223"/>
            <a:ext cx="8778240" cy="5693866"/>
          </a:xfrm>
          <a:prstGeom prst="rect">
            <a:avLst/>
          </a:prstGeom>
          <a:noFill/>
        </p:spPr>
        <p:txBody>
          <a:bodyPr wrap="square">
            <a:spAutoFit/>
          </a:bodyPr>
          <a:lstStyle/>
          <a:p>
            <a:pPr lvl="0"/>
            <a:r>
              <a:rPr lang="en-IN" sz="2400" dirty="0">
                <a:latin typeface="Times New Roman" panose="02020603050405020304" pitchFamily="18" charset="0"/>
                <a:cs typeface="Times New Roman" panose="02020603050405020304" pitchFamily="18" charset="0"/>
              </a:rPr>
              <a:t>• </a:t>
            </a:r>
            <a:r>
              <a:rPr lang="en-IN" sz="2400" dirty="0"/>
              <a:t>Time-consuming for large datasets.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Difficult to process 250,000 transactions manually.</a:t>
            </a:r>
          </a:p>
          <a:p>
            <a:pPr lvl="0"/>
            <a:r>
              <a:rPr lang="en-IN" sz="2400" dirty="0"/>
              <a:t> </a:t>
            </a:r>
          </a:p>
          <a:p>
            <a:pPr lvl="0"/>
            <a:r>
              <a:rPr lang="en-IN" sz="2400" dirty="0">
                <a:latin typeface="Times New Roman" panose="02020603050405020304" pitchFamily="18" charset="0"/>
                <a:cs typeface="Times New Roman" panose="02020603050405020304" pitchFamily="18" charset="0"/>
              </a:rPr>
              <a:t>• </a:t>
            </a:r>
            <a:r>
              <a:rPr lang="en-IN" sz="2400" dirty="0"/>
              <a:t>High possibility of human error.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Difficult to identify time-based patterns.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Fraud patterns may remain hidden.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Comparing states, devices, networks and merchant categories is difficult.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Raw data does not provide an easy visual understanding.</a:t>
            </a:r>
          </a:p>
          <a:p>
            <a:pPr algn="l">
              <a:spcAft>
                <a:spcPts val="700"/>
              </a:spcAft>
              <a:defRPr sz="1800" b="0">
                <a:solidFill>
                  <a:srgbClr val="2D2D2D"/>
                </a:solidFill>
                <a:latin typeface="Aptos"/>
              </a:defRPr>
            </a:pPr>
            <a:endParaRPr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263364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object 3">
            <a:extLst>
              <a:ext uri="{FF2B5EF4-FFF2-40B4-BE49-F238E27FC236}">
                <a16:creationId xmlns:a16="http://schemas.microsoft.com/office/drawing/2014/main" id="{EED75953-77B8-EB79-983F-0DFB76BE35E9}"/>
              </a:ext>
            </a:extLst>
          </p:cNvPr>
          <p:cNvPicPr/>
          <p:nvPr/>
        </p:nvPicPr>
        <p:blipFill>
          <a:blip r:embed="rId2" cstate="print"/>
          <a:stretch>
            <a:fillRect/>
          </a:stretch>
        </p:blipFill>
        <p:spPr>
          <a:xfrm>
            <a:off x="290750" y="204311"/>
            <a:ext cx="1163002" cy="424338"/>
          </a:xfrm>
          <a:prstGeom prst="rect">
            <a:avLst/>
          </a:prstGeom>
        </p:spPr>
      </p:pic>
      <p:grpSp>
        <p:nvGrpSpPr>
          <p:cNvPr id="3" name="object 3">
            <a:extLst>
              <a:ext uri="{FF2B5EF4-FFF2-40B4-BE49-F238E27FC236}">
                <a16:creationId xmlns:a16="http://schemas.microsoft.com/office/drawing/2014/main" id="{39A132B5-7282-BB0D-41D0-2D605FAF9D2A}"/>
              </a:ext>
            </a:extLst>
          </p:cNvPr>
          <p:cNvGrpSpPr/>
          <p:nvPr/>
        </p:nvGrpSpPr>
        <p:grpSpPr>
          <a:xfrm>
            <a:off x="2743200" y="204311"/>
            <a:ext cx="4997767" cy="1092279"/>
            <a:chOff x="2703195" y="86439"/>
            <a:chExt cx="4997767" cy="1092279"/>
          </a:xfrm>
        </p:grpSpPr>
        <p:pic>
          <p:nvPicPr>
            <p:cNvPr id="5" name="object 5">
              <a:extLst>
                <a:ext uri="{FF2B5EF4-FFF2-40B4-BE49-F238E27FC236}">
                  <a16:creationId xmlns:a16="http://schemas.microsoft.com/office/drawing/2014/main" id="{19E5F2C6-879E-09C8-70D8-F12E4105BA45}"/>
                </a:ext>
              </a:extLst>
            </p:cNvPr>
            <p:cNvPicPr/>
            <p:nvPr/>
          </p:nvPicPr>
          <p:blipFill>
            <a:blip r:embed="rId3" cstate="print"/>
            <a:stretch>
              <a:fillRect/>
            </a:stretch>
          </p:blipFill>
          <p:spPr>
            <a:xfrm>
              <a:off x="2703195" y="86439"/>
              <a:ext cx="4997767" cy="1092279"/>
            </a:xfrm>
            <a:prstGeom prst="rect">
              <a:avLst/>
            </a:prstGeom>
          </p:spPr>
        </p:pic>
        <p:pic>
          <p:nvPicPr>
            <p:cNvPr id="6" name="object 6">
              <a:extLst>
                <a:ext uri="{FF2B5EF4-FFF2-40B4-BE49-F238E27FC236}">
                  <a16:creationId xmlns:a16="http://schemas.microsoft.com/office/drawing/2014/main" id="{12F6F0F7-7EC3-7119-588E-9CA45688A5E4}"/>
                </a:ext>
              </a:extLst>
            </p:cNvPr>
            <p:cNvPicPr/>
            <p:nvPr/>
          </p:nvPicPr>
          <p:blipFill>
            <a:blip r:embed="rId4" cstate="print"/>
            <a:stretch>
              <a:fillRect/>
            </a:stretch>
          </p:blipFill>
          <p:spPr>
            <a:xfrm>
              <a:off x="2828925" y="243549"/>
              <a:ext cx="4585268" cy="522565"/>
            </a:xfrm>
            <a:prstGeom prst="rect">
              <a:avLst/>
            </a:prstGeom>
          </p:spPr>
        </p:pic>
        <p:sp>
          <p:nvSpPr>
            <p:cNvPr id="7" name="object 7">
              <a:extLst>
                <a:ext uri="{FF2B5EF4-FFF2-40B4-BE49-F238E27FC236}">
                  <a16:creationId xmlns:a16="http://schemas.microsoft.com/office/drawing/2014/main" id="{6FF94120-5DAA-BA86-6F61-CE59BF796C68}"/>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dirty="0"/>
            </a:p>
          </p:txBody>
        </p:sp>
      </p:grpSp>
      <p:sp>
        <p:nvSpPr>
          <p:cNvPr id="18" name="TextBox 17"/>
          <p:cNvSpPr txBox="1"/>
          <p:nvPr/>
        </p:nvSpPr>
        <p:spPr>
          <a:xfrm>
            <a:off x="2743200" y="374808"/>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dirty="0">
                <a:solidFill>
                  <a:schemeClr val="bg1"/>
                </a:solidFill>
                <a:latin typeface="Times New Roman" pitchFamily="18" charset="0"/>
                <a:cs typeface="Times New Roman" pitchFamily="18" charset="0"/>
              </a:rPr>
              <a:t>Proposed Approach</a:t>
            </a:r>
          </a:p>
        </p:txBody>
      </p:sp>
      <p:sp>
        <p:nvSpPr>
          <p:cNvPr id="19" name="TextBox 18"/>
          <p:cNvSpPr txBox="1"/>
          <p:nvPr/>
        </p:nvSpPr>
        <p:spPr>
          <a:xfrm>
            <a:off x="777240" y="1058200"/>
            <a:ext cx="8503920" cy="7171194"/>
          </a:xfrm>
          <a:prstGeom prst="rect">
            <a:avLst/>
          </a:prstGeom>
          <a:noFill/>
        </p:spPr>
        <p:txBody>
          <a:bodyPr wrap="square">
            <a:spAutoFit/>
          </a:bodyPr>
          <a:lstStyle/>
          <a:p>
            <a:pPr lvl="0"/>
            <a:r>
              <a:rPr lang="en-IN" sz="2400" dirty="0">
                <a:latin typeface="Times New Roman" panose="02020603050405020304" pitchFamily="18" charset="0"/>
                <a:cs typeface="Times New Roman" panose="02020603050405020304" pitchFamily="18" charset="0"/>
              </a:rPr>
              <a:t>• </a:t>
            </a:r>
            <a:r>
              <a:rPr lang="en-IN" sz="2400" dirty="0"/>
              <a:t>Load the UPI dataset using Python and Pandas.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Explore the dataset structure and attributes.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Validate missing values and duplicate records.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Filter successful and fraudulent transactions.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Convert timestamp information into useful time attributes.</a:t>
            </a:r>
          </a:p>
          <a:p>
            <a:pPr lvl="0"/>
            <a:r>
              <a:rPr lang="en-IN" sz="2400" dirty="0"/>
              <a:t> </a:t>
            </a:r>
          </a:p>
          <a:p>
            <a:pPr lvl="0"/>
            <a:r>
              <a:rPr lang="en-IN" sz="2400" dirty="0">
                <a:latin typeface="Times New Roman" panose="02020603050405020304" pitchFamily="18" charset="0"/>
                <a:cs typeface="Times New Roman" panose="02020603050405020304" pitchFamily="18" charset="0"/>
              </a:rPr>
              <a:t>• </a:t>
            </a:r>
            <a:r>
              <a:rPr lang="en-IN" sz="2400" dirty="0"/>
              <a:t>Group transactions by important categories.</a:t>
            </a:r>
          </a:p>
          <a:p>
            <a:pPr lvl="0"/>
            <a:r>
              <a:rPr lang="en-IN" sz="2400" dirty="0"/>
              <a:t> </a:t>
            </a:r>
          </a:p>
          <a:p>
            <a:pPr lvl="0"/>
            <a:r>
              <a:rPr lang="en-IN" sz="2400" dirty="0">
                <a:latin typeface="Times New Roman" panose="02020603050405020304" pitchFamily="18" charset="0"/>
                <a:cs typeface="Times New Roman" panose="02020603050405020304" pitchFamily="18" charset="0"/>
              </a:rPr>
              <a:t>• </a:t>
            </a:r>
            <a:r>
              <a:rPr lang="en-IN" sz="2400" dirty="0"/>
              <a:t>Perform statistical and comparative analysis.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Create visualizations using Matplotlib. </a:t>
            </a:r>
          </a:p>
          <a:p>
            <a:pPr lvl="0"/>
            <a:endParaRPr lang="en-IN" sz="2400" dirty="0"/>
          </a:p>
          <a:p>
            <a:pPr lvl="0"/>
            <a:r>
              <a:rPr lang="en-IN" sz="2400" dirty="0">
                <a:latin typeface="Times New Roman" panose="02020603050405020304" pitchFamily="18" charset="0"/>
                <a:cs typeface="Times New Roman" panose="02020603050405020304" pitchFamily="18" charset="0"/>
              </a:rPr>
              <a:t>• </a:t>
            </a:r>
            <a:r>
              <a:rPr lang="en-IN" sz="2400" dirty="0"/>
              <a:t>Interpret patterns and identify characteristics associated with fraud.</a:t>
            </a:r>
          </a:p>
          <a:p>
            <a:pPr algn="l">
              <a:spcAft>
                <a:spcPts val="700"/>
              </a:spcAft>
              <a:defRPr sz="1900" b="0">
                <a:solidFill>
                  <a:srgbClr val="2D2D2D"/>
                </a:solidFill>
                <a:latin typeface="Aptos"/>
              </a:defRPr>
            </a:pPr>
            <a:endParaRPr sz="2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092566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64944C-8816-A98A-BE5A-6A28E3D1316D}"/>
            </a:ext>
          </a:extLst>
        </p:cNvPr>
        <p:cNvGrpSpPr/>
        <p:nvPr/>
      </p:nvGrpSpPr>
      <p:grpSpPr>
        <a:xfrm>
          <a:off x="0" y="0"/>
          <a:ext cx="0" cy="0"/>
          <a:chOff x="0" y="0"/>
          <a:chExt cx="0" cy="0"/>
        </a:xfrm>
      </p:grpSpPr>
      <p:pic>
        <p:nvPicPr>
          <p:cNvPr id="17" name="object 3">
            <a:extLst>
              <a:ext uri="{FF2B5EF4-FFF2-40B4-BE49-F238E27FC236}">
                <a16:creationId xmlns:a16="http://schemas.microsoft.com/office/drawing/2014/main" id="{97977331-EA1C-CA44-869F-6C400FF95B93}"/>
              </a:ext>
            </a:extLst>
          </p:cNvPr>
          <p:cNvPicPr/>
          <p:nvPr/>
        </p:nvPicPr>
        <p:blipFill>
          <a:blip r:embed="rId2" cstate="print"/>
          <a:stretch>
            <a:fillRect/>
          </a:stretch>
        </p:blipFill>
        <p:spPr>
          <a:xfrm>
            <a:off x="290750" y="204311"/>
            <a:ext cx="1163002" cy="424338"/>
          </a:xfrm>
          <a:prstGeom prst="rect">
            <a:avLst/>
          </a:prstGeom>
        </p:spPr>
      </p:pic>
      <p:grpSp>
        <p:nvGrpSpPr>
          <p:cNvPr id="4" name="object 3">
            <a:extLst>
              <a:ext uri="{FF2B5EF4-FFF2-40B4-BE49-F238E27FC236}">
                <a16:creationId xmlns:a16="http://schemas.microsoft.com/office/drawing/2014/main" id="{493C539F-A86A-512C-CDC1-7D279B60EB1C}"/>
              </a:ext>
            </a:extLst>
          </p:cNvPr>
          <p:cNvGrpSpPr/>
          <p:nvPr/>
        </p:nvGrpSpPr>
        <p:grpSpPr>
          <a:xfrm>
            <a:off x="2667000" y="85008"/>
            <a:ext cx="5103904" cy="1198311"/>
            <a:chOff x="2648188" y="47148"/>
            <a:chExt cx="5103904" cy="1198311"/>
          </a:xfrm>
        </p:grpSpPr>
        <p:pic>
          <p:nvPicPr>
            <p:cNvPr id="5" name="object 4">
              <a:extLst>
                <a:ext uri="{FF2B5EF4-FFF2-40B4-BE49-F238E27FC236}">
                  <a16:creationId xmlns:a16="http://schemas.microsoft.com/office/drawing/2014/main" id="{5EF4257B-2B43-17B3-FF4F-1187B669162A}"/>
                </a:ext>
              </a:extLst>
            </p:cNvPr>
            <p:cNvPicPr/>
            <p:nvPr/>
          </p:nvPicPr>
          <p:blipFill>
            <a:blip r:embed="rId3" cstate="print"/>
            <a:stretch>
              <a:fillRect/>
            </a:stretch>
          </p:blipFill>
          <p:spPr>
            <a:xfrm>
              <a:off x="2648188" y="47148"/>
              <a:ext cx="5103904" cy="1198311"/>
            </a:xfrm>
            <a:prstGeom prst="rect">
              <a:avLst/>
            </a:prstGeom>
          </p:spPr>
        </p:pic>
        <p:pic>
          <p:nvPicPr>
            <p:cNvPr id="6" name="object 5">
              <a:extLst>
                <a:ext uri="{FF2B5EF4-FFF2-40B4-BE49-F238E27FC236}">
                  <a16:creationId xmlns:a16="http://schemas.microsoft.com/office/drawing/2014/main" id="{C6F1369C-4970-FF55-E67B-BCF08160A62A}"/>
                </a:ext>
              </a:extLst>
            </p:cNvPr>
            <p:cNvPicPr/>
            <p:nvPr/>
          </p:nvPicPr>
          <p:blipFill>
            <a:blip r:embed="rId4" cstate="print"/>
            <a:stretch>
              <a:fillRect/>
            </a:stretch>
          </p:blipFill>
          <p:spPr>
            <a:xfrm>
              <a:off x="2703195" y="86439"/>
              <a:ext cx="4997767" cy="1092279"/>
            </a:xfrm>
            <a:prstGeom prst="rect">
              <a:avLst/>
            </a:prstGeom>
          </p:spPr>
        </p:pic>
        <p:pic>
          <p:nvPicPr>
            <p:cNvPr id="7" name="object 6">
              <a:extLst>
                <a:ext uri="{FF2B5EF4-FFF2-40B4-BE49-F238E27FC236}">
                  <a16:creationId xmlns:a16="http://schemas.microsoft.com/office/drawing/2014/main" id="{CF69E22F-BC21-03E7-F9F3-42AA69CA9E92}"/>
                </a:ext>
              </a:extLst>
            </p:cNvPr>
            <p:cNvPicPr/>
            <p:nvPr/>
          </p:nvPicPr>
          <p:blipFill>
            <a:blip r:embed="rId5" cstate="print"/>
            <a:stretch>
              <a:fillRect/>
            </a:stretch>
          </p:blipFill>
          <p:spPr>
            <a:xfrm>
              <a:off x="2828925" y="243549"/>
              <a:ext cx="4585268" cy="522565"/>
            </a:xfrm>
            <a:prstGeom prst="rect">
              <a:avLst/>
            </a:prstGeom>
          </p:spPr>
        </p:pic>
        <p:sp>
          <p:nvSpPr>
            <p:cNvPr id="8" name="object 7">
              <a:extLst>
                <a:ext uri="{FF2B5EF4-FFF2-40B4-BE49-F238E27FC236}">
                  <a16:creationId xmlns:a16="http://schemas.microsoft.com/office/drawing/2014/main" id="{470ED999-51AF-0BD8-F3EE-37C965CA5C3F}"/>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dirty="0"/>
            </a:p>
          </p:txBody>
        </p:sp>
      </p:grpSp>
      <p:sp>
        <p:nvSpPr>
          <p:cNvPr id="18" name="TextBox 17"/>
          <p:cNvSpPr txBox="1"/>
          <p:nvPr/>
        </p:nvSpPr>
        <p:spPr>
          <a:xfrm>
            <a:off x="2722007" y="286489"/>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dirty="0">
                <a:solidFill>
                  <a:schemeClr val="bg1"/>
                </a:solidFill>
                <a:latin typeface="Times New Roman" pitchFamily="18" charset="0"/>
                <a:cs typeface="Times New Roman" pitchFamily="18" charset="0"/>
              </a:rPr>
              <a:t>DATASET DESCRIPTION</a:t>
            </a:r>
          </a:p>
        </p:txBody>
      </p:sp>
      <p:sp>
        <p:nvSpPr>
          <p:cNvPr id="19" name="TextBox 18"/>
          <p:cNvSpPr txBox="1"/>
          <p:nvPr/>
        </p:nvSpPr>
        <p:spPr>
          <a:xfrm>
            <a:off x="777240" y="1143000"/>
            <a:ext cx="8046720" cy="461665"/>
          </a:xfrm>
          <a:prstGeom prst="rect">
            <a:avLst/>
          </a:prstGeom>
          <a:noFill/>
        </p:spPr>
        <p:txBody>
          <a:bodyPr wrap="square">
            <a:spAutoFit/>
          </a:bodyPr>
          <a:lstStyle/>
          <a:p>
            <a:pPr algn="ctr">
              <a:spcAft>
                <a:spcPts val="700"/>
              </a:spcAft>
              <a:defRPr sz="1900" b="1">
                <a:solidFill>
                  <a:srgbClr val="233464"/>
                </a:solidFill>
                <a:latin typeface="Aptos"/>
              </a:defRPr>
            </a:pPr>
            <a:r>
              <a:rPr sz="2400" dirty="0">
                <a:latin typeface="Times New Roman" pitchFamily="18" charset="0"/>
                <a:cs typeface="Times New Roman" pitchFamily="18" charset="0"/>
              </a:rPr>
              <a:t>Global Terrorism dataset used for this sample — swap in your own dataset's fields</a:t>
            </a:r>
          </a:p>
        </p:txBody>
      </p:sp>
      <p:graphicFrame>
        <p:nvGraphicFramePr>
          <p:cNvPr id="20" name="Table 19"/>
          <p:cNvGraphicFramePr>
            <a:graphicFrameLocks noGrp="1"/>
          </p:cNvGraphicFramePr>
          <p:nvPr/>
        </p:nvGraphicFramePr>
        <p:xfrm>
          <a:off x="411480" y="1965960"/>
          <a:ext cx="4480560" cy="301752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431074">
                <a:tc>
                  <a:txBody>
                    <a:bodyPr/>
                    <a:lstStyle/>
                    <a:p>
                      <a:pPr>
                        <a:defRPr sz="1100" b="1">
                          <a:solidFill>
                            <a:srgbClr val="FFFFFF"/>
                          </a:solidFill>
                          <a:latin typeface="Times New Roman"/>
                        </a:defRPr>
                      </a:pPr>
                      <a:r>
                        <a:t>Field</a:t>
                      </a:r>
                    </a:p>
                  </a:txBody>
                  <a:tcPr marT="25400" marB="25400">
                    <a:solidFill>
                      <a:srgbClr val="233464"/>
                    </a:solidFill>
                  </a:tcPr>
                </a:tc>
                <a:tc>
                  <a:txBody>
                    <a:bodyPr/>
                    <a:lstStyle/>
                    <a:p>
                      <a:pPr>
                        <a:defRPr sz="1100" b="1">
                          <a:solidFill>
                            <a:srgbClr val="FFFFFF"/>
                          </a:solidFill>
                          <a:latin typeface="Times New Roman"/>
                        </a:defRPr>
                      </a:pPr>
                      <a:r>
                        <a:t>Description</a:t>
                      </a:r>
                    </a:p>
                  </a:txBody>
                  <a:tcPr marT="25400" marB="25400">
                    <a:solidFill>
                      <a:srgbClr val="233464"/>
                    </a:solidFill>
                  </a:tcPr>
                </a:tc>
                <a:extLst>
                  <a:ext uri="{0D108BD9-81ED-4DB2-BD59-A6C34878D82A}">
                    <a16:rowId xmlns:a16="http://schemas.microsoft.com/office/drawing/2014/main" val="10000"/>
                  </a:ext>
                </a:extLst>
              </a:tr>
              <a:tr h="431074">
                <a:tc>
                  <a:txBody>
                    <a:bodyPr/>
                    <a:lstStyle/>
                    <a:p>
                      <a:pPr>
                        <a:defRPr sz="1100">
                          <a:solidFill>
                            <a:srgbClr val="2D2D2D"/>
                          </a:solidFill>
                          <a:latin typeface="Times New Roman"/>
                        </a:defRPr>
                      </a:pPr>
                      <a:r>
                        <a:t>iyear</a:t>
                      </a:r>
                    </a:p>
                  </a:txBody>
                  <a:tcPr marT="25400" marB="25400">
                    <a:solidFill>
                      <a:srgbClr val="FFFFFF"/>
                    </a:solidFill>
                  </a:tcPr>
                </a:tc>
                <a:tc>
                  <a:txBody>
                    <a:bodyPr/>
                    <a:lstStyle/>
                    <a:p>
                      <a:pPr>
                        <a:defRPr sz="1100">
                          <a:solidFill>
                            <a:srgbClr val="2D2D2D"/>
                          </a:solidFill>
                          <a:latin typeface="Times New Roman"/>
                        </a:defRPr>
                      </a:pPr>
                      <a:r>
                        <a:t>Year of the incident</a:t>
                      </a:r>
                    </a:p>
                  </a:txBody>
                  <a:tcPr marT="25400" marB="25400">
                    <a:solidFill>
                      <a:srgbClr val="FFFFFF"/>
                    </a:solidFill>
                  </a:tcPr>
                </a:tc>
                <a:extLst>
                  <a:ext uri="{0D108BD9-81ED-4DB2-BD59-A6C34878D82A}">
                    <a16:rowId xmlns:a16="http://schemas.microsoft.com/office/drawing/2014/main" val="10001"/>
                  </a:ext>
                </a:extLst>
              </a:tr>
              <a:tr h="431074">
                <a:tc>
                  <a:txBody>
                    <a:bodyPr/>
                    <a:lstStyle/>
                    <a:p>
                      <a:pPr>
                        <a:defRPr sz="1100">
                          <a:solidFill>
                            <a:srgbClr val="2D2D2D"/>
                          </a:solidFill>
                          <a:latin typeface="Times New Roman"/>
                        </a:defRPr>
                      </a:pPr>
                      <a:r>
                        <a:t>country_txt</a:t>
                      </a:r>
                    </a:p>
                  </a:txBody>
                  <a:tcPr marT="25400" marB="25400">
                    <a:solidFill>
                      <a:srgbClr val="F4F6FB"/>
                    </a:solidFill>
                  </a:tcPr>
                </a:tc>
                <a:tc>
                  <a:txBody>
                    <a:bodyPr/>
                    <a:lstStyle/>
                    <a:p>
                      <a:pPr>
                        <a:defRPr sz="1100">
                          <a:solidFill>
                            <a:srgbClr val="2D2D2D"/>
                          </a:solidFill>
                          <a:latin typeface="Times New Roman"/>
                        </a:defRPr>
                      </a:pPr>
                      <a:r>
                        <a:t>Country where the attack occurred</a:t>
                      </a:r>
                    </a:p>
                  </a:txBody>
                  <a:tcPr marT="25400" marB="25400">
                    <a:solidFill>
                      <a:srgbClr val="F4F6FB"/>
                    </a:solidFill>
                  </a:tcPr>
                </a:tc>
                <a:extLst>
                  <a:ext uri="{0D108BD9-81ED-4DB2-BD59-A6C34878D82A}">
                    <a16:rowId xmlns:a16="http://schemas.microsoft.com/office/drawing/2014/main" val="10002"/>
                  </a:ext>
                </a:extLst>
              </a:tr>
              <a:tr h="431074">
                <a:tc>
                  <a:txBody>
                    <a:bodyPr/>
                    <a:lstStyle/>
                    <a:p>
                      <a:pPr>
                        <a:defRPr sz="1100">
                          <a:solidFill>
                            <a:srgbClr val="2D2D2D"/>
                          </a:solidFill>
                          <a:latin typeface="Times New Roman"/>
                        </a:defRPr>
                      </a:pPr>
                      <a:r>
                        <a:t>attacktype1_txt</a:t>
                      </a:r>
                    </a:p>
                  </a:txBody>
                  <a:tcPr marT="25400" marB="25400">
                    <a:solidFill>
                      <a:srgbClr val="FFFFFF"/>
                    </a:solidFill>
                  </a:tcPr>
                </a:tc>
                <a:tc>
                  <a:txBody>
                    <a:bodyPr/>
                    <a:lstStyle/>
                    <a:p>
                      <a:pPr>
                        <a:defRPr sz="1100">
                          <a:solidFill>
                            <a:srgbClr val="2D2D2D"/>
                          </a:solidFill>
                          <a:latin typeface="Times New Roman"/>
                        </a:defRPr>
                      </a:pPr>
                      <a:r>
                        <a:t>Type of attack (bombing, assault, ...)</a:t>
                      </a:r>
                    </a:p>
                  </a:txBody>
                  <a:tcPr marT="25400" marB="25400">
                    <a:solidFill>
                      <a:srgbClr val="FFFFFF"/>
                    </a:solidFill>
                  </a:tcPr>
                </a:tc>
                <a:extLst>
                  <a:ext uri="{0D108BD9-81ED-4DB2-BD59-A6C34878D82A}">
                    <a16:rowId xmlns:a16="http://schemas.microsoft.com/office/drawing/2014/main" val="10003"/>
                  </a:ext>
                </a:extLst>
              </a:tr>
              <a:tr h="431074">
                <a:tc>
                  <a:txBody>
                    <a:bodyPr/>
                    <a:lstStyle/>
                    <a:p>
                      <a:pPr>
                        <a:defRPr sz="1100">
                          <a:solidFill>
                            <a:srgbClr val="2D2D2D"/>
                          </a:solidFill>
                          <a:latin typeface="Times New Roman"/>
                        </a:defRPr>
                      </a:pPr>
                      <a:r>
                        <a:t>targtype1_txt</a:t>
                      </a:r>
                    </a:p>
                  </a:txBody>
                  <a:tcPr marT="25400" marB="25400">
                    <a:solidFill>
                      <a:srgbClr val="F4F6FB"/>
                    </a:solidFill>
                  </a:tcPr>
                </a:tc>
                <a:tc>
                  <a:txBody>
                    <a:bodyPr/>
                    <a:lstStyle/>
                    <a:p>
                      <a:pPr>
                        <a:defRPr sz="1100">
                          <a:solidFill>
                            <a:srgbClr val="2D2D2D"/>
                          </a:solidFill>
                          <a:latin typeface="Times New Roman"/>
                        </a:defRPr>
                      </a:pPr>
                      <a:r>
                        <a:t>Type of target (civilian, military, ...)</a:t>
                      </a:r>
                    </a:p>
                  </a:txBody>
                  <a:tcPr marT="25400" marB="25400">
                    <a:solidFill>
                      <a:srgbClr val="F4F6FB"/>
                    </a:solidFill>
                  </a:tcPr>
                </a:tc>
                <a:extLst>
                  <a:ext uri="{0D108BD9-81ED-4DB2-BD59-A6C34878D82A}">
                    <a16:rowId xmlns:a16="http://schemas.microsoft.com/office/drawing/2014/main" val="10004"/>
                  </a:ext>
                </a:extLst>
              </a:tr>
              <a:tr h="431074">
                <a:tc>
                  <a:txBody>
                    <a:bodyPr/>
                    <a:lstStyle/>
                    <a:p>
                      <a:pPr>
                        <a:defRPr sz="1100">
                          <a:solidFill>
                            <a:srgbClr val="2D2D2D"/>
                          </a:solidFill>
                          <a:latin typeface="Times New Roman"/>
                        </a:defRPr>
                      </a:pPr>
                      <a:r>
                        <a:t>gname</a:t>
                      </a:r>
                    </a:p>
                  </a:txBody>
                  <a:tcPr marT="25400" marB="25400">
                    <a:solidFill>
                      <a:srgbClr val="FFFFFF"/>
                    </a:solidFill>
                  </a:tcPr>
                </a:tc>
                <a:tc>
                  <a:txBody>
                    <a:bodyPr/>
                    <a:lstStyle/>
                    <a:p>
                      <a:pPr>
                        <a:defRPr sz="1100">
                          <a:solidFill>
                            <a:srgbClr val="2D2D2D"/>
                          </a:solidFill>
                          <a:latin typeface="Times New Roman"/>
                        </a:defRPr>
                      </a:pPr>
                      <a:r>
                        <a:t>Group responsible for the attack</a:t>
                      </a:r>
                    </a:p>
                  </a:txBody>
                  <a:tcPr marT="25400" marB="25400">
                    <a:solidFill>
                      <a:srgbClr val="FFFFFF"/>
                    </a:solidFill>
                  </a:tcPr>
                </a:tc>
                <a:extLst>
                  <a:ext uri="{0D108BD9-81ED-4DB2-BD59-A6C34878D82A}">
                    <a16:rowId xmlns:a16="http://schemas.microsoft.com/office/drawing/2014/main" val="10005"/>
                  </a:ext>
                </a:extLst>
              </a:tr>
              <a:tr h="431076">
                <a:tc>
                  <a:txBody>
                    <a:bodyPr/>
                    <a:lstStyle/>
                    <a:p>
                      <a:pPr>
                        <a:defRPr sz="1100">
                          <a:solidFill>
                            <a:srgbClr val="2D2D2D"/>
                          </a:solidFill>
                          <a:latin typeface="Times New Roman"/>
                        </a:defRPr>
                      </a:pPr>
                      <a:r>
                        <a:t>nkill / nwound</a:t>
                      </a:r>
                    </a:p>
                  </a:txBody>
                  <a:tcPr marT="25400" marB="25400">
                    <a:solidFill>
                      <a:srgbClr val="F4F6FB"/>
                    </a:solidFill>
                  </a:tcPr>
                </a:tc>
                <a:tc>
                  <a:txBody>
                    <a:bodyPr/>
                    <a:lstStyle/>
                    <a:p>
                      <a:pPr>
                        <a:defRPr sz="1100">
                          <a:solidFill>
                            <a:srgbClr val="2D2D2D"/>
                          </a:solidFill>
                          <a:latin typeface="Times New Roman"/>
                        </a:defRPr>
                      </a:pPr>
                      <a:r>
                        <a:t>Number killed / wounded</a:t>
                      </a:r>
                    </a:p>
                  </a:txBody>
                  <a:tcPr marT="25400" marB="25400">
                    <a:solidFill>
                      <a:srgbClr val="F4F6FB"/>
                    </a:solidFill>
                  </a:tcPr>
                </a:tc>
                <a:extLst>
                  <a:ext uri="{0D108BD9-81ED-4DB2-BD59-A6C34878D82A}">
                    <a16:rowId xmlns:a16="http://schemas.microsoft.com/office/drawing/2014/main" val="10006"/>
                  </a:ext>
                </a:extLst>
              </a:tr>
            </a:tbl>
          </a:graphicData>
        </a:graphic>
      </p:graphicFrame>
      <p:sp>
        <p:nvSpPr>
          <p:cNvPr id="21" name="Rounded Rectangle 20"/>
          <p:cNvSpPr/>
          <p:nvPr/>
        </p:nvSpPr>
        <p:spPr>
          <a:xfrm>
            <a:off x="5074920" y="1965960"/>
            <a:ext cx="4526280" cy="868680"/>
          </a:xfrm>
          <a:prstGeom prst="roundRect">
            <a:avLst>
              <a:gd name="adj" fmla="val 8000"/>
            </a:avLst>
          </a:prstGeom>
          <a:solidFill>
            <a:srgbClr val="F4F6FB"/>
          </a:solidFill>
          <a:ln w="12700">
            <a:solidFill>
              <a:srgbClr val="FF6600"/>
            </a:solidFill>
          </a:ln>
        </p:spPr>
        <p:style>
          <a:lnRef idx="1">
            <a:schemeClr val="accent1"/>
          </a:lnRef>
          <a:fillRef idx="3">
            <a:schemeClr val="accent1"/>
          </a:fillRef>
          <a:effectRef idx="2">
            <a:schemeClr val="accent1"/>
          </a:effectRef>
          <a:fontRef idx="minor">
            <a:schemeClr val="lt1"/>
          </a:fontRef>
        </p:style>
        <p:txBody>
          <a:bodyPr wrap="square" lIns="101600" tIns="50800" rIns="101600" bIns="50800" rtlCol="0" anchor="ctr"/>
          <a:lstStyle/>
          <a:p>
            <a:pPr algn="ctr"/>
            <a:r>
              <a:rPr sz="1300" b="1">
                <a:solidFill>
                  <a:srgbClr val="FF6600"/>
                </a:solidFill>
                <a:latin typeface="Times New Roman"/>
              </a:rPr>
              <a:t>Dataset Snapshot</a:t>
            </a:r>
          </a:p>
          <a:p>
            <a:r>
              <a:rPr sz="1100">
                <a:solidFill>
                  <a:srgbClr val="2D2D2D"/>
                </a:solidFill>
                <a:latin typeface="Times New Roman"/>
              </a:rPr>
              <a:t>~180,000 records  |  135 raw columns (trimmed to key fields)</a:t>
            </a:r>
          </a:p>
        </p:txBody>
      </p:sp>
      <p:sp>
        <p:nvSpPr>
          <p:cNvPr id="22" name="Rounded Rectangle 21"/>
          <p:cNvSpPr/>
          <p:nvPr/>
        </p:nvSpPr>
        <p:spPr>
          <a:xfrm>
            <a:off x="5074920" y="2971800"/>
            <a:ext cx="4526280" cy="868680"/>
          </a:xfrm>
          <a:prstGeom prst="roundRect">
            <a:avLst>
              <a:gd name="adj" fmla="val 8000"/>
            </a:avLst>
          </a:prstGeom>
          <a:solidFill>
            <a:srgbClr val="F4F6FB"/>
          </a:solidFill>
          <a:ln w="12700">
            <a:solidFill>
              <a:srgbClr val="FF6600"/>
            </a:solidFill>
          </a:ln>
        </p:spPr>
        <p:style>
          <a:lnRef idx="1">
            <a:schemeClr val="accent1"/>
          </a:lnRef>
          <a:fillRef idx="3">
            <a:schemeClr val="accent1"/>
          </a:fillRef>
          <a:effectRef idx="2">
            <a:schemeClr val="accent1"/>
          </a:effectRef>
          <a:fontRef idx="minor">
            <a:schemeClr val="lt1"/>
          </a:fontRef>
        </p:style>
        <p:txBody>
          <a:bodyPr wrap="square" lIns="101600" tIns="50800" rIns="101600" bIns="50800" rtlCol="0" anchor="ctr"/>
          <a:lstStyle/>
          <a:p>
            <a:pPr algn="ctr"/>
            <a:r>
              <a:rPr sz="1300" b="1">
                <a:solidFill>
                  <a:srgbClr val="FF6600"/>
                </a:solidFill>
                <a:latin typeface="Times New Roman"/>
              </a:rPr>
              <a:t>Data Quality Checks</a:t>
            </a:r>
          </a:p>
          <a:p>
            <a:r>
              <a:rPr sz="1100">
                <a:solidFill>
                  <a:srgbClr val="2D2D2D"/>
                </a:solidFill>
                <a:latin typeface="Times New Roman"/>
              </a:rPr>
              <a:t>Missing values handled • Duplicates removed • Categories standardized</a:t>
            </a:r>
          </a:p>
        </p:txBody>
      </p:sp>
      <p:sp>
        <p:nvSpPr>
          <p:cNvPr id="23" name="Rounded Rectangle 22"/>
          <p:cNvSpPr/>
          <p:nvPr/>
        </p:nvSpPr>
        <p:spPr>
          <a:xfrm>
            <a:off x="5074920" y="3977639"/>
            <a:ext cx="4526280" cy="868680"/>
          </a:xfrm>
          <a:prstGeom prst="roundRect">
            <a:avLst>
              <a:gd name="adj" fmla="val 8000"/>
            </a:avLst>
          </a:prstGeom>
          <a:solidFill>
            <a:srgbClr val="F4F6FB"/>
          </a:solidFill>
          <a:ln w="12700">
            <a:solidFill>
              <a:srgbClr val="FF6600"/>
            </a:solidFill>
          </a:ln>
        </p:spPr>
        <p:style>
          <a:lnRef idx="1">
            <a:schemeClr val="accent1"/>
          </a:lnRef>
          <a:fillRef idx="3">
            <a:schemeClr val="accent1"/>
          </a:fillRef>
          <a:effectRef idx="2">
            <a:schemeClr val="accent1"/>
          </a:effectRef>
          <a:fontRef idx="minor">
            <a:schemeClr val="lt1"/>
          </a:fontRef>
        </p:style>
        <p:txBody>
          <a:bodyPr wrap="square" lIns="101600" tIns="50800" rIns="101600" bIns="50800" rtlCol="0" anchor="ctr"/>
          <a:lstStyle/>
          <a:p>
            <a:pPr algn="ctr"/>
            <a:r>
              <a:rPr sz="1300" b="1">
                <a:solidFill>
                  <a:srgbClr val="FF6600"/>
                </a:solidFill>
                <a:latin typeface="Times New Roman"/>
              </a:rPr>
              <a:t>Tools &amp; Libraries</a:t>
            </a:r>
          </a:p>
          <a:p>
            <a:r>
              <a:rPr sz="1100">
                <a:solidFill>
                  <a:srgbClr val="2D2D2D"/>
                </a:solidFill>
                <a:latin typeface="Times New Roman"/>
              </a:rPr>
              <a:t>Python • Pandas • NumPy • Matplotlib • Seaborn</a:t>
            </a:r>
          </a:p>
        </p:txBody>
      </p:sp>
      <p:sp>
        <p:nvSpPr>
          <p:cNvPr id="24" name="TextBox 23"/>
          <p:cNvSpPr txBox="1"/>
          <p:nvPr/>
        </p:nvSpPr>
        <p:spPr>
          <a:xfrm>
            <a:off x="411480" y="5120640"/>
            <a:ext cx="9144000" cy="457200"/>
          </a:xfrm>
          <a:prstGeom prst="rect">
            <a:avLst/>
          </a:prstGeom>
          <a:noFill/>
        </p:spPr>
        <p:txBody>
          <a:bodyPr wrap="square">
            <a:spAutoFit/>
          </a:bodyPr>
          <a:lstStyle/>
          <a:p>
            <a:r>
              <a:rPr sz="1200" i="1">
                <a:solidFill>
                  <a:srgbClr val="808080"/>
                </a:solidFill>
                <a:latin typeface="Times New Roman"/>
              </a:rPr>
              <a:t>Replace this table and the boxes above with your own dataset's fields, size, and checks.</a:t>
            </a:r>
          </a:p>
        </p:txBody>
      </p:sp>
      <p:pic>
        <p:nvPicPr>
          <p:cNvPr id="10" name="Picture 9">
            <a:extLst>
              <a:ext uri="{FF2B5EF4-FFF2-40B4-BE49-F238E27FC236}">
                <a16:creationId xmlns:a16="http://schemas.microsoft.com/office/drawing/2014/main" id="{2AFBC2B6-4D0C-70A6-E90D-53EEA154E0D7}"/>
              </a:ext>
            </a:extLst>
          </p:cNvPr>
          <p:cNvPicPr>
            <a:picLocks noChangeAspect="1"/>
          </p:cNvPicPr>
          <p:nvPr/>
        </p:nvPicPr>
        <p:blipFill>
          <a:blip r:embed="rId6"/>
          <a:stretch>
            <a:fillRect/>
          </a:stretch>
        </p:blipFill>
        <p:spPr>
          <a:xfrm>
            <a:off x="13045" y="0"/>
            <a:ext cx="10032310" cy="7772400"/>
          </a:xfrm>
          <a:prstGeom prst="rect">
            <a:avLst/>
          </a:prstGeom>
        </p:spPr>
      </p:pic>
      <p:pic>
        <p:nvPicPr>
          <p:cNvPr id="12" name="object 3">
            <a:extLst>
              <a:ext uri="{FF2B5EF4-FFF2-40B4-BE49-F238E27FC236}">
                <a16:creationId xmlns:a16="http://schemas.microsoft.com/office/drawing/2014/main" id="{2E607AEC-FD80-C6BA-8933-5CC428FFBD88}"/>
              </a:ext>
            </a:extLst>
          </p:cNvPr>
          <p:cNvPicPr/>
          <p:nvPr/>
        </p:nvPicPr>
        <p:blipFill>
          <a:blip r:embed="rId2" cstate="print"/>
          <a:stretch>
            <a:fillRect/>
          </a:stretch>
        </p:blipFill>
        <p:spPr>
          <a:xfrm>
            <a:off x="290750" y="80561"/>
            <a:ext cx="1614250" cy="656750"/>
          </a:xfrm>
          <a:prstGeom prst="rect">
            <a:avLst/>
          </a:prstGeom>
        </p:spPr>
      </p:pic>
      <p:pic>
        <p:nvPicPr>
          <p:cNvPr id="14" name="Picture 13">
            <a:extLst>
              <a:ext uri="{FF2B5EF4-FFF2-40B4-BE49-F238E27FC236}">
                <a16:creationId xmlns:a16="http://schemas.microsoft.com/office/drawing/2014/main" id="{493F557D-A377-E35B-A780-A68940F27BEC}"/>
              </a:ext>
            </a:extLst>
          </p:cNvPr>
          <p:cNvPicPr>
            <a:picLocks noChangeAspect="1"/>
          </p:cNvPicPr>
          <p:nvPr/>
        </p:nvPicPr>
        <p:blipFill>
          <a:blip r:embed="rId7"/>
          <a:stretch>
            <a:fillRect/>
          </a:stretch>
        </p:blipFill>
        <p:spPr>
          <a:xfrm>
            <a:off x="0" y="0"/>
            <a:ext cx="10058400" cy="7772400"/>
          </a:xfrm>
          <a:prstGeom prst="rect">
            <a:avLst/>
          </a:prstGeom>
        </p:spPr>
      </p:pic>
      <p:pic>
        <p:nvPicPr>
          <p:cNvPr id="16" name="object 3">
            <a:extLst>
              <a:ext uri="{FF2B5EF4-FFF2-40B4-BE49-F238E27FC236}">
                <a16:creationId xmlns:a16="http://schemas.microsoft.com/office/drawing/2014/main" id="{9246B437-BFAB-0FEE-E82B-3EA386520562}"/>
              </a:ext>
            </a:extLst>
          </p:cNvPr>
          <p:cNvPicPr/>
          <p:nvPr/>
        </p:nvPicPr>
        <p:blipFill>
          <a:blip r:embed="rId2" cstate="print"/>
          <a:stretch>
            <a:fillRect/>
          </a:stretch>
        </p:blipFill>
        <p:spPr>
          <a:xfrm>
            <a:off x="76200" y="143697"/>
            <a:ext cx="1983105" cy="1012267"/>
          </a:xfrm>
          <a:prstGeom prst="rect">
            <a:avLst/>
          </a:prstGeom>
        </p:spPr>
      </p:pic>
    </p:spTree>
    <p:extLst>
      <p:ext uri="{BB962C8B-B14F-4D97-AF65-F5344CB8AC3E}">
        <p14:creationId xmlns:p14="http://schemas.microsoft.com/office/powerpoint/2010/main" val="35103787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3">
            <a:extLst>
              <a:ext uri="{FF2B5EF4-FFF2-40B4-BE49-F238E27FC236}">
                <a16:creationId xmlns:a16="http://schemas.microsoft.com/office/drawing/2014/main" id="{2B9EFFBF-7726-ED21-BD6C-4021B49E4438}"/>
              </a:ext>
            </a:extLst>
          </p:cNvPr>
          <p:cNvGrpSpPr/>
          <p:nvPr/>
        </p:nvGrpSpPr>
        <p:grpSpPr>
          <a:xfrm>
            <a:off x="2819400" y="52623"/>
            <a:ext cx="5103904" cy="1198311"/>
            <a:chOff x="2648188" y="47148"/>
            <a:chExt cx="5103904" cy="1198311"/>
          </a:xfrm>
        </p:grpSpPr>
        <p:pic>
          <p:nvPicPr>
            <p:cNvPr id="5" name="object 4">
              <a:extLst>
                <a:ext uri="{FF2B5EF4-FFF2-40B4-BE49-F238E27FC236}">
                  <a16:creationId xmlns:a16="http://schemas.microsoft.com/office/drawing/2014/main" id="{5359EAE0-4827-E1C6-F87E-DCB8892B4005}"/>
                </a:ext>
              </a:extLst>
            </p:cNvPr>
            <p:cNvPicPr/>
            <p:nvPr/>
          </p:nvPicPr>
          <p:blipFill>
            <a:blip r:embed="rId2" cstate="print"/>
            <a:stretch>
              <a:fillRect/>
            </a:stretch>
          </p:blipFill>
          <p:spPr>
            <a:xfrm>
              <a:off x="2648188" y="47148"/>
              <a:ext cx="5103904" cy="1198311"/>
            </a:xfrm>
            <a:prstGeom prst="rect">
              <a:avLst/>
            </a:prstGeom>
          </p:spPr>
        </p:pic>
        <p:pic>
          <p:nvPicPr>
            <p:cNvPr id="6" name="object 5">
              <a:extLst>
                <a:ext uri="{FF2B5EF4-FFF2-40B4-BE49-F238E27FC236}">
                  <a16:creationId xmlns:a16="http://schemas.microsoft.com/office/drawing/2014/main" id="{F4EE5AF0-F0A0-481E-EB59-2A06E92AC7E1}"/>
                </a:ext>
              </a:extLst>
            </p:cNvPr>
            <p:cNvPicPr/>
            <p:nvPr/>
          </p:nvPicPr>
          <p:blipFill>
            <a:blip r:embed="rId3" cstate="print"/>
            <a:stretch>
              <a:fillRect/>
            </a:stretch>
          </p:blipFill>
          <p:spPr>
            <a:xfrm>
              <a:off x="2703195" y="86439"/>
              <a:ext cx="4997767" cy="1092279"/>
            </a:xfrm>
            <a:prstGeom prst="rect">
              <a:avLst/>
            </a:prstGeom>
          </p:spPr>
        </p:pic>
        <p:pic>
          <p:nvPicPr>
            <p:cNvPr id="7" name="object 6">
              <a:extLst>
                <a:ext uri="{FF2B5EF4-FFF2-40B4-BE49-F238E27FC236}">
                  <a16:creationId xmlns:a16="http://schemas.microsoft.com/office/drawing/2014/main" id="{5FC53D65-7751-C01A-F243-C971B8A54510}"/>
                </a:ext>
              </a:extLst>
            </p:cNvPr>
            <p:cNvPicPr/>
            <p:nvPr/>
          </p:nvPicPr>
          <p:blipFill>
            <a:blip r:embed="rId4" cstate="print"/>
            <a:stretch>
              <a:fillRect/>
            </a:stretch>
          </p:blipFill>
          <p:spPr>
            <a:xfrm>
              <a:off x="2828925" y="243549"/>
              <a:ext cx="4585268" cy="522565"/>
            </a:xfrm>
            <a:prstGeom prst="rect">
              <a:avLst/>
            </a:prstGeom>
          </p:spPr>
        </p:pic>
        <p:sp>
          <p:nvSpPr>
            <p:cNvPr id="8" name="object 7">
              <a:extLst>
                <a:ext uri="{FF2B5EF4-FFF2-40B4-BE49-F238E27FC236}">
                  <a16:creationId xmlns:a16="http://schemas.microsoft.com/office/drawing/2014/main" id="{92DCFA7B-7796-4FFE-22C4-D8D11B1128AC}"/>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dirty="0"/>
            </a:p>
          </p:txBody>
        </p:sp>
      </p:grpSp>
      <p:pic>
        <p:nvPicPr>
          <p:cNvPr id="17" name="object 3">
            <a:extLst>
              <a:ext uri="{FF2B5EF4-FFF2-40B4-BE49-F238E27FC236}">
                <a16:creationId xmlns:a16="http://schemas.microsoft.com/office/drawing/2014/main" id="{EED75953-77B8-EB79-983F-0DFB76BE35E9}"/>
              </a:ext>
            </a:extLst>
          </p:cNvPr>
          <p:cNvPicPr/>
          <p:nvPr/>
        </p:nvPicPr>
        <p:blipFill>
          <a:blip r:embed="rId5" cstate="print"/>
          <a:stretch>
            <a:fillRect/>
          </a:stretch>
        </p:blipFill>
        <p:spPr>
          <a:xfrm>
            <a:off x="290750" y="204311"/>
            <a:ext cx="1163002" cy="424338"/>
          </a:xfrm>
          <a:prstGeom prst="rect">
            <a:avLst/>
          </a:prstGeom>
        </p:spPr>
      </p:pic>
      <p:sp>
        <p:nvSpPr>
          <p:cNvPr id="18" name="TextBox 17"/>
          <p:cNvSpPr txBox="1"/>
          <p:nvPr/>
        </p:nvSpPr>
        <p:spPr>
          <a:xfrm>
            <a:off x="2743200" y="256032"/>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dirty="0">
                <a:solidFill>
                  <a:schemeClr val="bg1"/>
                </a:solidFill>
                <a:latin typeface="Times New Roman" pitchFamily="18" charset="0"/>
                <a:cs typeface="Times New Roman" pitchFamily="18" charset="0"/>
              </a:rPr>
              <a:t>REQUIREMENTS</a:t>
            </a:r>
          </a:p>
        </p:txBody>
      </p:sp>
      <p:sp>
        <p:nvSpPr>
          <p:cNvPr id="19" name="TextBox 18"/>
          <p:cNvSpPr txBox="1"/>
          <p:nvPr/>
        </p:nvSpPr>
        <p:spPr>
          <a:xfrm>
            <a:off x="731520" y="1234440"/>
            <a:ext cx="3840480" cy="461665"/>
          </a:xfrm>
          <a:prstGeom prst="rect">
            <a:avLst/>
          </a:prstGeom>
          <a:noFill/>
        </p:spPr>
        <p:txBody>
          <a:bodyPr wrap="square">
            <a:spAutoFit/>
          </a:bodyPr>
          <a:lstStyle/>
          <a:p>
            <a:pPr algn="l">
              <a:spcAft>
                <a:spcPts val="700"/>
              </a:spcAft>
              <a:defRPr sz="2000" b="1">
                <a:solidFill>
                  <a:srgbClr val="233464"/>
                </a:solidFill>
                <a:latin typeface="Aptos"/>
              </a:defRPr>
            </a:pPr>
            <a:r>
              <a:rPr sz="2400" dirty="0">
                <a:latin typeface="Times New Roman" pitchFamily="18" charset="0"/>
                <a:cs typeface="Times New Roman" pitchFamily="18" charset="0"/>
              </a:rPr>
              <a:t>Hardware Requirements</a:t>
            </a:r>
          </a:p>
        </p:txBody>
      </p:sp>
      <p:sp>
        <p:nvSpPr>
          <p:cNvPr id="20" name="TextBox 19"/>
          <p:cNvSpPr txBox="1"/>
          <p:nvPr/>
        </p:nvSpPr>
        <p:spPr>
          <a:xfrm>
            <a:off x="822960" y="1737360"/>
            <a:ext cx="3840480" cy="1379865"/>
          </a:xfrm>
          <a:prstGeom prst="rect">
            <a:avLst/>
          </a:prstGeom>
          <a:noFill/>
        </p:spPr>
        <p:txBody>
          <a:bodyPr wrap="square">
            <a:spAutoFit/>
          </a:bodyPr>
          <a:lstStyle/>
          <a:p>
            <a:pPr algn="l">
              <a:spcAft>
                <a:spcPts val="700"/>
              </a:spcAft>
              <a:defRPr sz="1800" b="0">
                <a:solidFill>
                  <a:srgbClr val="2D2D2D"/>
                </a:solidFill>
                <a:latin typeface="Aptos"/>
              </a:defRPr>
            </a:pPr>
            <a:r>
              <a:rPr sz="2400" dirty="0">
                <a:latin typeface="Times New Roman" panose="02020603050405020304" pitchFamily="18" charset="0"/>
                <a:cs typeface="Times New Roman" panose="02020603050405020304" pitchFamily="18" charset="0"/>
              </a:rPr>
              <a:t>• Processor: Intel i3 or above</a:t>
            </a:r>
          </a:p>
          <a:p>
            <a:pPr algn="l">
              <a:spcAft>
                <a:spcPts val="700"/>
              </a:spcAft>
              <a:defRPr sz="1800" b="0">
                <a:solidFill>
                  <a:srgbClr val="2D2D2D"/>
                </a:solidFill>
                <a:latin typeface="Aptos"/>
              </a:defRPr>
            </a:pPr>
            <a:r>
              <a:rPr sz="2400" dirty="0">
                <a:latin typeface="Times New Roman" panose="02020603050405020304" pitchFamily="18" charset="0"/>
                <a:cs typeface="Times New Roman" panose="02020603050405020304" pitchFamily="18" charset="0"/>
              </a:rPr>
              <a:t>• RAM: Minimum 4 GB</a:t>
            </a:r>
          </a:p>
          <a:p>
            <a:pPr algn="l">
              <a:spcAft>
                <a:spcPts val="700"/>
              </a:spcAft>
              <a:defRPr sz="1800" b="0">
                <a:solidFill>
                  <a:srgbClr val="2D2D2D"/>
                </a:solidFill>
                <a:latin typeface="Aptos"/>
              </a:defRPr>
            </a:pPr>
            <a:r>
              <a:rPr sz="2400" dirty="0">
                <a:latin typeface="Times New Roman" panose="02020603050405020304" pitchFamily="18" charset="0"/>
                <a:cs typeface="Times New Roman" panose="02020603050405020304" pitchFamily="18" charset="0"/>
              </a:rPr>
              <a:t>• Storage: 20 GB</a:t>
            </a:r>
          </a:p>
        </p:txBody>
      </p:sp>
      <p:sp>
        <p:nvSpPr>
          <p:cNvPr id="21" name="TextBox 20"/>
          <p:cNvSpPr txBox="1"/>
          <p:nvPr/>
        </p:nvSpPr>
        <p:spPr>
          <a:xfrm>
            <a:off x="609600" y="3676972"/>
            <a:ext cx="3840480" cy="461665"/>
          </a:xfrm>
          <a:prstGeom prst="rect">
            <a:avLst/>
          </a:prstGeom>
          <a:noFill/>
        </p:spPr>
        <p:txBody>
          <a:bodyPr wrap="square">
            <a:spAutoFit/>
          </a:bodyPr>
          <a:lstStyle/>
          <a:p>
            <a:pPr algn="l">
              <a:spcAft>
                <a:spcPts val="700"/>
              </a:spcAft>
              <a:defRPr sz="2000" b="1">
                <a:solidFill>
                  <a:srgbClr val="233464"/>
                </a:solidFill>
                <a:latin typeface="Aptos"/>
              </a:defRPr>
            </a:pPr>
            <a:r>
              <a:rPr lang="en-IN" sz="2400" dirty="0">
                <a:latin typeface="Times New Roman" pitchFamily="18" charset="0"/>
                <a:cs typeface="Times New Roman" pitchFamily="18" charset="0"/>
              </a:rPr>
              <a:t>Software Requirements</a:t>
            </a:r>
            <a:endParaRPr sz="2400" dirty="0">
              <a:latin typeface="Times New Roman" pitchFamily="18" charset="0"/>
              <a:cs typeface="Times New Roman" pitchFamily="18" charset="0"/>
            </a:endParaRPr>
          </a:p>
        </p:txBody>
      </p:sp>
      <p:sp>
        <p:nvSpPr>
          <p:cNvPr id="22" name="TextBox 21"/>
          <p:cNvSpPr txBox="1"/>
          <p:nvPr/>
        </p:nvSpPr>
        <p:spPr>
          <a:xfrm>
            <a:off x="639207" y="4319577"/>
            <a:ext cx="4023360" cy="2757165"/>
          </a:xfrm>
          <a:prstGeom prst="rect">
            <a:avLst/>
          </a:prstGeom>
          <a:noFill/>
        </p:spPr>
        <p:txBody>
          <a:bodyPr wrap="square">
            <a:spAutoFit/>
          </a:bodyPr>
          <a:lstStyle/>
          <a:p>
            <a:pPr algn="l">
              <a:spcAft>
                <a:spcPts val="700"/>
              </a:spcAft>
              <a:defRPr sz="1800" b="0">
                <a:solidFill>
                  <a:srgbClr val="2D2D2D"/>
                </a:solidFill>
                <a:latin typeface="Aptos"/>
              </a:defRPr>
            </a:pPr>
            <a:r>
              <a:rPr sz="2400" dirty="0">
                <a:latin typeface="Times New Roman" panose="02020603050405020304" pitchFamily="18" charset="0"/>
                <a:cs typeface="Times New Roman" panose="02020603050405020304" pitchFamily="18" charset="0"/>
              </a:rPr>
              <a:t>• Windows</a:t>
            </a:r>
          </a:p>
          <a:p>
            <a:pPr algn="l">
              <a:spcAft>
                <a:spcPts val="700"/>
              </a:spcAft>
              <a:defRPr sz="1800" b="0">
                <a:solidFill>
                  <a:srgbClr val="2D2D2D"/>
                </a:solidFill>
                <a:latin typeface="Aptos"/>
              </a:defRPr>
            </a:pPr>
            <a:r>
              <a:rPr sz="2400" dirty="0">
                <a:latin typeface="Times New Roman" panose="02020603050405020304" pitchFamily="18" charset="0"/>
                <a:cs typeface="Times New Roman" panose="02020603050405020304" pitchFamily="18" charset="0"/>
              </a:rPr>
              <a:t>• Python</a:t>
            </a:r>
          </a:p>
          <a:p>
            <a:pPr algn="l">
              <a:spcAft>
                <a:spcPts val="700"/>
              </a:spcAft>
              <a:defRPr sz="1800" b="0">
                <a:solidFill>
                  <a:srgbClr val="2D2D2D"/>
                </a:solidFill>
                <a:latin typeface="Aptos"/>
              </a:defRPr>
            </a:pPr>
            <a:r>
              <a:rPr sz="2400" dirty="0">
                <a:latin typeface="Times New Roman" panose="02020603050405020304" pitchFamily="18" charset="0"/>
                <a:cs typeface="Times New Roman" panose="02020603050405020304" pitchFamily="18" charset="0"/>
              </a:rPr>
              <a:t>• Google Colab</a:t>
            </a:r>
          </a:p>
          <a:p>
            <a:pPr algn="l">
              <a:spcAft>
                <a:spcPts val="700"/>
              </a:spcAft>
              <a:defRPr sz="1800" b="0">
                <a:solidFill>
                  <a:srgbClr val="2D2D2D"/>
                </a:solidFill>
                <a:latin typeface="Aptos"/>
              </a:defRPr>
            </a:pPr>
            <a:r>
              <a:rPr sz="2400" dirty="0">
                <a:latin typeface="Times New Roman" panose="02020603050405020304" pitchFamily="18" charset="0"/>
                <a:cs typeface="Times New Roman" panose="02020603050405020304" pitchFamily="18" charset="0"/>
              </a:rPr>
              <a:t>• Pandas</a:t>
            </a:r>
          </a:p>
          <a:p>
            <a:pPr algn="l">
              <a:spcAft>
                <a:spcPts val="700"/>
              </a:spcAft>
              <a:defRPr sz="1800" b="0">
                <a:solidFill>
                  <a:srgbClr val="2D2D2D"/>
                </a:solidFill>
                <a:latin typeface="Aptos"/>
              </a:defRPr>
            </a:pPr>
            <a:r>
              <a:rPr sz="2400" dirty="0">
                <a:latin typeface="Times New Roman" panose="02020603050405020304" pitchFamily="18" charset="0"/>
                <a:cs typeface="Times New Roman" panose="02020603050405020304" pitchFamily="18" charset="0"/>
              </a:rPr>
              <a:t>• NumPy</a:t>
            </a:r>
          </a:p>
          <a:p>
            <a:pPr algn="l">
              <a:spcAft>
                <a:spcPts val="700"/>
              </a:spcAft>
              <a:defRPr sz="1800" b="0">
                <a:solidFill>
                  <a:srgbClr val="2D2D2D"/>
                </a:solidFill>
                <a:latin typeface="Aptos"/>
              </a:defRPr>
            </a:pPr>
            <a:r>
              <a:rPr sz="2400" dirty="0">
                <a:latin typeface="Times New Roman" panose="02020603050405020304" pitchFamily="18" charset="0"/>
                <a:cs typeface="Times New Roman" panose="02020603050405020304" pitchFamily="18" charset="0"/>
              </a:rPr>
              <a:t>• Matplotlib / Seaborn</a:t>
            </a:r>
          </a:p>
        </p:txBody>
      </p:sp>
      <p:pic>
        <p:nvPicPr>
          <p:cNvPr id="3" name="Picture 2">
            <a:extLst>
              <a:ext uri="{FF2B5EF4-FFF2-40B4-BE49-F238E27FC236}">
                <a16:creationId xmlns:a16="http://schemas.microsoft.com/office/drawing/2014/main" id="{684DDB2F-1BCC-113F-E5B8-E5529A1848F2}"/>
              </a:ext>
            </a:extLst>
          </p:cNvPr>
          <p:cNvPicPr>
            <a:picLocks noChangeAspect="1"/>
          </p:cNvPicPr>
          <p:nvPr/>
        </p:nvPicPr>
        <p:blipFill>
          <a:blip r:embed="rId6"/>
          <a:stretch>
            <a:fillRect/>
          </a:stretch>
        </p:blipFill>
        <p:spPr>
          <a:xfrm>
            <a:off x="0" y="0"/>
            <a:ext cx="10058400" cy="7772400"/>
          </a:xfrm>
          <a:prstGeom prst="rect">
            <a:avLst/>
          </a:prstGeom>
        </p:spPr>
      </p:pic>
      <p:pic>
        <p:nvPicPr>
          <p:cNvPr id="10" name="object 3">
            <a:extLst>
              <a:ext uri="{FF2B5EF4-FFF2-40B4-BE49-F238E27FC236}">
                <a16:creationId xmlns:a16="http://schemas.microsoft.com/office/drawing/2014/main" id="{B4E55FDE-878B-EFF3-158D-43E7785FD1E0}"/>
              </a:ext>
            </a:extLst>
          </p:cNvPr>
          <p:cNvPicPr/>
          <p:nvPr/>
        </p:nvPicPr>
        <p:blipFill>
          <a:blip r:embed="rId5" cstate="print"/>
          <a:stretch>
            <a:fillRect/>
          </a:stretch>
        </p:blipFill>
        <p:spPr>
          <a:xfrm>
            <a:off x="161210" y="91914"/>
            <a:ext cx="1591390" cy="822486"/>
          </a:xfrm>
          <a:prstGeom prst="rect">
            <a:avLst/>
          </a:prstGeom>
        </p:spPr>
      </p:pic>
    </p:spTree>
    <p:extLst>
      <p:ext uri="{BB962C8B-B14F-4D97-AF65-F5344CB8AC3E}">
        <p14:creationId xmlns:p14="http://schemas.microsoft.com/office/powerpoint/2010/main" val="22720524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object 3">
            <a:extLst>
              <a:ext uri="{FF2B5EF4-FFF2-40B4-BE49-F238E27FC236}">
                <a16:creationId xmlns:a16="http://schemas.microsoft.com/office/drawing/2014/main" id="{21ABBE52-8710-4E6B-00A1-6AE2E264A905}"/>
              </a:ext>
            </a:extLst>
          </p:cNvPr>
          <p:cNvGrpSpPr/>
          <p:nvPr/>
        </p:nvGrpSpPr>
        <p:grpSpPr>
          <a:xfrm>
            <a:off x="2590800" y="161097"/>
            <a:ext cx="5103904" cy="1198311"/>
            <a:chOff x="2648188" y="47148"/>
            <a:chExt cx="5103904" cy="1198311"/>
          </a:xfrm>
        </p:grpSpPr>
        <p:pic>
          <p:nvPicPr>
            <p:cNvPr id="6" name="object 4">
              <a:extLst>
                <a:ext uri="{FF2B5EF4-FFF2-40B4-BE49-F238E27FC236}">
                  <a16:creationId xmlns:a16="http://schemas.microsoft.com/office/drawing/2014/main" id="{BB01548A-FFE9-E3D8-12A9-78CF21156550}"/>
                </a:ext>
              </a:extLst>
            </p:cNvPr>
            <p:cNvPicPr/>
            <p:nvPr/>
          </p:nvPicPr>
          <p:blipFill>
            <a:blip r:embed="rId3" cstate="print"/>
            <a:stretch>
              <a:fillRect/>
            </a:stretch>
          </p:blipFill>
          <p:spPr>
            <a:xfrm>
              <a:off x="2648188" y="47148"/>
              <a:ext cx="5103904" cy="1198311"/>
            </a:xfrm>
            <a:prstGeom prst="rect">
              <a:avLst/>
            </a:prstGeom>
          </p:spPr>
        </p:pic>
        <p:pic>
          <p:nvPicPr>
            <p:cNvPr id="7" name="object 5">
              <a:extLst>
                <a:ext uri="{FF2B5EF4-FFF2-40B4-BE49-F238E27FC236}">
                  <a16:creationId xmlns:a16="http://schemas.microsoft.com/office/drawing/2014/main" id="{C2274CD8-F01F-9319-4AED-E01AFBB7B3F4}"/>
                </a:ext>
              </a:extLst>
            </p:cNvPr>
            <p:cNvPicPr/>
            <p:nvPr/>
          </p:nvPicPr>
          <p:blipFill>
            <a:blip r:embed="rId4" cstate="print"/>
            <a:stretch>
              <a:fillRect/>
            </a:stretch>
          </p:blipFill>
          <p:spPr>
            <a:xfrm>
              <a:off x="2703195" y="86439"/>
              <a:ext cx="4997767" cy="1092279"/>
            </a:xfrm>
            <a:prstGeom prst="rect">
              <a:avLst/>
            </a:prstGeom>
          </p:spPr>
        </p:pic>
        <p:pic>
          <p:nvPicPr>
            <p:cNvPr id="8" name="object 6">
              <a:extLst>
                <a:ext uri="{FF2B5EF4-FFF2-40B4-BE49-F238E27FC236}">
                  <a16:creationId xmlns:a16="http://schemas.microsoft.com/office/drawing/2014/main" id="{798807C2-A29E-0BF3-6CFE-592456DB3D5A}"/>
                </a:ext>
              </a:extLst>
            </p:cNvPr>
            <p:cNvPicPr/>
            <p:nvPr/>
          </p:nvPicPr>
          <p:blipFill>
            <a:blip r:embed="rId5" cstate="print"/>
            <a:stretch>
              <a:fillRect/>
            </a:stretch>
          </p:blipFill>
          <p:spPr>
            <a:xfrm>
              <a:off x="2828925" y="243549"/>
              <a:ext cx="4585268" cy="522565"/>
            </a:xfrm>
            <a:prstGeom prst="rect">
              <a:avLst/>
            </a:prstGeom>
          </p:spPr>
        </p:pic>
        <p:sp>
          <p:nvSpPr>
            <p:cNvPr id="9" name="object 7">
              <a:extLst>
                <a:ext uri="{FF2B5EF4-FFF2-40B4-BE49-F238E27FC236}">
                  <a16:creationId xmlns:a16="http://schemas.microsoft.com/office/drawing/2014/main" id="{0012A6F5-DCDD-5346-54A8-BF352762053D}"/>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sz="2000"/>
            </a:p>
          </p:txBody>
        </p:sp>
      </p:grpSp>
      <p:pic>
        <p:nvPicPr>
          <p:cNvPr id="11" name="object 3">
            <a:extLst>
              <a:ext uri="{FF2B5EF4-FFF2-40B4-BE49-F238E27FC236}">
                <a16:creationId xmlns:a16="http://schemas.microsoft.com/office/drawing/2014/main" id="{A01798C2-99DE-A723-BAF6-CF11F4E8C1FC}"/>
              </a:ext>
            </a:extLst>
          </p:cNvPr>
          <p:cNvPicPr/>
          <p:nvPr/>
        </p:nvPicPr>
        <p:blipFill>
          <a:blip r:embed="rId6" cstate="print"/>
          <a:stretch>
            <a:fillRect/>
          </a:stretch>
        </p:blipFill>
        <p:spPr>
          <a:xfrm>
            <a:off x="290750" y="204311"/>
            <a:ext cx="1163002" cy="424338"/>
          </a:xfrm>
          <a:prstGeom prst="rect">
            <a:avLst/>
          </a:prstGeom>
        </p:spPr>
      </p:pic>
      <p:sp>
        <p:nvSpPr>
          <p:cNvPr id="12" name="TextBox 11"/>
          <p:cNvSpPr txBox="1"/>
          <p:nvPr/>
        </p:nvSpPr>
        <p:spPr>
          <a:xfrm>
            <a:off x="2414826" y="437450"/>
            <a:ext cx="5120640" cy="400110"/>
          </a:xfrm>
          <a:prstGeom prst="rect">
            <a:avLst/>
          </a:prstGeom>
          <a:noFill/>
        </p:spPr>
        <p:txBody>
          <a:bodyPr wrap="square">
            <a:spAutoFit/>
          </a:bodyPr>
          <a:lstStyle/>
          <a:p>
            <a:pPr algn="ctr">
              <a:spcAft>
                <a:spcPts val="700"/>
              </a:spcAft>
              <a:defRPr sz="2200" b="1">
                <a:solidFill>
                  <a:srgbClr val="233464"/>
                </a:solidFill>
                <a:latin typeface="Aptos"/>
              </a:defRPr>
            </a:pPr>
            <a:r>
              <a:rPr sz="2000" dirty="0">
                <a:solidFill>
                  <a:schemeClr val="bg1"/>
                </a:solidFill>
                <a:latin typeface="Times New Roman" pitchFamily="18" charset="0"/>
                <a:cs typeface="Times New Roman" pitchFamily="18" charset="0"/>
              </a:rPr>
              <a:t>METHODOLOGY</a:t>
            </a:r>
          </a:p>
        </p:txBody>
      </p:sp>
      <p:sp>
        <p:nvSpPr>
          <p:cNvPr id="20" name="TextBox 19"/>
          <p:cNvSpPr txBox="1"/>
          <p:nvPr/>
        </p:nvSpPr>
        <p:spPr>
          <a:xfrm>
            <a:off x="42253" y="1115220"/>
            <a:ext cx="9770832" cy="1569660"/>
          </a:xfrm>
          <a:prstGeom prst="rect">
            <a:avLst/>
          </a:prstGeom>
          <a:noFill/>
        </p:spPr>
        <p:txBody>
          <a:bodyPr wrap="square" rtlCol="0">
            <a:spAutoFit/>
          </a:bodyPr>
          <a:lstStyle/>
          <a:p>
            <a:pPr algn="ctr"/>
            <a:r>
              <a:rPr lang="en-US" sz="2400" b="1" dirty="0">
                <a:latin typeface="Times New Roman" pitchFamily="18" charset="0"/>
                <a:cs typeface="Times New Roman" pitchFamily="18" charset="0"/>
              </a:rPr>
              <a:t>Module 1 – Data Loading</a:t>
            </a:r>
          </a:p>
          <a:p>
            <a:pPr algn="ctr"/>
            <a:r>
              <a:rPr lang="en-US" sz="2400" dirty="0">
                <a:latin typeface="Times New Roman" pitchFamily="18" charset="0"/>
                <a:cs typeface="Times New Roman" pitchFamily="18" charset="0"/>
              </a:rPr>
              <a:t>Import required libraries.</a:t>
            </a:r>
          </a:p>
          <a:p>
            <a:pPr algn="ctr"/>
            <a:r>
              <a:rPr lang="en-US" sz="2400" dirty="0">
                <a:latin typeface="Times New Roman" pitchFamily="18" charset="0"/>
                <a:cs typeface="Times New Roman" pitchFamily="18" charset="0"/>
              </a:rPr>
              <a:t>Load UPI Transaction CSV.</a:t>
            </a:r>
          </a:p>
          <a:p>
            <a:pPr algn="ctr"/>
            <a:endParaRPr lang="en-US" sz="2400" dirty="0">
              <a:latin typeface="Times New Roman" pitchFamily="18" charset="0"/>
              <a:cs typeface="Times New Roman" pitchFamily="18" charset="0"/>
            </a:endParaRPr>
          </a:p>
        </p:txBody>
      </p:sp>
      <p:sp>
        <p:nvSpPr>
          <p:cNvPr id="4" name="Arrow: Down 3">
            <a:extLst>
              <a:ext uri="{FF2B5EF4-FFF2-40B4-BE49-F238E27FC236}">
                <a16:creationId xmlns:a16="http://schemas.microsoft.com/office/drawing/2014/main" id="{52502A97-D245-72B2-C4CE-36C3CF74332D}"/>
              </a:ext>
            </a:extLst>
          </p:cNvPr>
          <p:cNvSpPr/>
          <p:nvPr/>
        </p:nvSpPr>
        <p:spPr>
          <a:xfrm>
            <a:off x="4796282" y="2373939"/>
            <a:ext cx="357728" cy="311657"/>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dirty="0">
              <a:ln w="0">
                <a:solidFill>
                  <a:schemeClr val="tx1"/>
                </a:solidFill>
              </a:ln>
              <a:solidFill>
                <a:schemeClr val="tx1"/>
              </a:solidFill>
              <a:effectLst>
                <a:outerShdw blurRad="38100" dist="19050" dir="2700000" algn="tl" rotWithShape="0">
                  <a:schemeClr val="dk1">
                    <a:alpha val="40000"/>
                  </a:schemeClr>
                </a:outerShdw>
              </a:effectLst>
            </a:endParaRPr>
          </a:p>
        </p:txBody>
      </p:sp>
      <p:sp>
        <p:nvSpPr>
          <p:cNvPr id="13" name="TextBox 12">
            <a:extLst>
              <a:ext uri="{FF2B5EF4-FFF2-40B4-BE49-F238E27FC236}">
                <a16:creationId xmlns:a16="http://schemas.microsoft.com/office/drawing/2014/main" id="{0E34B842-9CD3-AA46-6CA7-F730C9D1D96E}"/>
              </a:ext>
            </a:extLst>
          </p:cNvPr>
          <p:cNvSpPr txBox="1"/>
          <p:nvPr/>
        </p:nvSpPr>
        <p:spPr>
          <a:xfrm>
            <a:off x="2766285" y="2609096"/>
            <a:ext cx="4249882" cy="1200329"/>
          </a:xfrm>
          <a:prstGeom prst="rect">
            <a:avLst/>
          </a:prstGeom>
          <a:noFill/>
        </p:spPr>
        <p:txBody>
          <a:bodyPr wrap="none" rtlCol="0">
            <a:spAutoFit/>
          </a:bodyPr>
          <a:lstStyle/>
          <a:p>
            <a:pPr algn="ctr"/>
            <a:r>
              <a:rPr lang="en-IN" sz="2400" b="1" dirty="0">
                <a:latin typeface="Times New Roman" panose="02020603050405020304" pitchFamily="18" charset="0"/>
                <a:cs typeface="Times New Roman" panose="02020603050405020304" pitchFamily="18" charset="0"/>
              </a:rPr>
              <a:t>Module 2 – Data Exploration</a:t>
            </a:r>
          </a:p>
          <a:p>
            <a:pPr lvl="0" algn="ctr"/>
            <a:r>
              <a:rPr lang="en-IN" sz="2400" dirty="0">
                <a:latin typeface="Times New Roman" panose="02020603050405020304" pitchFamily="18" charset="0"/>
                <a:cs typeface="Times New Roman" panose="02020603050405020304" pitchFamily="18" charset="0"/>
              </a:rPr>
              <a:t>Check dataset size.</a:t>
            </a:r>
          </a:p>
          <a:p>
            <a:pPr algn="ctr"/>
            <a:r>
              <a:rPr lang="en-IN" sz="2400" dirty="0">
                <a:latin typeface="Times New Roman" panose="02020603050405020304" pitchFamily="18" charset="0"/>
                <a:cs typeface="Times New Roman" panose="02020603050405020304" pitchFamily="18" charset="0"/>
              </a:rPr>
              <a:t>Inspect Columns and  data types.</a:t>
            </a:r>
          </a:p>
        </p:txBody>
      </p:sp>
      <p:sp>
        <p:nvSpPr>
          <p:cNvPr id="15" name="Arrow: Down 14">
            <a:extLst>
              <a:ext uri="{FF2B5EF4-FFF2-40B4-BE49-F238E27FC236}">
                <a16:creationId xmlns:a16="http://schemas.microsoft.com/office/drawing/2014/main" id="{D18714A5-46F1-BD0D-4A00-BB0C1211F660}"/>
              </a:ext>
            </a:extLst>
          </p:cNvPr>
          <p:cNvSpPr/>
          <p:nvPr/>
        </p:nvSpPr>
        <p:spPr>
          <a:xfrm>
            <a:off x="4756604" y="3814644"/>
            <a:ext cx="357728" cy="311657"/>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a:ln w="0">
                <a:solidFill>
                  <a:schemeClr val="tx1"/>
                </a:solidFill>
              </a:ln>
              <a:solidFill>
                <a:schemeClr val="tx1"/>
              </a:solidFill>
              <a:effectLst>
                <a:outerShdw blurRad="38100" dist="19050" dir="2700000" algn="tl" rotWithShape="0">
                  <a:schemeClr val="dk1">
                    <a:alpha val="40000"/>
                  </a:schemeClr>
                </a:outerShdw>
              </a:effectLst>
            </a:endParaRPr>
          </a:p>
        </p:txBody>
      </p:sp>
      <p:sp>
        <p:nvSpPr>
          <p:cNvPr id="16" name="TextBox 15">
            <a:extLst>
              <a:ext uri="{FF2B5EF4-FFF2-40B4-BE49-F238E27FC236}">
                <a16:creationId xmlns:a16="http://schemas.microsoft.com/office/drawing/2014/main" id="{D359C03E-C4CB-43D3-0C7D-3D50822A8B32}"/>
              </a:ext>
            </a:extLst>
          </p:cNvPr>
          <p:cNvSpPr txBox="1"/>
          <p:nvPr/>
        </p:nvSpPr>
        <p:spPr>
          <a:xfrm>
            <a:off x="2145238" y="4228115"/>
            <a:ext cx="5767926" cy="1569660"/>
          </a:xfrm>
          <a:prstGeom prst="rect">
            <a:avLst/>
          </a:prstGeom>
          <a:noFill/>
        </p:spPr>
        <p:txBody>
          <a:bodyPr wrap="none" rtlCol="0">
            <a:spAutoFit/>
          </a:bodyPr>
          <a:lstStyle/>
          <a:p>
            <a:pPr algn="ctr"/>
            <a:r>
              <a:rPr lang="en-IN" sz="2400" b="1" dirty="0">
                <a:latin typeface="Times New Roman" panose="02020603050405020304" pitchFamily="18" charset="0"/>
                <a:cs typeface="Times New Roman" panose="02020603050405020304" pitchFamily="18" charset="0"/>
              </a:rPr>
              <a:t>Module 3 – Data Validation</a:t>
            </a:r>
          </a:p>
          <a:p>
            <a:pPr algn="ctr"/>
            <a:r>
              <a:rPr lang="en-IN" sz="2400" dirty="0">
                <a:latin typeface="Times New Roman" panose="02020603050405020304" pitchFamily="18" charset="0"/>
                <a:cs typeface="Times New Roman" panose="02020603050405020304" pitchFamily="18" charset="0"/>
              </a:rPr>
              <a:t>Identify and fill missing values.</a:t>
            </a:r>
          </a:p>
          <a:p>
            <a:pPr lvl="0" algn="ctr"/>
            <a:r>
              <a:rPr lang="en-IN" sz="2400" dirty="0">
                <a:latin typeface="Times New Roman" panose="02020603050405020304" pitchFamily="18" charset="0"/>
                <a:cs typeface="Times New Roman" panose="02020603050405020304" pitchFamily="18" charset="0"/>
              </a:rPr>
              <a:t>Remove duplicate records.</a:t>
            </a:r>
          </a:p>
          <a:p>
            <a:pPr lvl="0" algn="ctr"/>
            <a:r>
              <a:rPr lang="en-IN" sz="2400" dirty="0">
                <a:latin typeface="Times New Roman" panose="02020603050405020304" pitchFamily="18" charset="0"/>
                <a:cs typeface="Times New Roman" panose="02020603050405020304" pitchFamily="18" charset="0"/>
              </a:rPr>
              <a:t>Validate transaction amounts and fraud flags.</a:t>
            </a:r>
          </a:p>
        </p:txBody>
      </p:sp>
      <p:sp>
        <p:nvSpPr>
          <p:cNvPr id="18" name="Arrow: Down 17">
            <a:extLst>
              <a:ext uri="{FF2B5EF4-FFF2-40B4-BE49-F238E27FC236}">
                <a16:creationId xmlns:a16="http://schemas.microsoft.com/office/drawing/2014/main" id="{E02D8121-E16D-A49A-1052-85D8AFE05F58}"/>
              </a:ext>
            </a:extLst>
          </p:cNvPr>
          <p:cNvSpPr/>
          <p:nvPr/>
        </p:nvSpPr>
        <p:spPr>
          <a:xfrm>
            <a:off x="4850334" y="5797775"/>
            <a:ext cx="357728" cy="311657"/>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a:ln w="0">
                <a:solidFill>
                  <a:schemeClr val="tx1"/>
                </a:solidFill>
              </a:ln>
              <a:solidFill>
                <a:schemeClr val="tx1"/>
              </a:solidFill>
              <a:effectLst>
                <a:outerShdw blurRad="38100" dist="19050" dir="2700000" algn="tl" rotWithShape="0">
                  <a:schemeClr val="dk1">
                    <a:alpha val="40000"/>
                  </a:schemeClr>
                </a:outerShdw>
              </a:effectLst>
            </a:endParaRPr>
          </a:p>
        </p:txBody>
      </p:sp>
      <p:sp>
        <p:nvSpPr>
          <p:cNvPr id="21" name="TextBox 20">
            <a:extLst>
              <a:ext uri="{FF2B5EF4-FFF2-40B4-BE49-F238E27FC236}">
                <a16:creationId xmlns:a16="http://schemas.microsoft.com/office/drawing/2014/main" id="{B1C9C953-BED3-2F43-1A1F-3B7650BC3A88}"/>
              </a:ext>
            </a:extLst>
          </p:cNvPr>
          <p:cNvSpPr txBox="1"/>
          <p:nvPr/>
        </p:nvSpPr>
        <p:spPr>
          <a:xfrm>
            <a:off x="2566639" y="6216465"/>
            <a:ext cx="5029200" cy="1569660"/>
          </a:xfrm>
          <a:prstGeom prst="rect">
            <a:avLst/>
          </a:prstGeom>
          <a:noFill/>
        </p:spPr>
        <p:txBody>
          <a:bodyPr wrap="square">
            <a:spAutoFit/>
          </a:bodyPr>
          <a:lstStyle/>
          <a:p>
            <a:pPr algn="ctr">
              <a:buNone/>
            </a:pPr>
            <a:r>
              <a:rPr lang="en-IN" sz="2400" b="1" dirty="0">
                <a:latin typeface="Times New Roman" panose="02020603050405020304" pitchFamily="18" charset="0"/>
                <a:cs typeface="Times New Roman" panose="02020603050405020304" pitchFamily="18" charset="0"/>
              </a:rPr>
              <a:t>Module 4 – Data Preprocessing</a:t>
            </a:r>
          </a:p>
          <a:p>
            <a:pPr lvl="0" algn="ctr"/>
            <a:r>
              <a:rPr lang="en-IN" sz="2400" dirty="0">
                <a:latin typeface="Times New Roman" panose="02020603050405020304" pitchFamily="18" charset="0"/>
                <a:cs typeface="Times New Roman" panose="02020603050405020304" pitchFamily="18" charset="0"/>
              </a:rPr>
              <a:t>Convert timestamp into datetime format.</a:t>
            </a:r>
          </a:p>
          <a:p>
            <a:pPr lvl="0" algn="ctr"/>
            <a:r>
              <a:rPr lang="en-IN" sz="2400" dirty="0">
                <a:latin typeface="Times New Roman" panose="02020603050405020304" pitchFamily="18" charset="0"/>
                <a:cs typeface="Times New Roman" panose="02020603050405020304" pitchFamily="18" charset="0"/>
              </a:rPr>
              <a:t>Extract hour, day and other time info.</a:t>
            </a:r>
          </a:p>
        </p:txBody>
      </p:sp>
    </p:spTree>
    <p:extLst>
      <p:ext uri="{BB962C8B-B14F-4D97-AF65-F5344CB8AC3E}">
        <p14:creationId xmlns:p14="http://schemas.microsoft.com/office/powerpoint/2010/main" val="3144958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BE1A7-3004-3B9A-3BDF-6F0CD676F78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8C6D514-1AF0-EDB1-7078-687065ECF56B}"/>
              </a:ext>
            </a:extLst>
          </p:cNvPr>
          <p:cNvSpPr txBox="1"/>
          <p:nvPr/>
        </p:nvSpPr>
        <p:spPr>
          <a:xfrm>
            <a:off x="2414826" y="437450"/>
            <a:ext cx="5120640" cy="400110"/>
          </a:xfrm>
          <a:prstGeom prst="rect">
            <a:avLst/>
          </a:prstGeom>
          <a:noFill/>
        </p:spPr>
        <p:txBody>
          <a:bodyPr wrap="square">
            <a:spAutoFit/>
          </a:bodyPr>
          <a:lstStyle/>
          <a:p>
            <a:pPr algn="ctr">
              <a:spcAft>
                <a:spcPts val="700"/>
              </a:spcAft>
              <a:defRPr sz="2200" b="1">
                <a:solidFill>
                  <a:srgbClr val="233464"/>
                </a:solidFill>
                <a:latin typeface="Aptos"/>
              </a:defRPr>
            </a:pPr>
            <a:r>
              <a:rPr sz="2000" dirty="0">
                <a:solidFill>
                  <a:schemeClr val="bg1"/>
                </a:solidFill>
                <a:latin typeface="Times New Roman" pitchFamily="18" charset="0"/>
                <a:cs typeface="Times New Roman" pitchFamily="18" charset="0"/>
              </a:rPr>
              <a:t>METHODOLOGY</a:t>
            </a:r>
          </a:p>
        </p:txBody>
      </p:sp>
      <p:grpSp>
        <p:nvGrpSpPr>
          <p:cNvPr id="4" name="object 3">
            <a:extLst>
              <a:ext uri="{FF2B5EF4-FFF2-40B4-BE49-F238E27FC236}">
                <a16:creationId xmlns:a16="http://schemas.microsoft.com/office/drawing/2014/main" id="{F02D1B8B-963F-84C5-69F0-17C3EECCFD8D}"/>
              </a:ext>
            </a:extLst>
          </p:cNvPr>
          <p:cNvGrpSpPr/>
          <p:nvPr/>
        </p:nvGrpSpPr>
        <p:grpSpPr>
          <a:xfrm>
            <a:off x="2590800" y="161097"/>
            <a:ext cx="5103904" cy="1198311"/>
            <a:chOff x="2648188" y="47148"/>
            <a:chExt cx="5103904" cy="1198311"/>
          </a:xfrm>
        </p:grpSpPr>
        <p:pic>
          <p:nvPicPr>
            <p:cNvPr id="10" name="object 4">
              <a:extLst>
                <a:ext uri="{FF2B5EF4-FFF2-40B4-BE49-F238E27FC236}">
                  <a16:creationId xmlns:a16="http://schemas.microsoft.com/office/drawing/2014/main" id="{BD448D2F-A85D-4EA9-4AFA-DBD143FFC367}"/>
                </a:ext>
              </a:extLst>
            </p:cNvPr>
            <p:cNvPicPr/>
            <p:nvPr/>
          </p:nvPicPr>
          <p:blipFill>
            <a:blip r:embed="rId3" cstate="print"/>
            <a:stretch>
              <a:fillRect/>
            </a:stretch>
          </p:blipFill>
          <p:spPr>
            <a:xfrm>
              <a:off x="2648188" y="47148"/>
              <a:ext cx="5103904" cy="1198311"/>
            </a:xfrm>
            <a:prstGeom prst="rect">
              <a:avLst/>
            </a:prstGeom>
          </p:spPr>
        </p:pic>
        <p:pic>
          <p:nvPicPr>
            <p:cNvPr id="21" name="object 5">
              <a:extLst>
                <a:ext uri="{FF2B5EF4-FFF2-40B4-BE49-F238E27FC236}">
                  <a16:creationId xmlns:a16="http://schemas.microsoft.com/office/drawing/2014/main" id="{70B9531E-FF63-3CBC-8C76-5101CEB24CF2}"/>
                </a:ext>
              </a:extLst>
            </p:cNvPr>
            <p:cNvPicPr/>
            <p:nvPr/>
          </p:nvPicPr>
          <p:blipFill>
            <a:blip r:embed="rId4" cstate="print"/>
            <a:stretch>
              <a:fillRect/>
            </a:stretch>
          </p:blipFill>
          <p:spPr>
            <a:xfrm>
              <a:off x="2703195" y="86439"/>
              <a:ext cx="4997767" cy="1092279"/>
            </a:xfrm>
            <a:prstGeom prst="rect">
              <a:avLst/>
            </a:prstGeom>
          </p:spPr>
        </p:pic>
        <p:pic>
          <p:nvPicPr>
            <p:cNvPr id="22" name="object 6">
              <a:extLst>
                <a:ext uri="{FF2B5EF4-FFF2-40B4-BE49-F238E27FC236}">
                  <a16:creationId xmlns:a16="http://schemas.microsoft.com/office/drawing/2014/main" id="{A51A82D2-D894-569F-6C1F-514FA4F12972}"/>
                </a:ext>
              </a:extLst>
            </p:cNvPr>
            <p:cNvPicPr/>
            <p:nvPr/>
          </p:nvPicPr>
          <p:blipFill>
            <a:blip r:embed="rId5" cstate="print"/>
            <a:stretch>
              <a:fillRect/>
            </a:stretch>
          </p:blipFill>
          <p:spPr>
            <a:xfrm>
              <a:off x="2828925" y="243549"/>
              <a:ext cx="4585268" cy="522565"/>
            </a:xfrm>
            <a:prstGeom prst="rect">
              <a:avLst/>
            </a:prstGeom>
          </p:spPr>
        </p:pic>
        <p:sp>
          <p:nvSpPr>
            <p:cNvPr id="23" name="object 7">
              <a:extLst>
                <a:ext uri="{FF2B5EF4-FFF2-40B4-BE49-F238E27FC236}">
                  <a16:creationId xmlns:a16="http://schemas.microsoft.com/office/drawing/2014/main" id="{B3782B54-B821-DE87-C2B7-79ECF9E77AF9}"/>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sz="2000"/>
            </a:p>
          </p:txBody>
        </p:sp>
      </p:grpSp>
      <p:sp>
        <p:nvSpPr>
          <p:cNvPr id="25" name="TextBox 24">
            <a:extLst>
              <a:ext uri="{FF2B5EF4-FFF2-40B4-BE49-F238E27FC236}">
                <a16:creationId xmlns:a16="http://schemas.microsoft.com/office/drawing/2014/main" id="{A5CA9835-2A27-E3B2-E349-E0FE4429CFBE}"/>
              </a:ext>
            </a:extLst>
          </p:cNvPr>
          <p:cNvSpPr txBox="1"/>
          <p:nvPr/>
        </p:nvSpPr>
        <p:spPr>
          <a:xfrm>
            <a:off x="2586213" y="413290"/>
            <a:ext cx="5029200" cy="400110"/>
          </a:xfrm>
          <a:prstGeom prst="rect">
            <a:avLst/>
          </a:prstGeom>
          <a:noFill/>
        </p:spPr>
        <p:txBody>
          <a:bodyPr wrap="square">
            <a:spAutoFit/>
          </a:bodyPr>
          <a:lstStyle/>
          <a:p>
            <a:pPr algn="ctr">
              <a:spcAft>
                <a:spcPts val="700"/>
              </a:spcAft>
              <a:defRPr sz="2200" b="1">
                <a:solidFill>
                  <a:srgbClr val="233464"/>
                </a:solidFill>
                <a:latin typeface="Aptos"/>
              </a:defRPr>
            </a:pPr>
            <a:r>
              <a:rPr lang="en-IN" sz="2000" dirty="0">
                <a:solidFill>
                  <a:schemeClr val="bg1"/>
                </a:solidFill>
                <a:latin typeface="Times New Roman" pitchFamily="18" charset="0"/>
                <a:cs typeface="Times New Roman" pitchFamily="18" charset="0"/>
              </a:rPr>
              <a:t>METHODOLOGY</a:t>
            </a:r>
          </a:p>
        </p:txBody>
      </p:sp>
      <p:sp>
        <p:nvSpPr>
          <p:cNvPr id="27" name="TextBox 26">
            <a:extLst>
              <a:ext uri="{FF2B5EF4-FFF2-40B4-BE49-F238E27FC236}">
                <a16:creationId xmlns:a16="http://schemas.microsoft.com/office/drawing/2014/main" id="{769BA950-6049-F76A-4A0C-CF5ED87D2763}"/>
              </a:ext>
            </a:extLst>
          </p:cNvPr>
          <p:cNvSpPr txBox="1"/>
          <p:nvPr/>
        </p:nvSpPr>
        <p:spPr>
          <a:xfrm>
            <a:off x="1816265" y="953427"/>
            <a:ext cx="6652974" cy="1015663"/>
          </a:xfrm>
          <a:prstGeom prst="rect">
            <a:avLst/>
          </a:prstGeom>
          <a:noFill/>
        </p:spPr>
        <p:txBody>
          <a:bodyPr wrap="square">
            <a:spAutoFit/>
          </a:bodyPr>
          <a:lstStyle/>
          <a:p>
            <a:pPr algn="ctr">
              <a:buNone/>
            </a:pPr>
            <a:r>
              <a:rPr lang="en-IN" sz="2000" b="1" dirty="0">
                <a:latin typeface="Times New Roman" panose="02020603050405020304" pitchFamily="18" charset="0"/>
                <a:cs typeface="Times New Roman" panose="02020603050405020304" pitchFamily="18" charset="0"/>
              </a:rPr>
              <a:t>Module 5 –Data Filtering</a:t>
            </a:r>
          </a:p>
          <a:p>
            <a:pPr algn="ctr">
              <a:buNone/>
            </a:pPr>
            <a:r>
              <a:rPr lang="en-IN" sz="2000" dirty="0">
                <a:latin typeface="Times New Roman" panose="02020603050405020304" pitchFamily="18" charset="0"/>
                <a:cs typeface="Times New Roman" panose="02020603050405020304" pitchFamily="18" charset="0"/>
              </a:rPr>
              <a:t>Separate successful transactions.</a:t>
            </a:r>
          </a:p>
          <a:p>
            <a:pPr lvl="0" algn="ctr"/>
            <a:r>
              <a:rPr lang="en-IN" sz="2000" dirty="0">
                <a:latin typeface="Times New Roman" panose="02020603050405020304" pitchFamily="18" charset="0"/>
                <a:cs typeface="Times New Roman" panose="02020603050405020304" pitchFamily="18" charset="0"/>
              </a:rPr>
              <a:t>Separate fraudulent transactions.</a:t>
            </a:r>
          </a:p>
        </p:txBody>
      </p:sp>
      <p:sp>
        <p:nvSpPr>
          <p:cNvPr id="29" name="Arrow: Down 28">
            <a:extLst>
              <a:ext uri="{FF2B5EF4-FFF2-40B4-BE49-F238E27FC236}">
                <a16:creationId xmlns:a16="http://schemas.microsoft.com/office/drawing/2014/main" id="{3B0312D2-1C2D-0FC3-47A4-8970E0D691E7}"/>
              </a:ext>
            </a:extLst>
          </p:cNvPr>
          <p:cNvSpPr/>
          <p:nvPr/>
        </p:nvSpPr>
        <p:spPr>
          <a:xfrm>
            <a:off x="4850336" y="2073672"/>
            <a:ext cx="357728" cy="311657"/>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a:ln w="0">
                <a:solidFill>
                  <a:schemeClr val="tx1"/>
                </a:solidFill>
              </a:ln>
              <a:solidFill>
                <a:schemeClr val="tx1"/>
              </a:solidFill>
              <a:effectLst>
                <a:outerShdw blurRad="38100" dist="19050" dir="2700000" algn="tl" rotWithShape="0">
                  <a:schemeClr val="dk1">
                    <a:alpha val="40000"/>
                  </a:schemeClr>
                </a:outerShdw>
              </a:effectLst>
            </a:endParaRPr>
          </a:p>
        </p:txBody>
      </p:sp>
      <p:sp>
        <p:nvSpPr>
          <p:cNvPr id="31" name="TextBox 30">
            <a:extLst>
              <a:ext uri="{FF2B5EF4-FFF2-40B4-BE49-F238E27FC236}">
                <a16:creationId xmlns:a16="http://schemas.microsoft.com/office/drawing/2014/main" id="{6FA49019-54D3-0F1F-3651-5D4892AE3078}"/>
              </a:ext>
            </a:extLst>
          </p:cNvPr>
          <p:cNvSpPr txBox="1"/>
          <p:nvPr/>
        </p:nvSpPr>
        <p:spPr>
          <a:xfrm>
            <a:off x="2895600" y="2407224"/>
            <a:ext cx="4876800" cy="1815882"/>
          </a:xfrm>
          <a:prstGeom prst="rect">
            <a:avLst/>
          </a:prstGeom>
          <a:noFill/>
        </p:spPr>
        <p:txBody>
          <a:bodyPr wrap="square">
            <a:spAutoFit/>
          </a:bodyPr>
          <a:lstStyle/>
          <a:p>
            <a:pPr algn="ctr">
              <a:buNone/>
            </a:pPr>
            <a:r>
              <a:rPr lang="en-IN" sz="2000" b="1" dirty="0">
                <a:latin typeface="Times New Roman" panose="02020603050405020304" pitchFamily="18" charset="0"/>
                <a:cs typeface="Times New Roman" panose="02020603050405020304" pitchFamily="18" charset="0"/>
              </a:rPr>
              <a:t>Module 6 –Data Aggregation</a:t>
            </a:r>
          </a:p>
          <a:p>
            <a:pPr algn="ctr">
              <a:buNone/>
            </a:pPr>
            <a:r>
              <a:rPr lang="en-IN" sz="2000" dirty="0">
                <a:latin typeface="Times New Roman" panose="02020603050405020304" pitchFamily="18" charset="0"/>
                <a:cs typeface="Times New Roman" panose="02020603050405020304" pitchFamily="18" charset="0"/>
              </a:rPr>
              <a:t>Group by transaction type.</a:t>
            </a:r>
          </a:p>
          <a:p>
            <a:pPr algn="ctr">
              <a:buNone/>
            </a:pPr>
            <a:r>
              <a:rPr lang="en-IN" sz="2000" dirty="0">
                <a:latin typeface="Times New Roman" panose="02020603050405020304" pitchFamily="18" charset="0"/>
                <a:cs typeface="Times New Roman" panose="02020603050405020304" pitchFamily="18" charset="0"/>
              </a:rPr>
              <a:t>Group by merchant category</a:t>
            </a:r>
            <a:r>
              <a:rPr lang="en-IN" sz="2400" dirty="0">
                <a:latin typeface="Times New Roman" panose="02020603050405020304" pitchFamily="18" charset="0"/>
                <a:cs typeface="Times New Roman" panose="02020603050405020304" pitchFamily="18" charset="0"/>
              </a:rPr>
              <a:t>.</a:t>
            </a:r>
          </a:p>
          <a:p>
            <a:pPr algn="ctr">
              <a:buNone/>
            </a:pPr>
            <a:r>
              <a:rPr lang="en-IN" sz="2000" dirty="0">
                <a:latin typeface="Times New Roman" panose="02020603050405020304" pitchFamily="18" charset="0"/>
                <a:cs typeface="Times New Roman" panose="02020603050405020304" pitchFamily="18" charset="0"/>
              </a:rPr>
              <a:t>Group by fraud status.</a:t>
            </a:r>
          </a:p>
          <a:p>
            <a:pPr algn="ctr">
              <a:buNone/>
            </a:pPr>
            <a:endParaRPr lang="en-IN" sz="2400" dirty="0">
              <a:latin typeface="Times New Roman" panose="02020603050405020304" pitchFamily="18" charset="0"/>
              <a:cs typeface="Times New Roman" panose="02020603050405020304" pitchFamily="18" charset="0"/>
            </a:endParaRPr>
          </a:p>
        </p:txBody>
      </p:sp>
      <p:sp>
        <p:nvSpPr>
          <p:cNvPr id="33" name="Arrow: Down 32">
            <a:extLst>
              <a:ext uri="{FF2B5EF4-FFF2-40B4-BE49-F238E27FC236}">
                <a16:creationId xmlns:a16="http://schemas.microsoft.com/office/drawing/2014/main" id="{6D0F4567-D057-4BE7-32A7-334EC2164A2C}"/>
              </a:ext>
            </a:extLst>
          </p:cNvPr>
          <p:cNvSpPr/>
          <p:nvPr/>
        </p:nvSpPr>
        <p:spPr>
          <a:xfrm>
            <a:off x="4850336" y="3959586"/>
            <a:ext cx="357728" cy="311657"/>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a:ln w="0">
                <a:solidFill>
                  <a:schemeClr val="tx1"/>
                </a:solidFill>
              </a:ln>
              <a:solidFill>
                <a:schemeClr val="tx1"/>
              </a:solidFill>
              <a:effectLst>
                <a:outerShdw blurRad="38100" dist="19050" dir="2700000" algn="tl" rotWithShape="0">
                  <a:schemeClr val="dk1">
                    <a:alpha val="40000"/>
                  </a:schemeClr>
                </a:outerShdw>
              </a:effectLst>
            </a:endParaRPr>
          </a:p>
        </p:txBody>
      </p:sp>
      <p:sp>
        <p:nvSpPr>
          <p:cNvPr id="35" name="TextBox 34">
            <a:extLst>
              <a:ext uri="{FF2B5EF4-FFF2-40B4-BE49-F238E27FC236}">
                <a16:creationId xmlns:a16="http://schemas.microsoft.com/office/drawing/2014/main" id="{53C43C12-4B70-F721-9E0A-DD8370D3BABC}"/>
              </a:ext>
            </a:extLst>
          </p:cNvPr>
          <p:cNvSpPr txBox="1"/>
          <p:nvPr/>
        </p:nvSpPr>
        <p:spPr>
          <a:xfrm>
            <a:off x="2628152" y="4271243"/>
            <a:ext cx="5029200" cy="1323439"/>
          </a:xfrm>
          <a:prstGeom prst="rect">
            <a:avLst/>
          </a:prstGeom>
          <a:noFill/>
        </p:spPr>
        <p:txBody>
          <a:bodyPr wrap="square">
            <a:spAutoFit/>
          </a:bodyPr>
          <a:lstStyle/>
          <a:p>
            <a:pPr algn="ctr">
              <a:buNone/>
            </a:pPr>
            <a:r>
              <a:rPr lang="en-IN" sz="2000" b="1" dirty="0">
                <a:latin typeface="Times New Roman" panose="02020603050405020304" pitchFamily="18" charset="0"/>
                <a:cs typeface="Times New Roman" panose="02020603050405020304" pitchFamily="18" charset="0"/>
              </a:rPr>
              <a:t>Module 7 – Data Visualization</a:t>
            </a:r>
          </a:p>
          <a:p>
            <a:pPr algn="ctr">
              <a:buNone/>
            </a:pPr>
            <a:r>
              <a:rPr lang="en-IN" sz="2000" dirty="0">
                <a:latin typeface="Times New Roman" panose="02020603050405020304" pitchFamily="18" charset="0"/>
                <a:cs typeface="Times New Roman" panose="02020603050405020304" pitchFamily="18" charset="0"/>
              </a:rPr>
              <a:t>Calculate counts.</a:t>
            </a:r>
          </a:p>
          <a:p>
            <a:pPr algn="ctr">
              <a:buNone/>
            </a:pPr>
            <a:r>
              <a:rPr lang="en-IN" sz="2000" dirty="0">
                <a:latin typeface="Times New Roman" panose="02020603050405020304" pitchFamily="18" charset="0"/>
                <a:cs typeface="Times New Roman" panose="02020603050405020304" pitchFamily="18" charset="0"/>
              </a:rPr>
              <a:t>Calculate totals.</a:t>
            </a:r>
          </a:p>
          <a:p>
            <a:pPr algn="ctr">
              <a:buNone/>
            </a:pPr>
            <a:r>
              <a:rPr lang="en-IN" sz="2000" dirty="0">
                <a:latin typeface="Times New Roman" panose="02020603050405020304" pitchFamily="18" charset="0"/>
                <a:cs typeface="Times New Roman" panose="02020603050405020304" pitchFamily="18" charset="0"/>
              </a:rPr>
              <a:t>Compare transaction and fraud patterns.</a:t>
            </a:r>
          </a:p>
        </p:txBody>
      </p:sp>
      <p:sp>
        <p:nvSpPr>
          <p:cNvPr id="37" name="Arrow: Down 36">
            <a:extLst>
              <a:ext uri="{FF2B5EF4-FFF2-40B4-BE49-F238E27FC236}">
                <a16:creationId xmlns:a16="http://schemas.microsoft.com/office/drawing/2014/main" id="{D2A13C47-9211-7F6A-3235-E7CA857CC45D}"/>
              </a:ext>
            </a:extLst>
          </p:cNvPr>
          <p:cNvSpPr/>
          <p:nvPr/>
        </p:nvSpPr>
        <p:spPr>
          <a:xfrm>
            <a:off x="4850336" y="5619639"/>
            <a:ext cx="357728" cy="311657"/>
          </a:xfrm>
          <a:prstGeom prst="down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IN">
              <a:ln w="0">
                <a:solidFill>
                  <a:schemeClr val="tx1"/>
                </a:solidFill>
              </a:ln>
              <a:solidFill>
                <a:schemeClr val="tx1"/>
              </a:solidFill>
              <a:effectLst>
                <a:outerShdw blurRad="38100" dist="19050" dir="2700000" algn="tl" rotWithShape="0">
                  <a:schemeClr val="dk1">
                    <a:alpha val="40000"/>
                  </a:schemeClr>
                </a:outerShdw>
              </a:effectLst>
            </a:endParaRPr>
          </a:p>
        </p:txBody>
      </p:sp>
      <p:sp>
        <p:nvSpPr>
          <p:cNvPr id="39" name="TextBox 38">
            <a:extLst>
              <a:ext uri="{FF2B5EF4-FFF2-40B4-BE49-F238E27FC236}">
                <a16:creationId xmlns:a16="http://schemas.microsoft.com/office/drawing/2014/main" id="{A378BCE5-A3E9-0942-2521-8A05596F86BE}"/>
              </a:ext>
            </a:extLst>
          </p:cNvPr>
          <p:cNvSpPr txBox="1"/>
          <p:nvPr/>
        </p:nvSpPr>
        <p:spPr>
          <a:xfrm>
            <a:off x="3124200" y="5931296"/>
            <a:ext cx="6392176" cy="1323439"/>
          </a:xfrm>
          <a:prstGeom prst="rect">
            <a:avLst/>
          </a:prstGeom>
          <a:noFill/>
        </p:spPr>
        <p:txBody>
          <a:bodyPr wrap="square">
            <a:spAutoFit/>
          </a:bodyPr>
          <a:lstStyle/>
          <a:p>
            <a:pPr>
              <a:buNone/>
            </a:pPr>
            <a:r>
              <a:rPr lang="en-IN" sz="2000" b="1" dirty="0">
                <a:latin typeface="Times New Roman" panose="02020603050405020304" pitchFamily="18" charset="0"/>
                <a:cs typeface="Times New Roman" panose="02020603050405020304" pitchFamily="18" charset="0"/>
              </a:rPr>
              <a:t>Module 8 –Visualization &amp; Interpretation </a:t>
            </a:r>
          </a:p>
          <a:p>
            <a:pPr>
              <a:buNone/>
            </a:pPr>
            <a:r>
              <a:rPr lang="en-IN" sz="2000" dirty="0">
                <a:latin typeface="Times New Roman" panose="02020603050405020304" pitchFamily="18" charset="0"/>
                <a:cs typeface="Times New Roman" panose="02020603050405020304" pitchFamily="18" charset="0"/>
              </a:rPr>
              <a:t>                   Generate charts.</a:t>
            </a:r>
          </a:p>
          <a:p>
            <a:pPr>
              <a:buNone/>
            </a:pPr>
            <a:r>
              <a:rPr lang="en-IN" sz="2000" dirty="0">
                <a:latin typeface="Times New Roman" panose="02020603050405020304" pitchFamily="18" charset="0"/>
                <a:cs typeface="Times New Roman" panose="02020603050405020304" pitchFamily="18" charset="0"/>
              </a:rPr>
              <a:t>           Identify important patterns.</a:t>
            </a:r>
          </a:p>
          <a:p>
            <a:pPr>
              <a:buNone/>
            </a:pPr>
            <a:r>
              <a:rPr lang="en-IN" sz="2000" dirty="0">
                <a:latin typeface="Times New Roman" panose="02020603050405020304" pitchFamily="18" charset="0"/>
                <a:cs typeface="Times New Roman" panose="02020603050405020304" pitchFamily="18" charset="0"/>
              </a:rPr>
              <a:t>                Interpret the results.</a:t>
            </a:r>
          </a:p>
        </p:txBody>
      </p:sp>
      <p:pic>
        <p:nvPicPr>
          <p:cNvPr id="5" name="object 3">
            <a:extLst>
              <a:ext uri="{FF2B5EF4-FFF2-40B4-BE49-F238E27FC236}">
                <a16:creationId xmlns:a16="http://schemas.microsoft.com/office/drawing/2014/main" id="{D196A313-43DE-ECC7-0097-14BE1DBFC6D8}"/>
              </a:ext>
            </a:extLst>
          </p:cNvPr>
          <p:cNvPicPr/>
          <p:nvPr/>
        </p:nvPicPr>
        <p:blipFill>
          <a:blip r:embed="rId6" cstate="print"/>
          <a:stretch>
            <a:fillRect/>
          </a:stretch>
        </p:blipFill>
        <p:spPr>
          <a:xfrm>
            <a:off x="290750" y="80561"/>
            <a:ext cx="1614250" cy="656750"/>
          </a:xfrm>
          <a:prstGeom prst="rect">
            <a:avLst/>
          </a:prstGeom>
        </p:spPr>
      </p:pic>
    </p:spTree>
    <p:extLst>
      <p:ext uri="{BB962C8B-B14F-4D97-AF65-F5344CB8AC3E}">
        <p14:creationId xmlns:p14="http://schemas.microsoft.com/office/powerpoint/2010/main" val="37442172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 name="object 3">
            <a:extLst>
              <a:ext uri="{FF2B5EF4-FFF2-40B4-BE49-F238E27FC236}">
                <a16:creationId xmlns:a16="http://schemas.microsoft.com/office/drawing/2014/main" id="{D26E0863-A3EE-1EC4-F128-4D4F1A60D3A0}"/>
              </a:ext>
            </a:extLst>
          </p:cNvPr>
          <p:cNvGrpSpPr/>
          <p:nvPr/>
        </p:nvGrpSpPr>
        <p:grpSpPr>
          <a:xfrm>
            <a:off x="2590800" y="161097"/>
            <a:ext cx="5103904" cy="1198311"/>
            <a:chOff x="2648188" y="47148"/>
            <a:chExt cx="5103904" cy="1198311"/>
          </a:xfrm>
        </p:grpSpPr>
        <p:pic>
          <p:nvPicPr>
            <p:cNvPr id="21" name="object 4">
              <a:extLst>
                <a:ext uri="{FF2B5EF4-FFF2-40B4-BE49-F238E27FC236}">
                  <a16:creationId xmlns:a16="http://schemas.microsoft.com/office/drawing/2014/main" id="{77890B8C-7EC3-B7B1-BF56-4F5DE13755D4}"/>
                </a:ext>
              </a:extLst>
            </p:cNvPr>
            <p:cNvPicPr/>
            <p:nvPr/>
          </p:nvPicPr>
          <p:blipFill>
            <a:blip r:embed="rId2" cstate="print"/>
            <a:stretch>
              <a:fillRect/>
            </a:stretch>
          </p:blipFill>
          <p:spPr>
            <a:xfrm>
              <a:off x="2648188" y="47148"/>
              <a:ext cx="5103904" cy="1198311"/>
            </a:xfrm>
            <a:prstGeom prst="rect">
              <a:avLst/>
            </a:prstGeom>
          </p:spPr>
        </p:pic>
        <p:pic>
          <p:nvPicPr>
            <p:cNvPr id="22" name="object 5">
              <a:extLst>
                <a:ext uri="{FF2B5EF4-FFF2-40B4-BE49-F238E27FC236}">
                  <a16:creationId xmlns:a16="http://schemas.microsoft.com/office/drawing/2014/main" id="{E9CC3DEB-E45E-85F9-CD38-C2C4966FBC30}"/>
                </a:ext>
              </a:extLst>
            </p:cNvPr>
            <p:cNvPicPr/>
            <p:nvPr/>
          </p:nvPicPr>
          <p:blipFill>
            <a:blip r:embed="rId3" cstate="print"/>
            <a:stretch>
              <a:fillRect/>
            </a:stretch>
          </p:blipFill>
          <p:spPr>
            <a:xfrm>
              <a:off x="2703195" y="86439"/>
              <a:ext cx="4997767" cy="1092279"/>
            </a:xfrm>
            <a:prstGeom prst="rect">
              <a:avLst/>
            </a:prstGeom>
          </p:spPr>
        </p:pic>
        <p:pic>
          <p:nvPicPr>
            <p:cNvPr id="23" name="object 6">
              <a:extLst>
                <a:ext uri="{FF2B5EF4-FFF2-40B4-BE49-F238E27FC236}">
                  <a16:creationId xmlns:a16="http://schemas.microsoft.com/office/drawing/2014/main" id="{4C3D8E05-12DF-F9A5-1AF2-87C24DA53BBC}"/>
                </a:ext>
              </a:extLst>
            </p:cNvPr>
            <p:cNvPicPr/>
            <p:nvPr/>
          </p:nvPicPr>
          <p:blipFill>
            <a:blip r:embed="rId4" cstate="print"/>
            <a:stretch>
              <a:fillRect/>
            </a:stretch>
          </p:blipFill>
          <p:spPr>
            <a:xfrm>
              <a:off x="2828925" y="243549"/>
              <a:ext cx="4585268" cy="522565"/>
            </a:xfrm>
            <a:prstGeom prst="rect">
              <a:avLst/>
            </a:prstGeom>
          </p:spPr>
        </p:pic>
        <p:sp>
          <p:nvSpPr>
            <p:cNvPr id="24" name="object 7">
              <a:extLst>
                <a:ext uri="{FF2B5EF4-FFF2-40B4-BE49-F238E27FC236}">
                  <a16:creationId xmlns:a16="http://schemas.microsoft.com/office/drawing/2014/main" id="{EF5B48B8-D150-0E57-59D0-4E3B78C29486}"/>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r>
                <a:rPr lang="en-US" dirty="0">
                  <a:solidFill>
                    <a:schemeClr val="bg1"/>
                  </a:solidFill>
                  <a:latin typeface="Times New Roman" panose="02020603050405020304" pitchFamily="18" charset="0"/>
                  <a:cs typeface="Times New Roman" panose="02020603050405020304" pitchFamily="18" charset="0"/>
                </a:rPr>
                <a:t>                       </a:t>
              </a:r>
              <a:endParaRPr sz="2000" b="1" dirty="0">
                <a:solidFill>
                  <a:schemeClr val="bg1"/>
                </a:solidFill>
                <a:latin typeface="Times New Roman" panose="02020603050405020304" pitchFamily="18" charset="0"/>
                <a:cs typeface="Times New Roman" panose="02020603050405020304" pitchFamily="18" charset="0"/>
              </a:endParaRPr>
            </a:p>
          </p:txBody>
        </p:sp>
      </p:grpSp>
      <p:sp>
        <p:nvSpPr>
          <p:cNvPr id="25" name="TextBox 24"/>
          <p:cNvSpPr txBox="1"/>
          <p:nvPr/>
        </p:nvSpPr>
        <p:spPr>
          <a:xfrm>
            <a:off x="2468880" y="396841"/>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lang="en-IN" dirty="0">
                <a:solidFill>
                  <a:schemeClr val="bg1"/>
                </a:solidFill>
                <a:latin typeface="Times New Roman" pitchFamily="18" charset="0"/>
                <a:cs typeface="Times New Roman" pitchFamily="18" charset="0"/>
              </a:rPr>
              <a:t>Data Visualization</a:t>
            </a:r>
            <a:endParaRPr dirty="0">
              <a:solidFill>
                <a:schemeClr val="bg1"/>
              </a:solidFill>
              <a:latin typeface="Times New Roman" pitchFamily="18" charset="0"/>
              <a:cs typeface="Times New Roman" pitchFamily="18" charset="0"/>
            </a:endParaRPr>
          </a:p>
        </p:txBody>
      </p:sp>
      <p:sp>
        <p:nvSpPr>
          <p:cNvPr id="26" name="TextBox 25"/>
          <p:cNvSpPr txBox="1"/>
          <p:nvPr/>
        </p:nvSpPr>
        <p:spPr>
          <a:xfrm>
            <a:off x="411480" y="1234440"/>
            <a:ext cx="9144000" cy="365760"/>
          </a:xfrm>
          <a:prstGeom prst="rect">
            <a:avLst/>
          </a:prstGeom>
          <a:noFill/>
        </p:spPr>
        <p:txBody>
          <a:bodyPr wrap="none">
            <a:spAutoFit/>
          </a:bodyPr>
          <a:lstStyle/>
          <a:p>
            <a:r>
              <a:rPr sz="1300" i="1">
                <a:solidFill>
                  <a:srgbClr val="808080"/>
                </a:solidFill>
                <a:latin typeface="Times New Roman"/>
              </a:rPr>
              <a:t>Illustrative sample charts — regenerate these using your own project's data</a:t>
            </a:r>
          </a:p>
        </p:txBody>
      </p:sp>
      <p:pic>
        <p:nvPicPr>
          <p:cNvPr id="27" name="Picture 26" descr="bar.png"/>
          <p:cNvPicPr>
            <a:picLocks noChangeAspect="1"/>
          </p:cNvPicPr>
          <p:nvPr/>
        </p:nvPicPr>
        <p:blipFill>
          <a:blip r:embed="rId5"/>
          <a:stretch>
            <a:fillRect/>
          </a:stretch>
        </p:blipFill>
        <p:spPr>
          <a:xfrm>
            <a:off x="365760" y="1691640"/>
            <a:ext cx="4480560" cy="2926080"/>
          </a:xfrm>
          <a:prstGeom prst="rect">
            <a:avLst/>
          </a:prstGeom>
        </p:spPr>
      </p:pic>
      <p:pic>
        <p:nvPicPr>
          <p:cNvPr id="28" name="Picture 27" descr="pie.png"/>
          <p:cNvPicPr>
            <a:picLocks noChangeAspect="1"/>
          </p:cNvPicPr>
          <p:nvPr/>
        </p:nvPicPr>
        <p:blipFill>
          <a:blip r:embed="rId6"/>
          <a:stretch>
            <a:fillRect/>
          </a:stretch>
        </p:blipFill>
        <p:spPr>
          <a:xfrm>
            <a:off x="5029200" y="1691640"/>
            <a:ext cx="4480560" cy="2926080"/>
          </a:xfrm>
          <a:prstGeom prst="rect">
            <a:avLst/>
          </a:prstGeom>
        </p:spPr>
      </p:pic>
      <p:pic>
        <p:nvPicPr>
          <p:cNvPr id="29" name="Picture 28" descr="line.png"/>
          <p:cNvPicPr>
            <a:picLocks noChangeAspect="1"/>
          </p:cNvPicPr>
          <p:nvPr/>
        </p:nvPicPr>
        <p:blipFill>
          <a:blip r:embed="rId7"/>
          <a:stretch>
            <a:fillRect/>
          </a:stretch>
        </p:blipFill>
        <p:spPr>
          <a:xfrm>
            <a:off x="365760" y="4709160"/>
            <a:ext cx="4480560" cy="2926080"/>
          </a:xfrm>
          <a:prstGeom prst="rect">
            <a:avLst/>
          </a:prstGeom>
        </p:spPr>
      </p:pic>
      <p:pic>
        <p:nvPicPr>
          <p:cNvPr id="30" name="Picture 29" descr="heatmap.png"/>
          <p:cNvPicPr>
            <a:picLocks noChangeAspect="1"/>
          </p:cNvPicPr>
          <p:nvPr/>
        </p:nvPicPr>
        <p:blipFill>
          <a:blip r:embed="rId8"/>
          <a:stretch>
            <a:fillRect/>
          </a:stretch>
        </p:blipFill>
        <p:spPr>
          <a:xfrm>
            <a:off x="5029200" y="4709160"/>
            <a:ext cx="4480560" cy="2926080"/>
          </a:xfrm>
          <a:prstGeom prst="rect">
            <a:avLst/>
          </a:prstGeom>
        </p:spPr>
      </p:pic>
      <p:pic>
        <p:nvPicPr>
          <p:cNvPr id="3" name="Picture 2">
            <a:extLst>
              <a:ext uri="{FF2B5EF4-FFF2-40B4-BE49-F238E27FC236}">
                <a16:creationId xmlns:a16="http://schemas.microsoft.com/office/drawing/2014/main" id="{1B63ABAF-C6E4-F348-CDC9-D8E5BA70FA74}"/>
              </a:ext>
            </a:extLst>
          </p:cNvPr>
          <p:cNvPicPr>
            <a:picLocks noChangeAspect="1"/>
          </p:cNvPicPr>
          <p:nvPr/>
        </p:nvPicPr>
        <p:blipFill>
          <a:blip r:embed="rId9"/>
          <a:stretch>
            <a:fillRect/>
          </a:stretch>
        </p:blipFill>
        <p:spPr>
          <a:xfrm>
            <a:off x="0" y="2403"/>
            <a:ext cx="10058400" cy="7767594"/>
          </a:xfrm>
          <a:prstGeom prst="rect">
            <a:avLst/>
          </a:prstGeom>
        </p:spPr>
      </p:pic>
      <p:pic>
        <p:nvPicPr>
          <p:cNvPr id="5" name="object 3">
            <a:extLst>
              <a:ext uri="{FF2B5EF4-FFF2-40B4-BE49-F238E27FC236}">
                <a16:creationId xmlns:a16="http://schemas.microsoft.com/office/drawing/2014/main" id="{B455443E-A829-157F-AB82-8D2BE0405DCE}"/>
              </a:ext>
            </a:extLst>
          </p:cNvPr>
          <p:cNvPicPr/>
          <p:nvPr/>
        </p:nvPicPr>
        <p:blipFill>
          <a:blip r:embed="rId10" cstate="print"/>
          <a:stretch>
            <a:fillRect/>
          </a:stretch>
        </p:blipFill>
        <p:spPr>
          <a:xfrm>
            <a:off x="88457" y="110255"/>
            <a:ext cx="1968943" cy="724226"/>
          </a:xfrm>
          <a:prstGeom prst="rect">
            <a:avLst/>
          </a:prstGeom>
        </p:spPr>
      </p:pic>
    </p:spTree>
    <p:extLst>
      <p:ext uri="{BB962C8B-B14F-4D97-AF65-F5344CB8AC3E}">
        <p14:creationId xmlns:p14="http://schemas.microsoft.com/office/powerpoint/2010/main" val="37516066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object 3">
            <a:extLst>
              <a:ext uri="{FF2B5EF4-FFF2-40B4-BE49-F238E27FC236}">
                <a16:creationId xmlns:a16="http://schemas.microsoft.com/office/drawing/2014/main" id="{D26E0863-A3EE-1EC4-F128-4D4F1A60D3A0}"/>
              </a:ext>
            </a:extLst>
          </p:cNvPr>
          <p:cNvGrpSpPr/>
          <p:nvPr/>
        </p:nvGrpSpPr>
        <p:grpSpPr>
          <a:xfrm>
            <a:off x="2590800" y="0"/>
            <a:ext cx="5103904" cy="1198311"/>
            <a:chOff x="2648188" y="47148"/>
            <a:chExt cx="5103904" cy="1198311"/>
          </a:xfrm>
        </p:grpSpPr>
        <p:pic>
          <p:nvPicPr>
            <p:cNvPr id="5" name="object 4">
              <a:extLst>
                <a:ext uri="{FF2B5EF4-FFF2-40B4-BE49-F238E27FC236}">
                  <a16:creationId xmlns:a16="http://schemas.microsoft.com/office/drawing/2014/main" id="{77890B8C-7EC3-B7B1-BF56-4F5DE13755D4}"/>
                </a:ext>
              </a:extLst>
            </p:cNvPr>
            <p:cNvPicPr/>
            <p:nvPr/>
          </p:nvPicPr>
          <p:blipFill>
            <a:blip r:embed="rId2" cstate="print"/>
            <a:stretch>
              <a:fillRect/>
            </a:stretch>
          </p:blipFill>
          <p:spPr>
            <a:xfrm>
              <a:off x="2648188" y="47148"/>
              <a:ext cx="5103904" cy="1198311"/>
            </a:xfrm>
            <a:prstGeom prst="rect">
              <a:avLst/>
            </a:prstGeom>
          </p:spPr>
        </p:pic>
        <p:pic>
          <p:nvPicPr>
            <p:cNvPr id="6" name="object 5">
              <a:extLst>
                <a:ext uri="{FF2B5EF4-FFF2-40B4-BE49-F238E27FC236}">
                  <a16:creationId xmlns:a16="http://schemas.microsoft.com/office/drawing/2014/main" id="{E9CC3DEB-E45E-85F9-CD38-C2C4966FBC30}"/>
                </a:ext>
              </a:extLst>
            </p:cNvPr>
            <p:cNvPicPr/>
            <p:nvPr/>
          </p:nvPicPr>
          <p:blipFill>
            <a:blip r:embed="rId3" cstate="print"/>
            <a:stretch>
              <a:fillRect/>
            </a:stretch>
          </p:blipFill>
          <p:spPr>
            <a:xfrm>
              <a:off x="2703195" y="86439"/>
              <a:ext cx="4997767" cy="1092279"/>
            </a:xfrm>
            <a:prstGeom prst="rect">
              <a:avLst/>
            </a:prstGeom>
          </p:spPr>
        </p:pic>
        <p:pic>
          <p:nvPicPr>
            <p:cNvPr id="7" name="object 6">
              <a:extLst>
                <a:ext uri="{FF2B5EF4-FFF2-40B4-BE49-F238E27FC236}">
                  <a16:creationId xmlns:a16="http://schemas.microsoft.com/office/drawing/2014/main" id="{4C3D8E05-12DF-F9A5-1AF2-87C24DA53BBC}"/>
                </a:ext>
              </a:extLst>
            </p:cNvPr>
            <p:cNvPicPr/>
            <p:nvPr/>
          </p:nvPicPr>
          <p:blipFill>
            <a:blip r:embed="rId4" cstate="print"/>
            <a:stretch>
              <a:fillRect/>
            </a:stretch>
          </p:blipFill>
          <p:spPr>
            <a:xfrm>
              <a:off x="2828925" y="243549"/>
              <a:ext cx="4585268" cy="522565"/>
            </a:xfrm>
            <a:prstGeom prst="rect">
              <a:avLst/>
            </a:prstGeom>
          </p:spPr>
        </p:pic>
        <p:sp>
          <p:nvSpPr>
            <p:cNvPr id="8" name="object 7">
              <a:extLst>
                <a:ext uri="{FF2B5EF4-FFF2-40B4-BE49-F238E27FC236}">
                  <a16:creationId xmlns:a16="http://schemas.microsoft.com/office/drawing/2014/main" id="{EF5B48B8-D150-0E57-59D0-4E3B78C29486}"/>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r>
                <a:rPr lang="en-US" dirty="0">
                  <a:solidFill>
                    <a:schemeClr val="bg1"/>
                  </a:solidFill>
                  <a:latin typeface="Times New Roman" panose="02020603050405020304" pitchFamily="18" charset="0"/>
                  <a:cs typeface="Times New Roman" panose="02020603050405020304" pitchFamily="18" charset="0"/>
                </a:rPr>
                <a:t>                       </a:t>
              </a:r>
              <a:endParaRPr sz="2000" b="1" dirty="0">
                <a:solidFill>
                  <a:schemeClr val="bg1"/>
                </a:solidFill>
                <a:latin typeface="Times New Roman" panose="02020603050405020304" pitchFamily="18" charset="0"/>
                <a:cs typeface="Times New Roman" panose="02020603050405020304" pitchFamily="18" charset="0"/>
              </a:endParaRPr>
            </a:p>
          </p:txBody>
        </p:sp>
      </p:grpSp>
      <p:sp>
        <p:nvSpPr>
          <p:cNvPr id="9" name="TextBox 8"/>
          <p:cNvSpPr txBox="1"/>
          <p:nvPr/>
        </p:nvSpPr>
        <p:spPr>
          <a:xfrm>
            <a:off x="3429000" y="152400"/>
            <a:ext cx="3265998" cy="830997"/>
          </a:xfrm>
          <a:prstGeom prst="rect">
            <a:avLst/>
          </a:prstGeom>
          <a:noFill/>
        </p:spPr>
        <p:txBody>
          <a:bodyPr wrap="square" rtlCol="0">
            <a:spAutoFit/>
          </a:bodyPr>
          <a:lstStyle/>
          <a:p>
            <a:pPr algn="ctr"/>
            <a:r>
              <a:rPr lang="en-IN" sz="2400" dirty="0">
                <a:solidFill>
                  <a:schemeClr val="bg1"/>
                </a:solidFill>
                <a:latin typeface="Times New Roman" pitchFamily="18" charset="0"/>
                <a:cs typeface="Times New Roman" pitchFamily="18" charset="0"/>
              </a:rPr>
              <a:t>Key Insights &amp; Analysis</a:t>
            </a:r>
          </a:p>
          <a:p>
            <a:endParaRPr lang="en-US" sz="2400" dirty="0"/>
          </a:p>
        </p:txBody>
      </p:sp>
      <p:sp>
        <p:nvSpPr>
          <p:cNvPr id="10" name="TextBox 9"/>
          <p:cNvSpPr txBox="1"/>
          <p:nvPr/>
        </p:nvSpPr>
        <p:spPr>
          <a:xfrm>
            <a:off x="662192" y="1355421"/>
            <a:ext cx="8961120" cy="5524589"/>
          </a:xfrm>
          <a:prstGeom prst="rect">
            <a:avLst/>
          </a:prstGeom>
          <a:noFill/>
        </p:spPr>
        <p:txBody>
          <a:bodyPr wrap="square">
            <a:spAutoFit/>
          </a:bodyPr>
          <a:lstStyle/>
          <a:p>
            <a:r>
              <a:rPr lang="en-IN" sz="2800" b="1" dirty="0"/>
              <a:t>Overall Transaction Statistics : -</a:t>
            </a:r>
          </a:p>
          <a:p>
            <a:endParaRPr lang="en-IN" sz="2800" dirty="0"/>
          </a:p>
          <a:p>
            <a:pPr lvl="0"/>
            <a:r>
              <a:rPr lang="en-IN" sz="2800" dirty="0">
                <a:latin typeface="Times New Roman" panose="02020603050405020304" pitchFamily="18" charset="0"/>
                <a:cs typeface="Times New Roman" panose="02020603050405020304" pitchFamily="18" charset="0"/>
              </a:rPr>
              <a:t>• </a:t>
            </a:r>
            <a:r>
              <a:rPr lang="en-IN" sz="2800" b="1" dirty="0"/>
              <a:t>Total Transactions:</a:t>
            </a:r>
            <a:r>
              <a:rPr lang="en-IN" sz="2800" dirty="0"/>
              <a:t> 250,000 </a:t>
            </a:r>
          </a:p>
          <a:p>
            <a:pPr lvl="0"/>
            <a:r>
              <a:rPr lang="en-IN" sz="2800" dirty="0">
                <a:latin typeface="Times New Roman" panose="02020603050405020304" pitchFamily="18" charset="0"/>
                <a:cs typeface="Times New Roman" panose="02020603050405020304" pitchFamily="18" charset="0"/>
              </a:rPr>
              <a:t>• </a:t>
            </a:r>
            <a:r>
              <a:rPr lang="en-IN" sz="2800" b="1" dirty="0"/>
              <a:t>Total Transaction Value:</a:t>
            </a:r>
            <a:r>
              <a:rPr lang="en-IN" sz="2800" dirty="0"/>
              <a:t> ₹327,939,009 </a:t>
            </a:r>
          </a:p>
          <a:p>
            <a:pPr lvl="0"/>
            <a:r>
              <a:rPr lang="en-IN" sz="2800" dirty="0">
                <a:latin typeface="Times New Roman" panose="02020603050405020304" pitchFamily="18" charset="0"/>
                <a:cs typeface="Times New Roman" panose="02020603050405020304" pitchFamily="18" charset="0"/>
              </a:rPr>
              <a:t>• </a:t>
            </a:r>
            <a:r>
              <a:rPr lang="en-IN" sz="2800" b="1" dirty="0"/>
              <a:t>Average Transaction:</a:t>
            </a:r>
            <a:r>
              <a:rPr lang="en-IN" sz="2800" dirty="0"/>
              <a:t> ₹1,311.76 </a:t>
            </a:r>
          </a:p>
          <a:p>
            <a:pPr lvl="0"/>
            <a:r>
              <a:rPr lang="en-IN" sz="2800" dirty="0">
                <a:latin typeface="Times New Roman" panose="02020603050405020304" pitchFamily="18" charset="0"/>
                <a:cs typeface="Times New Roman" panose="02020603050405020304" pitchFamily="18" charset="0"/>
              </a:rPr>
              <a:t>• </a:t>
            </a:r>
            <a:r>
              <a:rPr lang="en-IN" sz="2800" b="1" dirty="0"/>
              <a:t>Minimum Transaction:</a:t>
            </a:r>
            <a:r>
              <a:rPr lang="en-IN" sz="2800" dirty="0"/>
              <a:t> ₹10 </a:t>
            </a:r>
          </a:p>
          <a:p>
            <a:pPr lvl="0"/>
            <a:r>
              <a:rPr lang="en-IN" sz="2800" dirty="0">
                <a:latin typeface="Times New Roman" panose="02020603050405020304" pitchFamily="18" charset="0"/>
                <a:cs typeface="Times New Roman" panose="02020603050405020304" pitchFamily="18" charset="0"/>
              </a:rPr>
              <a:t>• </a:t>
            </a:r>
            <a:r>
              <a:rPr lang="en-IN" sz="2800" b="1" dirty="0"/>
              <a:t>Maximum Transaction:</a:t>
            </a:r>
            <a:r>
              <a:rPr lang="en-IN" sz="2800" dirty="0"/>
              <a:t> ₹42,099 </a:t>
            </a:r>
          </a:p>
          <a:p>
            <a:pPr lvl="0"/>
            <a:endParaRPr lang="en-IN" sz="2800" dirty="0"/>
          </a:p>
          <a:p>
            <a:r>
              <a:rPr lang="en-IN" sz="2800" b="1" dirty="0"/>
              <a:t>Transaction Status : -</a:t>
            </a:r>
          </a:p>
          <a:p>
            <a:endParaRPr lang="en-IN" sz="2800" dirty="0"/>
          </a:p>
          <a:p>
            <a:pPr lvl="0"/>
            <a:r>
              <a:rPr lang="en-IN" sz="2800" dirty="0">
                <a:latin typeface="Times New Roman" panose="02020603050405020304" pitchFamily="18" charset="0"/>
                <a:cs typeface="Times New Roman" panose="02020603050405020304" pitchFamily="18" charset="0"/>
              </a:rPr>
              <a:t>• </a:t>
            </a:r>
            <a:r>
              <a:rPr lang="en-IN" sz="2800" b="1" dirty="0"/>
              <a:t>Successful:</a:t>
            </a:r>
            <a:r>
              <a:rPr lang="en-IN" sz="2800" dirty="0"/>
              <a:t> 237,624 — 95.05% </a:t>
            </a:r>
          </a:p>
          <a:p>
            <a:pPr lvl="0"/>
            <a:r>
              <a:rPr lang="en-IN" sz="2800" dirty="0">
                <a:latin typeface="Times New Roman" panose="02020603050405020304" pitchFamily="18" charset="0"/>
                <a:cs typeface="Times New Roman" panose="02020603050405020304" pitchFamily="18" charset="0"/>
              </a:rPr>
              <a:t>• </a:t>
            </a:r>
            <a:r>
              <a:rPr lang="en-IN" sz="2800" b="1" dirty="0"/>
              <a:t>Failed:</a:t>
            </a:r>
            <a:r>
              <a:rPr lang="en-IN" sz="2800" dirty="0"/>
              <a:t> 12,376 — 4.95% </a:t>
            </a:r>
          </a:p>
          <a:p>
            <a:pPr>
              <a:spcAft>
                <a:spcPts val="1400"/>
              </a:spcAft>
            </a:pPr>
            <a:endParaRPr sz="1700" dirty="0">
              <a:solidFill>
                <a:srgbClr val="2D2D2D"/>
              </a:solidFill>
              <a:latin typeface="Times New Roman"/>
            </a:endParaRPr>
          </a:p>
        </p:txBody>
      </p:sp>
      <p:pic>
        <p:nvPicPr>
          <p:cNvPr id="3" name="object 3">
            <a:extLst>
              <a:ext uri="{FF2B5EF4-FFF2-40B4-BE49-F238E27FC236}">
                <a16:creationId xmlns:a16="http://schemas.microsoft.com/office/drawing/2014/main" id="{99605456-3336-9461-B70F-AEDE613C85C6}"/>
              </a:ext>
            </a:extLst>
          </p:cNvPr>
          <p:cNvPicPr/>
          <p:nvPr/>
        </p:nvPicPr>
        <p:blipFill>
          <a:blip r:embed="rId5" cstate="print"/>
          <a:stretch>
            <a:fillRect/>
          </a:stretch>
        </p:blipFill>
        <p:spPr>
          <a:xfrm>
            <a:off x="290750" y="80561"/>
            <a:ext cx="1614250" cy="6567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object 3">
            <a:extLst>
              <a:ext uri="{FF2B5EF4-FFF2-40B4-BE49-F238E27FC236}">
                <a16:creationId xmlns:a16="http://schemas.microsoft.com/office/drawing/2014/main" id="{67ACC245-70D9-3E8C-5FB8-754CFCF29BA7}"/>
              </a:ext>
            </a:extLst>
          </p:cNvPr>
          <p:cNvGrpSpPr/>
          <p:nvPr/>
        </p:nvGrpSpPr>
        <p:grpSpPr>
          <a:xfrm>
            <a:off x="2477248" y="152400"/>
            <a:ext cx="5103904" cy="1198311"/>
            <a:chOff x="2648188" y="47148"/>
            <a:chExt cx="5103904" cy="1198311"/>
          </a:xfrm>
        </p:grpSpPr>
        <p:pic>
          <p:nvPicPr>
            <p:cNvPr id="8" name="object 4">
              <a:extLst>
                <a:ext uri="{FF2B5EF4-FFF2-40B4-BE49-F238E27FC236}">
                  <a16:creationId xmlns:a16="http://schemas.microsoft.com/office/drawing/2014/main" id="{6520D471-D4E5-A862-75B1-D9BCC13CCE76}"/>
                </a:ext>
              </a:extLst>
            </p:cNvPr>
            <p:cNvPicPr/>
            <p:nvPr/>
          </p:nvPicPr>
          <p:blipFill>
            <a:blip r:embed="rId2" cstate="print"/>
            <a:stretch>
              <a:fillRect/>
            </a:stretch>
          </p:blipFill>
          <p:spPr>
            <a:xfrm>
              <a:off x="2648188" y="47148"/>
              <a:ext cx="5103904" cy="1198311"/>
            </a:xfrm>
            <a:prstGeom prst="rect">
              <a:avLst/>
            </a:prstGeom>
          </p:spPr>
        </p:pic>
        <p:pic>
          <p:nvPicPr>
            <p:cNvPr id="9" name="object 5">
              <a:extLst>
                <a:ext uri="{FF2B5EF4-FFF2-40B4-BE49-F238E27FC236}">
                  <a16:creationId xmlns:a16="http://schemas.microsoft.com/office/drawing/2014/main" id="{AD22DAB3-C37B-1766-28C4-6EB13F7079CD}"/>
                </a:ext>
              </a:extLst>
            </p:cNvPr>
            <p:cNvPicPr/>
            <p:nvPr/>
          </p:nvPicPr>
          <p:blipFill>
            <a:blip r:embed="rId3" cstate="print"/>
            <a:stretch>
              <a:fillRect/>
            </a:stretch>
          </p:blipFill>
          <p:spPr>
            <a:xfrm>
              <a:off x="2703195" y="86439"/>
              <a:ext cx="4997767" cy="1092279"/>
            </a:xfrm>
            <a:prstGeom prst="rect">
              <a:avLst/>
            </a:prstGeom>
          </p:spPr>
        </p:pic>
        <p:pic>
          <p:nvPicPr>
            <p:cNvPr id="10" name="object 6">
              <a:extLst>
                <a:ext uri="{FF2B5EF4-FFF2-40B4-BE49-F238E27FC236}">
                  <a16:creationId xmlns:a16="http://schemas.microsoft.com/office/drawing/2014/main" id="{CDC96198-DF83-D7E8-5187-D35038090D7B}"/>
                </a:ext>
              </a:extLst>
            </p:cNvPr>
            <p:cNvPicPr/>
            <p:nvPr/>
          </p:nvPicPr>
          <p:blipFill>
            <a:blip r:embed="rId4" cstate="print"/>
            <a:stretch>
              <a:fillRect/>
            </a:stretch>
          </p:blipFill>
          <p:spPr>
            <a:xfrm>
              <a:off x="2828925" y="243549"/>
              <a:ext cx="4585268" cy="522565"/>
            </a:xfrm>
            <a:prstGeom prst="rect">
              <a:avLst/>
            </a:prstGeom>
          </p:spPr>
        </p:pic>
        <p:sp>
          <p:nvSpPr>
            <p:cNvPr id="11" name="object 7">
              <a:extLst>
                <a:ext uri="{FF2B5EF4-FFF2-40B4-BE49-F238E27FC236}">
                  <a16:creationId xmlns:a16="http://schemas.microsoft.com/office/drawing/2014/main" id="{BAA191BE-B616-456E-A32A-06C5D11989B1}"/>
                </a:ext>
              </a:extLst>
            </p:cNvPr>
            <p:cNvSpPr/>
            <p:nvPr/>
          </p:nvSpPr>
          <p:spPr>
            <a:xfrm>
              <a:off x="2828925" y="282892"/>
              <a:ext cx="4534295"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r>
                <a:rPr lang="en-US" dirty="0"/>
                <a:t>                     </a:t>
              </a:r>
              <a:endParaRPr sz="2800" dirty="0">
                <a:solidFill>
                  <a:schemeClr val="bg1"/>
                </a:solidFill>
              </a:endParaRPr>
            </a:p>
          </p:txBody>
        </p:sp>
      </p:grpSp>
      <p:sp>
        <p:nvSpPr>
          <p:cNvPr id="12" name="TextBox 11"/>
          <p:cNvSpPr txBox="1"/>
          <p:nvPr/>
        </p:nvSpPr>
        <p:spPr>
          <a:xfrm>
            <a:off x="2477248" y="393846"/>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dirty="0">
                <a:solidFill>
                  <a:schemeClr val="bg1"/>
                </a:solidFill>
                <a:latin typeface="Times New Roman" pitchFamily="18" charset="0"/>
                <a:cs typeface="Times New Roman" pitchFamily="18" charset="0"/>
              </a:rPr>
              <a:t>Implementation Workflow</a:t>
            </a:r>
          </a:p>
        </p:txBody>
      </p:sp>
      <p:sp>
        <p:nvSpPr>
          <p:cNvPr id="13" name="TextBox 12"/>
          <p:cNvSpPr txBox="1"/>
          <p:nvPr/>
        </p:nvSpPr>
        <p:spPr>
          <a:xfrm>
            <a:off x="411480" y="1234440"/>
            <a:ext cx="9144000" cy="365760"/>
          </a:xfrm>
          <a:prstGeom prst="rect">
            <a:avLst/>
          </a:prstGeom>
          <a:noFill/>
        </p:spPr>
        <p:txBody>
          <a:bodyPr wrap="none">
            <a:spAutoFit/>
          </a:bodyPr>
          <a:lstStyle/>
          <a:p>
            <a:pPr algn="ctr"/>
            <a:r>
              <a:rPr sz="1300" i="1">
                <a:solidFill>
                  <a:srgbClr val="808080"/>
                </a:solidFill>
                <a:latin typeface="Times New Roman"/>
              </a:rPr>
              <a:t>From raw data to actionable insights — adapt these stages to your own project</a:t>
            </a:r>
          </a:p>
        </p:txBody>
      </p:sp>
      <p:sp>
        <p:nvSpPr>
          <p:cNvPr id="14" name="Chevron 13"/>
          <p:cNvSpPr/>
          <p:nvPr/>
        </p:nvSpPr>
        <p:spPr>
          <a:xfrm>
            <a:off x="228600" y="1719103"/>
            <a:ext cx="3246120" cy="960120"/>
          </a:xfrm>
          <a:prstGeom prst="chevron">
            <a:avLst/>
          </a:prstGeom>
          <a:solidFill>
            <a:srgbClr val="23346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dirty="0">
                <a:solidFill>
                  <a:srgbClr val="FFFFFF"/>
                </a:solidFill>
                <a:latin typeface="Times New Roman"/>
              </a:rPr>
              <a:t>1. Data
Collection</a:t>
            </a:r>
          </a:p>
        </p:txBody>
      </p:sp>
      <p:sp>
        <p:nvSpPr>
          <p:cNvPr id="15" name="Chevron 14"/>
          <p:cNvSpPr/>
          <p:nvPr/>
        </p:nvSpPr>
        <p:spPr>
          <a:xfrm>
            <a:off x="3124200" y="1719103"/>
            <a:ext cx="3246120" cy="960120"/>
          </a:xfrm>
          <a:prstGeom prst="chevron">
            <a:avLst/>
          </a:prstGeom>
          <a:solidFill>
            <a:srgbClr val="FF66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dirty="0">
                <a:solidFill>
                  <a:srgbClr val="FFFFFF"/>
                </a:solidFill>
                <a:latin typeface="Times New Roman"/>
              </a:rPr>
              <a:t>2. Data
Cleaning</a:t>
            </a:r>
          </a:p>
        </p:txBody>
      </p:sp>
      <p:sp>
        <p:nvSpPr>
          <p:cNvPr id="16" name="Chevron 15"/>
          <p:cNvSpPr/>
          <p:nvPr/>
        </p:nvSpPr>
        <p:spPr>
          <a:xfrm>
            <a:off x="6049537" y="1711855"/>
            <a:ext cx="3246120" cy="960120"/>
          </a:xfrm>
          <a:prstGeom prst="chevron">
            <a:avLst/>
          </a:prstGeom>
          <a:solidFill>
            <a:srgbClr val="23346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latin typeface="Times New Roman"/>
              </a:rPr>
              <a:t>3. Pre-
processing</a:t>
            </a:r>
          </a:p>
        </p:txBody>
      </p:sp>
      <p:sp>
        <p:nvSpPr>
          <p:cNvPr id="17" name="Chevron 16"/>
          <p:cNvSpPr/>
          <p:nvPr/>
        </p:nvSpPr>
        <p:spPr>
          <a:xfrm>
            <a:off x="228600" y="3361863"/>
            <a:ext cx="3246120" cy="960120"/>
          </a:xfrm>
          <a:prstGeom prst="chevron">
            <a:avLst/>
          </a:prstGeom>
          <a:solidFill>
            <a:srgbClr val="FF66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dirty="0">
                <a:solidFill>
                  <a:srgbClr val="FFFFFF"/>
                </a:solidFill>
                <a:latin typeface="Times New Roman"/>
              </a:rPr>
              <a:t>4. EDA</a:t>
            </a:r>
          </a:p>
        </p:txBody>
      </p:sp>
      <p:sp>
        <p:nvSpPr>
          <p:cNvPr id="18" name="Chevron 17"/>
          <p:cNvSpPr/>
          <p:nvPr/>
        </p:nvSpPr>
        <p:spPr>
          <a:xfrm>
            <a:off x="3189806" y="3404423"/>
            <a:ext cx="3246120" cy="960120"/>
          </a:xfrm>
          <a:prstGeom prst="chevron">
            <a:avLst/>
          </a:prstGeom>
          <a:solidFill>
            <a:srgbClr val="23346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latin typeface="Times New Roman"/>
              </a:rPr>
              <a:t>5. Visualization</a:t>
            </a:r>
          </a:p>
        </p:txBody>
      </p:sp>
      <p:sp>
        <p:nvSpPr>
          <p:cNvPr id="19" name="Chevron 18"/>
          <p:cNvSpPr/>
          <p:nvPr/>
        </p:nvSpPr>
        <p:spPr>
          <a:xfrm>
            <a:off x="6151012" y="3373014"/>
            <a:ext cx="3246120" cy="960120"/>
          </a:xfrm>
          <a:prstGeom prst="chevron">
            <a:avLst/>
          </a:prstGeom>
          <a:solidFill>
            <a:srgbClr val="FF66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a:solidFill>
                  <a:srgbClr val="FFFFFF"/>
                </a:solidFill>
                <a:latin typeface="Times New Roman"/>
              </a:rPr>
              <a:t>6. Insights &amp;
Report</a:t>
            </a:r>
          </a:p>
        </p:txBody>
      </p:sp>
      <p:sp>
        <p:nvSpPr>
          <p:cNvPr id="20" name="Down Arrow 19"/>
          <p:cNvSpPr/>
          <p:nvPr/>
        </p:nvSpPr>
        <p:spPr>
          <a:xfrm>
            <a:off x="4572000" y="2721783"/>
            <a:ext cx="640080" cy="640080"/>
          </a:xfrm>
          <a:prstGeom prst="downArrow">
            <a:avLst/>
          </a:prstGeom>
          <a:solidFill>
            <a:srgbClr val="C25B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 y="6537960"/>
            <a:ext cx="9144000" cy="457200"/>
          </a:xfrm>
          <a:prstGeom prst="rect">
            <a:avLst/>
          </a:prstGeom>
          <a:noFill/>
        </p:spPr>
        <p:txBody>
          <a:bodyPr wrap="none">
            <a:spAutoFit/>
          </a:bodyPr>
          <a:lstStyle/>
          <a:p>
            <a:pPr algn="ctr"/>
            <a:r>
              <a:rPr sz="1300" i="1" dirty="0">
                <a:solidFill>
                  <a:srgbClr val="233464"/>
                </a:solidFill>
                <a:latin typeface="Times New Roman"/>
              </a:rPr>
              <a:t>Output: cleaned dataset → charts → a short set of actionable insights</a:t>
            </a:r>
          </a:p>
        </p:txBody>
      </p:sp>
      <p:sp>
        <p:nvSpPr>
          <p:cNvPr id="3" name="Chevron 16">
            <a:extLst>
              <a:ext uri="{FF2B5EF4-FFF2-40B4-BE49-F238E27FC236}">
                <a16:creationId xmlns:a16="http://schemas.microsoft.com/office/drawing/2014/main" id="{268F1796-F832-068C-424F-4A3FB35C26ED}"/>
              </a:ext>
            </a:extLst>
          </p:cNvPr>
          <p:cNvSpPr/>
          <p:nvPr/>
        </p:nvSpPr>
        <p:spPr>
          <a:xfrm>
            <a:off x="3155795" y="5082309"/>
            <a:ext cx="3246120" cy="960120"/>
          </a:xfrm>
          <a:prstGeom prst="chevron">
            <a:avLst/>
          </a:prstGeom>
          <a:solidFill>
            <a:srgbClr val="FF66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b="1" dirty="0">
                <a:solidFill>
                  <a:srgbClr val="FFFFFF"/>
                </a:solidFill>
                <a:latin typeface="Times New Roman"/>
              </a:rPr>
              <a:t>4. EDA</a:t>
            </a:r>
          </a:p>
        </p:txBody>
      </p:sp>
      <p:pic>
        <p:nvPicPr>
          <p:cNvPr id="4" name="object 3">
            <a:extLst>
              <a:ext uri="{FF2B5EF4-FFF2-40B4-BE49-F238E27FC236}">
                <a16:creationId xmlns:a16="http://schemas.microsoft.com/office/drawing/2014/main" id="{9A1C42DA-9884-4451-4E2A-97B0D5DA38D0}"/>
              </a:ext>
            </a:extLst>
          </p:cNvPr>
          <p:cNvPicPr/>
          <p:nvPr/>
        </p:nvPicPr>
        <p:blipFill>
          <a:blip r:embed="rId5" cstate="print"/>
          <a:stretch>
            <a:fillRect/>
          </a:stretch>
        </p:blipFill>
        <p:spPr>
          <a:xfrm>
            <a:off x="290750" y="80561"/>
            <a:ext cx="1614250" cy="656750"/>
          </a:xfrm>
          <a:prstGeom prst="rect">
            <a:avLst/>
          </a:prstGeom>
        </p:spPr>
      </p:pic>
      <p:pic>
        <p:nvPicPr>
          <p:cNvPr id="6" name="Picture 5">
            <a:extLst>
              <a:ext uri="{FF2B5EF4-FFF2-40B4-BE49-F238E27FC236}">
                <a16:creationId xmlns:a16="http://schemas.microsoft.com/office/drawing/2014/main" id="{0CD327D7-0E4B-404C-4A2D-CBAD087DE9FF}"/>
              </a:ext>
            </a:extLst>
          </p:cNvPr>
          <p:cNvPicPr>
            <a:picLocks noChangeAspect="1"/>
          </p:cNvPicPr>
          <p:nvPr/>
        </p:nvPicPr>
        <p:blipFill>
          <a:blip r:embed="rId6"/>
          <a:stretch>
            <a:fillRect/>
          </a:stretch>
        </p:blipFill>
        <p:spPr>
          <a:xfrm>
            <a:off x="16727" y="-1717"/>
            <a:ext cx="10058400" cy="7772400"/>
          </a:xfrm>
          <a:prstGeom prst="rect">
            <a:avLst/>
          </a:prstGeom>
        </p:spPr>
      </p:pic>
      <p:pic>
        <p:nvPicPr>
          <p:cNvPr id="23" name="object 3">
            <a:extLst>
              <a:ext uri="{FF2B5EF4-FFF2-40B4-BE49-F238E27FC236}">
                <a16:creationId xmlns:a16="http://schemas.microsoft.com/office/drawing/2014/main" id="{47C9DFE9-82BA-23A8-88A0-004737DF865C}"/>
              </a:ext>
            </a:extLst>
          </p:cNvPr>
          <p:cNvPicPr/>
          <p:nvPr/>
        </p:nvPicPr>
        <p:blipFill>
          <a:blip r:embed="rId5" cstate="print"/>
          <a:stretch>
            <a:fillRect/>
          </a:stretch>
        </p:blipFill>
        <p:spPr>
          <a:xfrm>
            <a:off x="176450" y="127888"/>
            <a:ext cx="1842850" cy="960120"/>
          </a:xfrm>
          <a:prstGeom prst="rect">
            <a:avLst/>
          </a:prstGeom>
        </p:spPr>
      </p:pic>
    </p:spTree>
    <p:extLst>
      <p:ext uri="{BB962C8B-B14F-4D97-AF65-F5344CB8AC3E}">
        <p14:creationId xmlns:p14="http://schemas.microsoft.com/office/powerpoint/2010/main" val="493525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object 3">
            <a:extLst>
              <a:ext uri="{FF2B5EF4-FFF2-40B4-BE49-F238E27FC236}">
                <a16:creationId xmlns:a16="http://schemas.microsoft.com/office/drawing/2014/main" id="{20B8B724-A73F-F006-222B-6A4FF27EB83E}"/>
              </a:ext>
            </a:extLst>
          </p:cNvPr>
          <p:cNvGrpSpPr/>
          <p:nvPr/>
        </p:nvGrpSpPr>
        <p:grpSpPr>
          <a:xfrm>
            <a:off x="2477248" y="152400"/>
            <a:ext cx="5103904" cy="1198311"/>
            <a:chOff x="2648188" y="47148"/>
            <a:chExt cx="5103904" cy="1198311"/>
          </a:xfrm>
        </p:grpSpPr>
        <p:pic>
          <p:nvPicPr>
            <p:cNvPr id="8" name="object 4">
              <a:extLst>
                <a:ext uri="{FF2B5EF4-FFF2-40B4-BE49-F238E27FC236}">
                  <a16:creationId xmlns:a16="http://schemas.microsoft.com/office/drawing/2014/main" id="{8D96FE08-6C48-29F6-B8BF-733A1FE4EFC2}"/>
                </a:ext>
              </a:extLst>
            </p:cNvPr>
            <p:cNvPicPr/>
            <p:nvPr/>
          </p:nvPicPr>
          <p:blipFill>
            <a:blip r:embed="rId2" cstate="print"/>
            <a:stretch>
              <a:fillRect/>
            </a:stretch>
          </p:blipFill>
          <p:spPr>
            <a:xfrm>
              <a:off x="2648188" y="47148"/>
              <a:ext cx="5103904" cy="1198311"/>
            </a:xfrm>
            <a:prstGeom prst="rect">
              <a:avLst/>
            </a:prstGeom>
          </p:spPr>
        </p:pic>
        <p:pic>
          <p:nvPicPr>
            <p:cNvPr id="9" name="object 5">
              <a:extLst>
                <a:ext uri="{FF2B5EF4-FFF2-40B4-BE49-F238E27FC236}">
                  <a16:creationId xmlns:a16="http://schemas.microsoft.com/office/drawing/2014/main" id="{F663E0BF-F2C3-9990-10F0-85152F3B7499}"/>
                </a:ext>
              </a:extLst>
            </p:cNvPr>
            <p:cNvPicPr/>
            <p:nvPr/>
          </p:nvPicPr>
          <p:blipFill>
            <a:blip r:embed="rId3" cstate="print"/>
            <a:stretch>
              <a:fillRect/>
            </a:stretch>
          </p:blipFill>
          <p:spPr>
            <a:xfrm>
              <a:off x="2703195" y="86439"/>
              <a:ext cx="4997767" cy="1092279"/>
            </a:xfrm>
            <a:prstGeom prst="rect">
              <a:avLst/>
            </a:prstGeom>
          </p:spPr>
        </p:pic>
        <p:pic>
          <p:nvPicPr>
            <p:cNvPr id="10" name="object 6">
              <a:extLst>
                <a:ext uri="{FF2B5EF4-FFF2-40B4-BE49-F238E27FC236}">
                  <a16:creationId xmlns:a16="http://schemas.microsoft.com/office/drawing/2014/main" id="{AF92C391-8A67-101D-C7DE-D42721562E91}"/>
                </a:ext>
              </a:extLst>
            </p:cNvPr>
            <p:cNvPicPr/>
            <p:nvPr/>
          </p:nvPicPr>
          <p:blipFill>
            <a:blip r:embed="rId4" cstate="print"/>
            <a:stretch>
              <a:fillRect/>
            </a:stretch>
          </p:blipFill>
          <p:spPr>
            <a:xfrm>
              <a:off x="2828925" y="243549"/>
              <a:ext cx="4585268" cy="522565"/>
            </a:xfrm>
            <a:prstGeom prst="rect">
              <a:avLst/>
            </a:prstGeom>
          </p:spPr>
        </p:pic>
        <p:sp>
          <p:nvSpPr>
            <p:cNvPr id="11" name="object 7">
              <a:extLst>
                <a:ext uri="{FF2B5EF4-FFF2-40B4-BE49-F238E27FC236}">
                  <a16:creationId xmlns:a16="http://schemas.microsoft.com/office/drawing/2014/main" id="{5C67209A-2109-EE49-1C12-165FDE2056AC}"/>
                </a:ext>
              </a:extLst>
            </p:cNvPr>
            <p:cNvSpPr/>
            <p:nvPr/>
          </p:nvSpPr>
          <p:spPr>
            <a:xfrm>
              <a:off x="2883931" y="282892"/>
              <a:ext cx="4479290" cy="416559"/>
            </a:xfrm>
            <a:custGeom>
              <a:avLst/>
              <a:gdLst/>
              <a:ahLst/>
              <a:cxnLst/>
              <a:rect l="l" t="t" r="r" b="b"/>
              <a:pathLst>
                <a:path w="4479290" h="416559">
                  <a:moveTo>
                    <a:pt x="4394158" y="0"/>
                  </a:moveTo>
                  <a:lnTo>
                    <a:pt x="84972" y="0"/>
                  </a:lnTo>
                  <a:lnTo>
                    <a:pt x="51863" y="5448"/>
                  </a:lnTo>
                  <a:lnTo>
                    <a:pt x="24831" y="20326"/>
                  </a:lnTo>
                  <a:lnTo>
                    <a:pt x="6705" y="42329"/>
                  </a:lnTo>
                  <a:lnTo>
                    <a:pt x="0" y="69361"/>
                  </a:lnTo>
                  <a:lnTo>
                    <a:pt x="0" y="346910"/>
                  </a:lnTo>
                  <a:lnTo>
                    <a:pt x="6705" y="373941"/>
                  </a:lnTo>
                  <a:lnTo>
                    <a:pt x="24831" y="395944"/>
                  </a:lnTo>
                  <a:lnTo>
                    <a:pt x="51863" y="410822"/>
                  </a:lnTo>
                  <a:lnTo>
                    <a:pt x="84972" y="416271"/>
                  </a:lnTo>
                  <a:lnTo>
                    <a:pt x="4394158" y="416271"/>
                  </a:lnTo>
                  <a:lnTo>
                    <a:pt x="4427267" y="410822"/>
                  </a:lnTo>
                  <a:lnTo>
                    <a:pt x="4454299" y="395944"/>
                  </a:lnTo>
                  <a:lnTo>
                    <a:pt x="4472425" y="373941"/>
                  </a:lnTo>
                  <a:lnTo>
                    <a:pt x="4479131" y="346910"/>
                  </a:lnTo>
                  <a:lnTo>
                    <a:pt x="4479131" y="69361"/>
                  </a:lnTo>
                  <a:lnTo>
                    <a:pt x="4472425" y="42329"/>
                  </a:lnTo>
                  <a:lnTo>
                    <a:pt x="4454299" y="20326"/>
                  </a:lnTo>
                  <a:lnTo>
                    <a:pt x="4427267" y="5448"/>
                  </a:lnTo>
                  <a:lnTo>
                    <a:pt x="4394158" y="0"/>
                  </a:lnTo>
                  <a:close/>
                </a:path>
              </a:pathLst>
            </a:custGeom>
            <a:solidFill>
              <a:srgbClr val="FF6600"/>
            </a:solidFill>
          </p:spPr>
          <p:txBody>
            <a:bodyPr wrap="square" lIns="0" tIns="0" rIns="0" bIns="0" rtlCol="0"/>
            <a:lstStyle/>
            <a:p>
              <a:endParaRPr/>
            </a:p>
          </p:txBody>
        </p:sp>
      </p:grpSp>
      <p:pic>
        <p:nvPicPr>
          <p:cNvPr id="13" name="object 3">
            <a:extLst>
              <a:ext uri="{FF2B5EF4-FFF2-40B4-BE49-F238E27FC236}">
                <a16:creationId xmlns:a16="http://schemas.microsoft.com/office/drawing/2014/main" id="{A2CEDFE4-2383-831F-CDEE-1CF3B0215E16}"/>
              </a:ext>
            </a:extLst>
          </p:cNvPr>
          <p:cNvPicPr/>
          <p:nvPr/>
        </p:nvPicPr>
        <p:blipFill>
          <a:blip r:embed="rId5" cstate="print"/>
          <a:stretch>
            <a:fillRect/>
          </a:stretch>
        </p:blipFill>
        <p:spPr>
          <a:xfrm>
            <a:off x="290750" y="204311"/>
            <a:ext cx="1163002" cy="424338"/>
          </a:xfrm>
          <a:prstGeom prst="rect">
            <a:avLst/>
          </a:prstGeom>
        </p:spPr>
      </p:pic>
      <p:sp>
        <p:nvSpPr>
          <p:cNvPr id="14" name="TextBox 13"/>
          <p:cNvSpPr txBox="1"/>
          <p:nvPr/>
        </p:nvSpPr>
        <p:spPr>
          <a:xfrm>
            <a:off x="2488870" y="368446"/>
            <a:ext cx="5120640" cy="430887"/>
          </a:xfrm>
          <a:prstGeom prst="rect">
            <a:avLst/>
          </a:prstGeom>
          <a:noFill/>
        </p:spPr>
        <p:txBody>
          <a:bodyPr wrap="square">
            <a:spAutoFit/>
          </a:bodyPr>
          <a:lstStyle/>
          <a:p>
            <a:pPr algn="ctr">
              <a:spcAft>
                <a:spcPts val="700"/>
              </a:spcAft>
              <a:defRPr sz="2200" b="1">
                <a:solidFill>
                  <a:srgbClr val="233464"/>
                </a:solidFill>
                <a:latin typeface="Aptos"/>
              </a:defRPr>
            </a:pPr>
            <a:r>
              <a:rPr dirty="0">
                <a:solidFill>
                  <a:schemeClr val="bg1"/>
                </a:solidFill>
                <a:latin typeface="Times New Roman" pitchFamily="18" charset="0"/>
                <a:cs typeface="Times New Roman" pitchFamily="18" charset="0"/>
              </a:rPr>
              <a:t>CONCLUSION</a:t>
            </a:r>
          </a:p>
        </p:txBody>
      </p:sp>
      <p:sp>
        <p:nvSpPr>
          <p:cNvPr id="15" name="TextBox 14"/>
          <p:cNvSpPr txBox="1"/>
          <p:nvPr/>
        </p:nvSpPr>
        <p:spPr>
          <a:xfrm>
            <a:off x="808981" y="1475556"/>
            <a:ext cx="8412480" cy="4893647"/>
          </a:xfrm>
          <a:prstGeom prst="rect">
            <a:avLst/>
          </a:prstGeom>
          <a:noFill/>
        </p:spPr>
        <p:txBody>
          <a:bodyPr wrap="square">
            <a:spAutoFit/>
          </a:bodyPr>
          <a:lstStyle/>
          <a:p>
            <a:pPr lvl="0"/>
            <a:r>
              <a:rPr lang="en-IN" sz="2000" dirty="0">
                <a:latin typeface="Times New Roman" panose="02020603050405020304" pitchFamily="18" charset="0"/>
                <a:cs typeface="Times New Roman" panose="02020603050405020304" pitchFamily="18" charset="0"/>
              </a:rPr>
              <a:t>• </a:t>
            </a:r>
            <a:r>
              <a:rPr lang="en-IN" sz="2000" dirty="0"/>
              <a:t>The project demonstrates a complete UPI transaction data-analysis workflow. </a:t>
            </a:r>
          </a:p>
          <a:p>
            <a:pPr lvl="0"/>
            <a:r>
              <a:rPr lang="en-IN" sz="2000" dirty="0">
                <a:latin typeface="Times New Roman" panose="02020603050405020304" pitchFamily="18" charset="0"/>
                <a:cs typeface="Times New Roman" panose="02020603050405020304" pitchFamily="18" charset="0"/>
              </a:rPr>
              <a:t>• </a:t>
            </a:r>
            <a:r>
              <a:rPr lang="en-IN" sz="2000" dirty="0"/>
              <a:t>Python and Pandas were used to process and analyse 250,000 transaction records. </a:t>
            </a:r>
          </a:p>
          <a:p>
            <a:pPr lvl="0"/>
            <a:r>
              <a:rPr lang="en-IN" sz="2000" dirty="0">
                <a:latin typeface="Times New Roman" panose="02020603050405020304" pitchFamily="18" charset="0"/>
                <a:cs typeface="Times New Roman" panose="02020603050405020304" pitchFamily="18" charset="0"/>
              </a:rPr>
              <a:t>• </a:t>
            </a:r>
            <a:r>
              <a:rPr lang="en-IN" sz="2000" dirty="0"/>
              <a:t>Data validation confirmed zero missing values and zero duplicate records. </a:t>
            </a:r>
          </a:p>
          <a:p>
            <a:pPr lvl="0"/>
            <a:r>
              <a:rPr lang="en-IN" sz="2000" dirty="0">
                <a:latin typeface="Times New Roman" panose="02020603050405020304" pitchFamily="18" charset="0"/>
                <a:cs typeface="Times New Roman" panose="02020603050405020304" pitchFamily="18" charset="0"/>
              </a:rPr>
              <a:t>• </a:t>
            </a:r>
            <a:r>
              <a:rPr lang="en-IN" sz="2000" dirty="0"/>
              <a:t>Statistical analysis provided an understanding of transaction amounts, status and types. </a:t>
            </a:r>
          </a:p>
          <a:p>
            <a:pPr lvl="0"/>
            <a:r>
              <a:rPr lang="en-IN" sz="2000" dirty="0">
                <a:latin typeface="Times New Roman" panose="02020603050405020304" pitchFamily="18" charset="0"/>
                <a:cs typeface="Times New Roman" panose="02020603050405020304" pitchFamily="18" charset="0"/>
              </a:rPr>
              <a:t>• </a:t>
            </a:r>
            <a:r>
              <a:rPr lang="en-IN" sz="2000" dirty="0"/>
              <a:t>Visualization helped identify patterns across time, merchant, device, network and geographical dimensions. </a:t>
            </a:r>
          </a:p>
          <a:p>
            <a:pPr lvl="0"/>
            <a:r>
              <a:rPr lang="en-IN" sz="2000" dirty="0">
                <a:latin typeface="Times New Roman" panose="02020603050405020304" pitchFamily="18" charset="0"/>
                <a:cs typeface="Times New Roman" panose="02020603050405020304" pitchFamily="18" charset="0"/>
              </a:rPr>
              <a:t>• </a:t>
            </a:r>
            <a:r>
              <a:rPr lang="en-IN" sz="2000" dirty="0"/>
              <a:t>Fraud analysis helped identify characteristics associated with fraudulent transactions. </a:t>
            </a:r>
          </a:p>
          <a:p>
            <a:pPr lvl="0"/>
            <a:r>
              <a:rPr lang="en-IN" sz="2000" dirty="0">
                <a:latin typeface="Times New Roman" panose="02020603050405020304" pitchFamily="18" charset="0"/>
                <a:cs typeface="Times New Roman" panose="02020603050405020304" pitchFamily="18" charset="0"/>
              </a:rPr>
              <a:t>• </a:t>
            </a:r>
            <a:r>
              <a:rPr lang="en-IN" sz="2000" dirty="0"/>
              <a:t>The project demonstrates how raw transaction data can be converted into meaningful analytical insights.</a:t>
            </a:r>
          </a:p>
          <a:p>
            <a:pPr algn="l">
              <a:spcAft>
                <a:spcPts val="700"/>
              </a:spcAft>
              <a:defRPr sz="2000" b="0">
                <a:solidFill>
                  <a:srgbClr val="2D2D2D"/>
                </a:solidFill>
                <a:latin typeface="Aptos"/>
              </a:defRPr>
            </a:pPr>
            <a:endParaRPr sz="2800" dirty="0">
              <a:latin typeface="Times New Roman" panose="02020603050405020304" pitchFamily="18" charset="0"/>
              <a:cs typeface="Times New Roman" panose="02020603050405020304" pitchFamily="18" charset="0"/>
            </a:endParaRPr>
          </a:p>
        </p:txBody>
      </p:sp>
      <p:sp>
        <p:nvSpPr>
          <p:cNvPr id="16" name="TextBox 15"/>
          <p:cNvSpPr txBox="1"/>
          <p:nvPr/>
        </p:nvSpPr>
        <p:spPr>
          <a:xfrm>
            <a:off x="803485" y="6016903"/>
            <a:ext cx="8138160" cy="1536318"/>
          </a:xfrm>
          <a:prstGeom prst="rect">
            <a:avLst/>
          </a:prstGeom>
          <a:noFill/>
        </p:spPr>
        <p:txBody>
          <a:bodyPr wrap="square">
            <a:spAutoFit/>
          </a:bodyPr>
          <a:lstStyle/>
          <a:p>
            <a:pPr algn="ctr">
              <a:spcAft>
                <a:spcPts val="700"/>
              </a:spcAft>
              <a:defRPr sz="1600" b="1">
                <a:solidFill>
                  <a:srgbClr val="C25B30"/>
                </a:solidFill>
                <a:latin typeface="Aptos"/>
              </a:defRPr>
            </a:pPr>
            <a:r>
              <a:rPr sz="2400" dirty="0">
                <a:latin typeface="Times New Roman" pitchFamily="18" charset="0"/>
                <a:cs typeface="Times New Roman" pitchFamily="18" charset="0"/>
              </a:rPr>
              <a:t>Future scope:</a:t>
            </a:r>
            <a:r>
              <a:rPr lang="en-IN" sz="2400" dirty="0">
                <a:latin typeface="Times New Roman" pitchFamily="18" charset="0"/>
                <a:cs typeface="Times New Roman" pitchFamily="18" charset="0"/>
              </a:rPr>
              <a:t> </a:t>
            </a:r>
            <a:r>
              <a:rPr lang="en-IN" sz="2000" b="1" i="1" dirty="0"/>
              <a:t>“Transforming UPI data insights into smarter, faster, and more secure digital payment solutions through advanced analytics and fraud detection.”</a:t>
            </a:r>
            <a:endParaRPr lang="en-IN" sz="2000" b="1" dirty="0"/>
          </a:p>
          <a:p>
            <a:pPr algn="ctr">
              <a:spcAft>
                <a:spcPts val="700"/>
              </a:spcAft>
              <a:defRPr sz="1600" b="1">
                <a:solidFill>
                  <a:srgbClr val="C25B30"/>
                </a:solidFill>
                <a:latin typeface="Aptos"/>
              </a:defRPr>
            </a:pPr>
            <a:endParaRPr sz="2400" dirty="0">
              <a:latin typeface="Times New Roman" pitchFamily="18" charset="0"/>
              <a:cs typeface="Times New Roman" pitchFamily="18" charset="0"/>
            </a:endParaRPr>
          </a:p>
        </p:txBody>
      </p:sp>
    </p:spTree>
    <p:extLst>
      <p:ext uri="{BB962C8B-B14F-4D97-AF65-F5344CB8AC3E}">
        <p14:creationId xmlns:p14="http://schemas.microsoft.com/office/powerpoint/2010/main" val="26941927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FFD48BC7-DC40-47DE-87EE-9F4B6ECB9A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0058400" cy="77724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4" name="Freeform: Shape 23">
            <a:extLst>
              <a:ext uri="{FF2B5EF4-FFF2-40B4-BE49-F238E27FC236}">
                <a16:creationId xmlns:a16="http://schemas.microsoft.com/office/drawing/2014/main" id="{E502BBC7-2C76-46F3-BC24-5985BC13DB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9400" y="0"/>
            <a:ext cx="8219599" cy="77724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solidFill>
              <a:srgbClr val="EFEFEF"/>
            </a:solidFill>
          </a:ln>
          <a:effectLst>
            <a:outerShdw blurRad="139700" sx="102000" sy="102000" algn="ctr" rotWithShape="0">
              <a:schemeClr val="bg1">
                <a:lumMod val="85000"/>
                <a:alpha val="38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5" name="Freeform: Shape 24">
            <a:extLst>
              <a:ext uri="{FF2B5EF4-FFF2-40B4-BE49-F238E27FC236}">
                <a16:creationId xmlns:a16="http://schemas.microsoft.com/office/drawing/2014/main" id="{C7F28D52-2A5F-4D23-81AE-7CB8B591C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25372" y="0"/>
            <a:ext cx="8207655" cy="7772400"/>
          </a:xfrm>
          <a:custGeom>
            <a:avLst/>
            <a:gdLst>
              <a:gd name="connsiteX0" fmla="*/ 1595771 w 9963150"/>
              <a:gd name="connsiteY0" fmla="*/ 0 h 6858000"/>
              <a:gd name="connsiteX1" fmla="*/ 8367379 w 9963150"/>
              <a:gd name="connsiteY1" fmla="*/ 0 h 6858000"/>
              <a:gd name="connsiteX2" fmla="*/ 8504080 w 9963150"/>
              <a:gd name="connsiteY2" fmla="*/ 130333 h 6858000"/>
              <a:gd name="connsiteX3" fmla="*/ 9963150 w 9963150"/>
              <a:gd name="connsiteY3" fmla="*/ 3652838 h 6858000"/>
              <a:gd name="connsiteX4" fmla="*/ 8825600 w 9963150"/>
              <a:gd name="connsiteY4" fmla="*/ 6821583 h 6858000"/>
              <a:gd name="connsiteX5" fmla="*/ 8794055 w 9963150"/>
              <a:gd name="connsiteY5" fmla="*/ 6858000 h 6858000"/>
              <a:gd name="connsiteX6" fmla="*/ 1169096 w 9963150"/>
              <a:gd name="connsiteY6" fmla="*/ 6858000 h 6858000"/>
              <a:gd name="connsiteX7" fmla="*/ 1137550 w 9963150"/>
              <a:gd name="connsiteY7" fmla="*/ 6821583 h 6858000"/>
              <a:gd name="connsiteX8" fmla="*/ 0 w 9963150"/>
              <a:gd name="connsiteY8" fmla="*/ 3652838 h 6858000"/>
              <a:gd name="connsiteX9" fmla="*/ 1459070 w 9963150"/>
              <a:gd name="connsiteY9" fmla="*/ 1303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963150" h="6858000">
                <a:moveTo>
                  <a:pt x="1595771" y="0"/>
                </a:moveTo>
                <a:lnTo>
                  <a:pt x="8367379" y="0"/>
                </a:lnTo>
                <a:lnTo>
                  <a:pt x="8504080" y="130333"/>
                </a:lnTo>
                <a:cubicBezTo>
                  <a:pt x="9405568" y="1031820"/>
                  <a:pt x="9963150" y="2277214"/>
                  <a:pt x="9963150" y="3652838"/>
                </a:cubicBezTo>
                <a:cubicBezTo>
                  <a:pt x="9963150" y="4856509"/>
                  <a:pt x="9536251" y="5960473"/>
                  <a:pt x="8825600" y="6821583"/>
                </a:cubicBezTo>
                <a:lnTo>
                  <a:pt x="8794055" y="6858000"/>
                </a:lnTo>
                <a:lnTo>
                  <a:pt x="1169096" y="6858000"/>
                </a:lnTo>
                <a:lnTo>
                  <a:pt x="1137550" y="6821583"/>
                </a:lnTo>
                <a:cubicBezTo>
                  <a:pt x="426899" y="5960473"/>
                  <a:pt x="0" y="4856509"/>
                  <a:pt x="0" y="3652838"/>
                </a:cubicBezTo>
                <a:cubicBezTo>
                  <a:pt x="0" y="2277214"/>
                  <a:pt x="557582" y="1031820"/>
                  <a:pt x="1459070" y="130333"/>
                </a:cubicBez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TextBox 2"/>
          <p:cNvSpPr txBox="1"/>
          <p:nvPr/>
        </p:nvSpPr>
        <p:spPr>
          <a:xfrm>
            <a:off x="1257302" y="2266230"/>
            <a:ext cx="7543800" cy="3132565"/>
          </a:xfrm>
          <a:prstGeom prst="rect">
            <a:avLst/>
          </a:prstGeom>
        </p:spPr>
        <p:txBody>
          <a:bodyPr vert="horz" lIns="91440" tIns="45720" rIns="91440" bIns="45720" rtlCol="0" anchor="ctr">
            <a:normAutofit/>
          </a:bodyPr>
          <a:lstStyle/>
          <a:p>
            <a:pPr algn="ctr" rtl="0">
              <a:lnSpc>
                <a:spcPct val="90000"/>
              </a:lnSpc>
              <a:spcBef>
                <a:spcPct val="0"/>
              </a:spcBef>
              <a:spcAft>
                <a:spcPts val="700"/>
              </a:spcAft>
              <a:defRPr sz="3400" b="1">
                <a:solidFill>
                  <a:srgbClr val="233464"/>
                </a:solidFill>
                <a:latin typeface="Aptos"/>
              </a:defRPr>
            </a:pPr>
            <a:r>
              <a:rPr lang="en-US" sz="3600" kern="1200" dirty="0">
                <a:solidFill>
                  <a:schemeClr val="tx1"/>
                </a:solidFill>
                <a:latin typeface="Times New Roman" pitchFamily="18" charset="0"/>
                <a:ea typeface="+mj-ea"/>
                <a:cs typeface="Times New Roman" pitchFamily="18" charset="0"/>
              </a:rPr>
              <a:t>THANK YOU</a:t>
            </a:r>
          </a:p>
        </p:txBody>
      </p:sp>
      <p:sp>
        <p:nvSpPr>
          <p:cNvPr id="26" name="Rectangle 25">
            <a:extLst>
              <a:ext uri="{FF2B5EF4-FFF2-40B4-BE49-F238E27FC236}">
                <a16:creationId xmlns:a16="http://schemas.microsoft.com/office/drawing/2014/main" id="{3629484E-3792-4B3D-89AD-7C8A1ED0E0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67812" y="6261424"/>
            <a:ext cx="3922776" cy="3108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8" name="object 3">
            <a:extLst>
              <a:ext uri="{FF2B5EF4-FFF2-40B4-BE49-F238E27FC236}">
                <a16:creationId xmlns:a16="http://schemas.microsoft.com/office/drawing/2014/main" id="{A36E30A8-BD1B-0058-4620-F390351DADBD}"/>
              </a:ext>
            </a:extLst>
          </p:cNvPr>
          <p:cNvPicPr/>
          <p:nvPr/>
        </p:nvPicPr>
        <p:blipFill>
          <a:blip r:embed="rId2" cstate="print"/>
          <a:stretch>
            <a:fillRect/>
          </a:stretch>
        </p:blipFill>
        <p:spPr>
          <a:xfrm>
            <a:off x="290750" y="204311"/>
            <a:ext cx="1163002" cy="424338"/>
          </a:xfrm>
          <a:prstGeom prst="rect">
            <a:avLst/>
          </a:prstGeom>
        </p:spPr>
      </p:pic>
    </p:spTree>
    <p:extLst>
      <p:ext uri="{BB962C8B-B14F-4D97-AF65-F5344CB8AC3E}">
        <p14:creationId xmlns:p14="http://schemas.microsoft.com/office/powerpoint/2010/main" val="7467787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3433</TotalTime>
  <Words>1040</Words>
  <Application>Microsoft Office PowerPoint</Application>
  <PresentationFormat>Custom</PresentationFormat>
  <Paragraphs>181</Paragraphs>
  <Slides>16</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Calibri</vt:lpstr>
      <vt:lpstr>Palatino Linotype</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Zeroth Review</dc:title>
  <dc:creator>RESHMA BASAPATHI</dc:creator>
  <cp:lastModifiedBy>divija aalla</cp:lastModifiedBy>
  <cp:revision>114</cp:revision>
  <cp:lastPrinted>2025-10-14T18:21:49Z</cp:lastPrinted>
  <dcterms:created xsi:type="dcterms:W3CDTF">2025-10-10T08:28:06Z</dcterms:created>
  <dcterms:modified xsi:type="dcterms:W3CDTF">2026-09-29T14:48:40Z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2025-09-12T00:00:00Z</vt:filetime>
  </property>
  <property fmtid="{D5CDD505-2E9C-101B-9397-08002B2CF9AE}" pid="3" name="LastSaved">
    <vt:filetime>2025-10-10T00:00:00Z</vt:filetime>
  </property>
</Properties>
</file>