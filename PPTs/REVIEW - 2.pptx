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74" r:id="rId6"/>
    <p:sldId id="279" r:id="rId7"/>
    <p:sldId id="276" r:id="rId8"/>
    <p:sldId id="280" r:id="rId9"/>
    <p:sldId id="278" r:id="rId10"/>
    <p:sldId id="271" r:id="rId11"/>
    <p:sldId id="281" r:id="rId12"/>
    <p:sldId id="283" r:id="rId13"/>
    <p:sldId id="285" r:id="rId14"/>
    <p:sldId id="284" r:id="rId15"/>
    <p:sldId id="268" r:id="rId16"/>
    <p:sldId id="269" r:id="rId17"/>
  </p:sldIdLst>
  <p:sldSz cx="100584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85" autoAdjust="0"/>
    <p:restoredTop sz="94660"/>
  </p:normalViewPr>
  <p:slideViewPr>
    <p:cSldViewPr>
      <p:cViewPr varScale="1">
        <p:scale>
          <a:sx n="69" d="100"/>
          <a:sy n="69" d="100"/>
        </p:scale>
        <p:origin x="1594" y="91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97538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419B0A-DB98-47ED-A0D2-B47FD394FE07}" type="datetimeFigureOut">
              <a:rPr lang="en-IN" smtClean="0"/>
              <a:pPr/>
              <a:t>29-09-2026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32163" y="971550"/>
            <a:ext cx="3394075" cy="26225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06475" y="3740150"/>
            <a:ext cx="8045450" cy="30607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97538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E471F2-2083-493A-8C9E-53209FFA1EC8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6813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E471F2-2083-493A-8C9E-53209FFA1EC8}" type="slidenum">
              <a:rPr lang="en-IN" smtClean="0"/>
              <a:pPr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6106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1E0C1-6277-CAD3-8A7C-7F0F37C61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3776A0-3BEE-1FDC-EADA-6B6FA1E1A0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753676-942B-2284-A56F-CCE051D8D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68B2BB-B290-5A6F-7542-202146F1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E471F2-2083-493A-8C9E-53209FFA1EC8}" type="slidenum">
              <a:rPr lang="en-IN" smtClean="0"/>
              <a:pPr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75766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1632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9/29/2026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9/29/2026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9/29/2026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9/29/2026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48056" y="258722"/>
            <a:ext cx="4601366" cy="704793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30316" y="125730"/>
            <a:ext cx="4997767" cy="104513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663904" y="251407"/>
            <a:ext cx="4577410" cy="506849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2718911" y="290750"/>
            <a:ext cx="4471670" cy="400685"/>
          </a:xfrm>
          <a:custGeom>
            <a:avLst/>
            <a:gdLst/>
            <a:ahLst/>
            <a:cxnLst/>
            <a:rect l="l" t="t" r="r" b="b"/>
            <a:pathLst>
              <a:path w="4471670" h="400684">
                <a:moveTo>
                  <a:pt x="4386510" y="0"/>
                </a:moveTo>
                <a:lnTo>
                  <a:pt x="84762" y="0"/>
                </a:lnTo>
                <a:lnTo>
                  <a:pt x="51758" y="5238"/>
                </a:lnTo>
                <a:lnTo>
                  <a:pt x="24831" y="19592"/>
                </a:lnTo>
                <a:lnTo>
                  <a:pt x="6705" y="40757"/>
                </a:lnTo>
                <a:lnTo>
                  <a:pt x="0" y="66741"/>
                </a:lnTo>
                <a:lnTo>
                  <a:pt x="0" y="333813"/>
                </a:lnTo>
                <a:lnTo>
                  <a:pt x="6705" y="359797"/>
                </a:lnTo>
                <a:lnTo>
                  <a:pt x="24831" y="381066"/>
                </a:lnTo>
                <a:lnTo>
                  <a:pt x="51758" y="395316"/>
                </a:lnTo>
                <a:lnTo>
                  <a:pt x="84762" y="400554"/>
                </a:lnTo>
                <a:lnTo>
                  <a:pt x="4386510" y="400554"/>
                </a:lnTo>
                <a:lnTo>
                  <a:pt x="4419514" y="395316"/>
                </a:lnTo>
                <a:lnTo>
                  <a:pt x="4446441" y="381066"/>
                </a:lnTo>
                <a:lnTo>
                  <a:pt x="4464567" y="359797"/>
                </a:lnTo>
                <a:lnTo>
                  <a:pt x="4471273" y="333813"/>
                </a:lnTo>
                <a:lnTo>
                  <a:pt x="4471273" y="66741"/>
                </a:lnTo>
                <a:lnTo>
                  <a:pt x="4464567" y="40757"/>
                </a:lnTo>
                <a:lnTo>
                  <a:pt x="4446441" y="19592"/>
                </a:lnTo>
                <a:lnTo>
                  <a:pt x="4419514" y="5238"/>
                </a:lnTo>
                <a:lnTo>
                  <a:pt x="4386510" y="0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292554" y="282840"/>
            <a:ext cx="3375117" cy="56971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9/29/2026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30970" y="881554"/>
            <a:ext cx="2528570" cy="3752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21188" y="1409149"/>
            <a:ext cx="8949055" cy="3294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19856" y="7228332"/>
            <a:ext cx="3218688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9/29/2026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6.jpeg"/><Relationship Id="rId4" Type="http://schemas.openxmlformats.org/officeDocument/2006/relationships/image" Target="../media/image8.png"/><Relationship Id="rId9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93969" y="211046"/>
            <a:ext cx="4610910" cy="6286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1051560"/>
            <a:ext cx="7315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500" b="1">
                <a:solidFill>
                  <a:srgbClr val="233464"/>
                </a:solidFill>
                <a:latin typeface="Aptos"/>
              </a:defRPr>
            </a:pPr>
            <a:r>
              <a:rPr sz="2800" dirty="0">
                <a:latin typeface="Times New Roman" pitchFamily="18" charset="0"/>
                <a:cs typeface="Times New Roman" pitchFamily="18" charset="0"/>
              </a:rPr>
              <a:t>Data Analysis Essentials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08760"/>
            <a:ext cx="73152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300" b="1">
                <a:solidFill>
                  <a:srgbClr val="C25B30"/>
                </a:solidFill>
                <a:latin typeface="Aptos"/>
              </a:defRPr>
            </a:pPr>
            <a:r>
              <a:rPr dirty="0">
                <a:latin typeface="Times New Roman" pitchFamily="18" charset="0"/>
                <a:cs typeface="Times New Roman" pitchFamily="18" charset="0"/>
              </a:rPr>
              <a:t>Cornerstone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8778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3000" b="1">
                <a:solidFill>
                  <a:srgbClr val="233464"/>
                </a:solidFill>
                <a:latin typeface="Aptos"/>
              </a:defRPr>
            </a:pP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UPI TRANSITION ANALYSIS</a:t>
            </a:r>
            <a:endParaRPr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51560" y="3352800"/>
            <a:ext cx="7955279" cy="2387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sz="2400" b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Presented by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K.SURYA(25B11CS005)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A.DIVIJA(25B11CS005)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SANA JASWANTHI(25B11CS845)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T.MANOJ REDDY(25B11CS946)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sz="1600" b="1" dirty="0">
                <a:latin typeface="Times New Roman" pitchFamily="18" charset="0"/>
                <a:cs typeface="Times New Roman" pitchFamily="18" charset="0"/>
              </a:rPr>
              <a:t>Guide: Mr. </a:t>
            </a:r>
            <a:r>
              <a:rPr sz="1600" b="1" dirty="0" err="1">
                <a:latin typeface="Times New Roman" pitchFamily="18" charset="0"/>
                <a:cs typeface="Times New Roman" pitchFamily="18" charset="0"/>
              </a:rPr>
              <a:t>K. Ashok Teja, Assistant Professor, CSE Dept.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446520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233464"/>
                </a:solidFill>
                <a:latin typeface="Aptos"/>
              </a:defRPr>
            </a:pPr>
            <a:r>
              <a:rPr sz="2000" dirty="0">
                <a:latin typeface="Times New Roman" pitchFamily="18" charset="0"/>
                <a:cs typeface="Times New Roman" pitchFamily="18" charset="0"/>
              </a:rPr>
              <a:t>Department of Computer Science and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5" name="object 3"/>
          <p:cNvGrpSpPr/>
          <p:nvPr/>
        </p:nvGrpSpPr>
        <p:grpSpPr>
          <a:xfrm>
            <a:off x="2438400" y="33670"/>
            <a:ext cx="5334000" cy="1198311"/>
            <a:chOff x="2648188" y="47148"/>
            <a:chExt cx="5103904" cy="1198311"/>
          </a:xfrm>
        </p:grpSpPr>
        <p:pic>
          <p:nvPicPr>
            <p:cNvPr id="6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8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545080" y="269414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US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Contents</a:t>
            </a:r>
            <a:endParaRPr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219200" y="1676400"/>
            <a:ext cx="7132320" cy="5052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Problem Understanding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Introduction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Current Approach &amp; Limitations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Proposed Approach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Dataset Description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Requirements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Methodology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Data Visualization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Key Insights &amp; Analysis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Implementation Workflow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2667000" y="53695"/>
            <a:ext cx="5103904" cy="1198311"/>
            <a:chOff x="2648188" y="47148"/>
            <a:chExt cx="5103904" cy="119831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0" name="object 3">
            <a:extLst>
              <a:ext uri="{FF2B5EF4-FFF2-40B4-BE49-F238E27FC236}">
                <a16:creationId xmlns:a16="http://schemas.microsoft.com/office/drawing/2014/main" id="{1B5A0518-1CDA-CA94-327E-0995E9EC2B84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67000" y="304800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PROBLEM UNDERSTANDING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920" y="1462390"/>
            <a:ext cx="8686800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UPI generates a huge volume of digital transaction data every day. </a:t>
            </a: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Raw transaction records are difficult to understand without systematic analysis. </a:t>
            </a: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Manual examination of thousands of transactions is time-consuming. </a:t>
            </a: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Important patterns related to transaction behaviour, time, location and fraud may remain hidden. </a:t>
            </a: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Data analytics can transform raw UPI records into meaningful insights. </a:t>
            </a: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This project analyses UPI transactions to identify transaction patterns and characteristics associated with fraudulent transactions</a:t>
            </a:r>
            <a:r>
              <a:rPr lang="en-IN" sz="2800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2B9EFFBF-7726-ED21-BD6C-4021B49E4438}"/>
              </a:ext>
            </a:extLst>
          </p:cNvPr>
          <p:cNvGrpSpPr/>
          <p:nvPr/>
        </p:nvGrpSpPr>
        <p:grpSpPr>
          <a:xfrm>
            <a:off x="2667000" y="0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359EAE0-4827-E1C6-F87E-DCB8892B400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F4EE5AF0-F0A0-481E-EB59-2A06E92AC7E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5FC53D65-7751-C01A-F243-C971B8A545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92DCFA7B-7796-4FFE-22C4-D8D11B1128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1633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Introduction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1129711"/>
            <a:ext cx="877824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UPI has become an important digital payment method. </a:t>
            </a:r>
          </a:p>
          <a:p>
            <a:pPr lvl="0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Large volumes of transaction data are generated through different transaction types and channels. </a:t>
            </a:r>
          </a:p>
          <a:p>
            <a:pPr lvl="0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The dataset contains information about transaction amount, status, merchant category, location, device, network and fraud. </a:t>
            </a:r>
          </a:p>
          <a:p>
            <a:pPr lvl="0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Python-based data analysis helps process and interpret this information. </a:t>
            </a:r>
          </a:p>
          <a:p>
            <a:pPr lvl="0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Pandas is used for data loading, filtering, grouping and statistical analysis. </a:t>
            </a:r>
          </a:p>
          <a:p>
            <a:pPr lvl="0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Matplotlib is used to visualize important transaction patterns.</a:t>
            </a:r>
          </a:p>
          <a:p>
            <a:pPr algn="l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789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2B9EFFBF-7726-ED21-BD6C-4021B49E4438}"/>
              </a:ext>
            </a:extLst>
          </p:cNvPr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359EAE0-4827-E1C6-F87E-DCB8892B400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F4EE5AF0-F0A0-481E-EB59-2A06E92AC7E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5FC53D65-7751-C01A-F243-C971B8A545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92DCFA7B-7796-4FFE-22C4-D8D11B1128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67000" y="304800"/>
            <a:ext cx="5181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Current / Manual Approach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1752600"/>
            <a:ext cx="8778240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Transaction data is stored in large CSV/database records.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Manual inspection of individual transactions is difficult.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Finding transaction trends manually takes significant time.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Fraudulent transactions can be difficult to identify from raw records.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Comparing transaction categories manually is inefficient.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Raw numerical data is difficult to interpret without visualization</a:t>
            </a:r>
          </a:p>
          <a:p>
            <a:pPr algn="l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3835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25B97-4948-1D36-1564-48F015098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>
            <a:extLst>
              <a:ext uri="{FF2B5EF4-FFF2-40B4-BE49-F238E27FC236}">
                <a16:creationId xmlns:a16="http://schemas.microsoft.com/office/drawing/2014/main" id="{D28B387B-EB3D-FC8A-3A51-DDD2B8696A7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2" name="object 3">
            <a:extLst>
              <a:ext uri="{FF2B5EF4-FFF2-40B4-BE49-F238E27FC236}">
                <a16:creationId xmlns:a16="http://schemas.microsoft.com/office/drawing/2014/main" id="{5B758792-840A-895D-A2CD-A09955CC1720}"/>
              </a:ext>
            </a:extLst>
          </p:cNvPr>
          <p:cNvGrpSpPr/>
          <p:nvPr/>
        </p:nvGrpSpPr>
        <p:grpSpPr>
          <a:xfrm>
            <a:off x="2743200" y="0"/>
            <a:ext cx="5103904" cy="1198311"/>
            <a:chOff x="2648188" y="47148"/>
            <a:chExt cx="5103904" cy="1198311"/>
          </a:xfrm>
        </p:grpSpPr>
        <p:pic>
          <p:nvPicPr>
            <p:cNvPr id="3" name="object 4">
              <a:extLst>
                <a:ext uri="{FF2B5EF4-FFF2-40B4-BE49-F238E27FC236}">
                  <a16:creationId xmlns:a16="http://schemas.microsoft.com/office/drawing/2014/main" id="{E290B6E4-4C6A-D92F-FFFC-B388B784351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4" name="object 5">
              <a:extLst>
                <a:ext uri="{FF2B5EF4-FFF2-40B4-BE49-F238E27FC236}">
                  <a16:creationId xmlns:a16="http://schemas.microsoft.com/office/drawing/2014/main" id="{87F4EE37-279F-308C-F87F-6E638DA1937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5" name="object 6">
              <a:extLst>
                <a:ext uri="{FF2B5EF4-FFF2-40B4-BE49-F238E27FC236}">
                  <a16:creationId xmlns:a16="http://schemas.microsoft.com/office/drawing/2014/main" id="{8ED23BED-35EB-2EF2-62D6-17D1E3CB0003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6" name="object 7">
              <a:extLst>
                <a:ext uri="{FF2B5EF4-FFF2-40B4-BE49-F238E27FC236}">
                  <a16:creationId xmlns:a16="http://schemas.microsoft.com/office/drawing/2014/main" id="{2F06FBF5-D468-2472-2E09-3659EB0BF5ED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743200" y="256032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Limitations of Manual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1452223"/>
            <a:ext cx="8778240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Time-consuming for large datasets.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Difficult to process 250,000 transactions manually.</a:t>
            </a:r>
          </a:p>
          <a:p>
            <a:pPr lvl="0"/>
            <a:r>
              <a:rPr lang="en-IN" sz="2400" dirty="0"/>
              <a:t> </a:t>
            </a: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High possibility of human error.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Difficult to identify time-based patterns.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Fraud patterns may remain hidden.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Comparing states, devices, networks and merchant categories is difficult.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Raw data does not provide an easy visual understanding.</a:t>
            </a:r>
          </a:p>
          <a:p>
            <a:pPr algn="l">
              <a:spcAft>
                <a:spcPts val="7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6336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3" name="object 3">
            <a:extLst>
              <a:ext uri="{FF2B5EF4-FFF2-40B4-BE49-F238E27FC236}">
                <a16:creationId xmlns:a16="http://schemas.microsoft.com/office/drawing/2014/main" id="{39A132B5-7282-BB0D-41D0-2D605FAF9D2A}"/>
              </a:ext>
            </a:extLst>
          </p:cNvPr>
          <p:cNvGrpSpPr/>
          <p:nvPr/>
        </p:nvGrpSpPr>
        <p:grpSpPr>
          <a:xfrm>
            <a:off x="2743200" y="204311"/>
            <a:ext cx="4997767" cy="1092279"/>
            <a:chOff x="2703195" y="86439"/>
            <a:chExt cx="4997767" cy="1092279"/>
          </a:xfrm>
        </p:grpSpPr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19E5F2C6-879E-09C8-70D8-F12E4105BA4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12F6F0F7-7EC3-7119-588E-9CA45688A5E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6FF94120-5DAA-BA86-6F61-CE59BF796C68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743200" y="374808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Proposed Approach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058200"/>
            <a:ext cx="8503920" cy="71711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Load the UPI dataset using Python and Pandas.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Explore the dataset structure and attributes.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Validate missing values and duplicate records.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Filter successful and fraudulent transactions.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Convert timestamp information into useful time attributes.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Group transactions by important categories.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Perform statistical and comparative analysis.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Create visualizations using Matplotlib.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Interpret patterns and identify characteristics associated with fraud.</a:t>
            </a:r>
          </a:p>
          <a:p>
            <a:pPr algn="l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9256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4944C-8816-A98A-BE5A-6A28E3D13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>
            <a:extLst>
              <a:ext uri="{FF2B5EF4-FFF2-40B4-BE49-F238E27FC236}">
                <a16:creationId xmlns:a16="http://schemas.microsoft.com/office/drawing/2014/main" id="{97977331-EA1C-CA44-869F-6C400FF95B9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4" name="object 3">
            <a:extLst>
              <a:ext uri="{FF2B5EF4-FFF2-40B4-BE49-F238E27FC236}">
                <a16:creationId xmlns:a16="http://schemas.microsoft.com/office/drawing/2014/main" id="{493C539F-A86A-512C-CDC1-7D279B60EB1C}"/>
              </a:ext>
            </a:extLst>
          </p:cNvPr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EF4257B-2B43-17B3-FF4F-1187B669162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C6F1369C-4970-FF55-E67B-BCF08160A62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CF69E22F-BC21-03E7-F9F3-42AA69CA9E9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470ED999-51AF-0BD8-F3EE-37C965CA5C3F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722007" y="286489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DATASET DESCRIPTION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143000"/>
            <a:ext cx="8046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900" b="1">
                <a:solidFill>
                  <a:srgbClr val="233464"/>
                </a:solidFill>
                <a:latin typeface="Aptos"/>
              </a:defRPr>
            </a:pPr>
            <a:r>
              <a:rPr sz="2400" dirty="0">
                <a:latin typeface="Times New Roman" pitchFamily="18" charset="0"/>
                <a:cs typeface="Times New Roman" pitchFamily="18" charset="0"/>
              </a:rPr>
              <a:t>Global Terrorism dataset used for this sample — swap in your own dataset's fields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11480" y="1965960"/>
          <a:ext cx="44805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07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Field</a:t>
                      </a:r>
                    </a:p>
                  </a:txBody>
                  <a:tcPr marT="25400" marB="25400">
                    <a:solidFill>
                      <a:srgbClr val="2334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Description</a:t>
                      </a:r>
                    </a:p>
                  </a:txBody>
                  <a:tcPr marT="25400" marB="25400">
                    <a:solidFill>
                      <a:srgbClr val="2334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Times New Roman"/>
                        </a:defRPr>
                      </a:pPr>
                      <a:r>
                        <a:t>iyear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Times New Roman"/>
                        </a:defRPr>
                      </a:pPr>
                      <a:r>
                        <a:t>Year of the incident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Times New Roman"/>
                        </a:defRPr>
                      </a:pPr>
                      <a:r>
                        <a:t>country_txt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Times New Roman"/>
                        </a:defRPr>
                      </a:pPr>
                      <a:r>
                        <a:t>Country where the attack occurred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Times New Roman"/>
                        </a:defRPr>
                      </a:pPr>
                      <a:r>
                        <a:t>attacktype1_txt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Times New Roman"/>
                        </a:defRPr>
                      </a:pPr>
                      <a:r>
                        <a:t>Type of attack (bombing, assault, ...)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Times New Roman"/>
                        </a:defRPr>
                      </a:pPr>
                      <a:r>
                        <a:t>targtype1_txt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Times New Roman"/>
                        </a:defRPr>
                      </a:pPr>
                      <a:r>
                        <a:t>Type of target (civilian, military, ...)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Times New Roman"/>
                        </a:defRPr>
                      </a:pPr>
                      <a:r>
                        <a:t>gname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Times New Roman"/>
                        </a:defRPr>
                      </a:pPr>
                      <a:r>
                        <a:t>Group responsible for the attack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0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Times New Roman"/>
                        </a:defRPr>
                      </a:pPr>
                      <a:r>
                        <a:t>nkill / nwound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Times New Roman"/>
                        </a:defRPr>
                      </a:pPr>
                      <a:r>
                        <a:t>Number killed / wounded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074920" y="1965960"/>
            <a:ext cx="4526280" cy="86868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1270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/>
            <a:r>
              <a:rPr sz="1300" b="1">
                <a:solidFill>
                  <a:srgbClr val="FF6600"/>
                </a:solidFill>
                <a:latin typeface="Times New Roman"/>
              </a:rPr>
              <a:t>Dataset Snapshot</a:t>
            </a:r>
          </a:p>
          <a:p>
            <a:r>
              <a:rPr sz="1100">
                <a:solidFill>
                  <a:srgbClr val="2D2D2D"/>
                </a:solidFill>
                <a:latin typeface="Times New Roman"/>
              </a:rPr>
              <a:t>~180,000 records  |  135 raw columns (trimmed to key fields)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2971800"/>
            <a:ext cx="4526280" cy="86868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1270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/>
            <a:r>
              <a:rPr sz="1300" b="1">
                <a:solidFill>
                  <a:srgbClr val="FF6600"/>
                </a:solidFill>
                <a:latin typeface="Times New Roman"/>
              </a:rPr>
              <a:t>Data Quality Checks</a:t>
            </a:r>
          </a:p>
          <a:p>
            <a:r>
              <a:rPr sz="1100">
                <a:solidFill>
                  <a:srgbClr val="2D2D2D"/>
                </a:solidFill>
                <a:latin typeface="Times New Roman"/>
              </a:rPr>
              <a:t>Missing values handled • Duplicates removed • Categories standardized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4920" y="3977639"/>
            <a:ext cx="4526280" cy="86868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1270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pPr algn="ctr"/>
            <a:r>
              <a:rPr sz="1300" b="1">
                <a:solidFill>
                  <a:srgbClr val="FF6600"/>
                </a:solidFill>
                <a:latin typeface="Times New Roman"/>
              </a:rPr>
              <a:t>Tools &amp; Libraries</a:t>
            </a:r>
          </a:p>
          <a:p>
            <a:r>
              <a:rPr sz="1100">
                <a:solidFill>
                  <a:srgbClr val="2D2D2D"/>
                </a:solidFill>
                <a:latin typeface="Times New Roman"/>
              </a:rPr>
              <a:t>Python • Pandas • NumPy • Matplotlib • Seaborn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120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808080"/>
                </a:solidFill>
                <a:latin typeface="Times New Roman"/>
              </a:rPr>
              <a:t>Replace this table and the boxes above with your own dataset's fields, size, and checks.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AFBC2B6-4D0C-70A6-E90D-53EEA154E0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45" y="0"/>
            <a:ext cx="10032310" cy="7772400"/>
          </a:xfrm>
          <a:prstGeom prst="rect">
            <a:avLst/>
          </a:prstGeom>
        </p:spPr>
      </p:pic>
      <p:pic>
        <p:nvPicPr>
          <p:cNvPr id="12" name="object 3">
            <a:extLst>
              <a:ext uri="{FF2B5EF4-FFF2-40B4-BE49-F238E27FC236}">
                <a16:creationId xmlns:a16="http://schemas.microsoft.com/office/drawing/2014/main" id="{2E607AEC-FD80-C6BA-8933-5CC428FFBD8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80561"/>
            <a:ext cx="1614250" cy="6567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93F557D-A377-E35B-A780-A68940F27B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pic>
        <p:nvPicPr>
          <p:cNvPr id="16" name="object 3">
            <a:extLst>
              <a:ext uri="{FF2B5EF4-FFF2-40B4-BE49-F238E27FC236}">
                <a16:creationId xmlns:a16="http://schemas.microsoft.com/office/drawing/2014/main" id="{9246B437-BFAB-0FEE-E82B-3EA38652056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200" y="143697"/>
            <a:ext cx="1983105" cy="1012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37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2B9EFFBF-7726-ED21-BD6C-4021B49E4438}"/>
              </a:ext>
            </a:extLst>
          </p:cNvPr>
          <p:cNvGrpSpPr/>
          <p:nvPr/>
        </p:nvGrpSpPr>
        <p:grpSpPr>
          <a:xfrm>
            <a:off x="2819400" y="52623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359EAE0-4827-E1C6-F87E-DCB8892B400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F4EE5AF0-F0A0-481E-EB59-2A06E92AC7E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5FC53D65-7751-C01A-F243-C971B8A545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92DCFA7B-7796-4FFE-22C4-D8D11B1128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43200" y="256032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REQUIREMENTS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234440"/>
            <a:ext cx="3840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2000" b="1">
                <a:solidFill>
                  <a:srgbClr val="233464"/>
                </a:solidFill>
                <a:latin typeface="Aptos"/>
              </a:defRPr>
            </a:pPr>
            <a:r>
              <a:rPr sz="2400" dirty="0">
                <a:latin typeface="Times New Roman" pitchFamily="18" charset="0"/>
                <a:cs typeface="Times New Roman" pitchFamily="18" charset="0"/>
              </a:rPr>
              <a:t>Hardware Requirements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1737360"/>
            <a:ext cx="3840480" cy="1379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Processor: Intel i3 or above</a:t>
            </a:r>
          </a:p>
          <a:p>
            <a:pPr algn="l">
              <a:spcAft>
                <a:spcPts val="7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RAM: Minimum 4 GB</a:t>
            </a:r>
          </a:p>
          <a:p>
            <a:pPr algn="l">
              <a:spcAft>
                <a:spcPts val="7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Storage: 20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676972"/>
            <a:ext cx="3840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2000" b="1">
                <a:solidFill>
                  <a:srgbClr val="233464"/>
                </a:solidFill>
                <a:latin typeface="Aptos"/>
              </a:defRPr>
            </a:pPr>
            <a:r>
              <a:rPr lang="en-IN" sz="2400" dirty="0">
                <a:latin typeface="Times New Roman" pitchFamily="18" charset="0"/>
                <a:cs typeface="Times New Roman" pitchFamily="18" charset="0"/>
              </a:rPr>
              <a:t>Software Requirements</a:t>
            </a:r>
            <a:endParaRPr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39207" y="4319577"/>
            <a:ext cx="4023360" cy="2757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Windows</a:t>
            </a:r>
          </a:p>
          <a:p>
            <a:pPr algn="l">
              <a:spcAft>
                <a:spcPts val="7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Python</a:t>
            </a:r>
          </a:p>
          <a:p>
            <a:pPr algn="l">
              <a:spcAft>
                <a:spcPts val="7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Google Colab</a:t>
            </a:r>
          </a:p>
          <a:p>
            <a:pPr algn="l">
              <a:spcAft>
                <a:spcPts val="7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Pandas</a:t>
            </a:r>
          </a:p>
          <a:p>
            <a:pPr algn="l">
              <a:spcAft>
                <a:spcPts val="7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NumPy</a:t>
            </a:r>
          </a:p>
          <a:p>
            <a:pPr algn="l">
              <a:spcAft>
                <a:spcPts val="7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Matplotlib / Seaborn</a:t>
            </a:r>
          </a:p>
        </p:txBody>
      </p:sp>
    </p:spTree>
    <p:extLst>
      <p:ext uri="{BB962C8B-B14F-4D97-AF65-F5344CB8AC3E}">
        <p14:creationId xmlns:p14="http://schemas.microsoft.com/office/powerpoint/2010/main" val="2272052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3">
            <a:extLst>
              <a:ext uri="{FF2B5EF4-FFF2-40B4-BE49-F238E27FC236}">
                <a16:creationId xmlns:a16="http://schemas.microsoft.com/office/drawing/2014/main" id="{21ABBE52-8710-4E6B-00A1-6AE2E264A905}"/>
              </a:ext>
            </a:extLst>
          </p:cNvPr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6" name="object 4">
              <a:extLst>
                <a:ext uri="{FF2B5EF4-FFF2-40B4-BE49-F238E27FC236}">
                  <a16:creationId xmlns:a16="http://schemas.microsoft.com/office/drawing/2014/main" id="{BB01548A-FFE9-E3D8-12A9-78CF2115655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C2274CD8-F01F-9319-4AED-E01AFBB7B3F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8" name="object 6">
              <a:extLst>
                <a:ext uri="{FF2B5EF4-FFF2-40B4-BE49-F238E27FC236}">
                  <a16:creationId xmlns:a16="http://schemas.microsoft.com/office/drawing/2014/main" id="{798807C2-A29E-0BF3-6CFE-592456DB3D5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0012A6F5-DCDD-5346-54A8-BF352762053D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</p:grpSp>
      <p:pic>
        <p:nvPicPr>
          <p:cNvPr id="11" name="object 3">
            <a:extLst>
              <a:ext uri="{FF2B5EF4-FFF2-40B4-BE49-F238E27FC236}">
                <a16:creationId xmlns:a16="http://schemas.microsoft.com/office/drawing/2014/main" id="{A01798C2-99DE-A723-BAF6-CF11F4E8C1FC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14826" y="437450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sz="20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METHODOLOGY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253" y="1115220"/>
            <a:ext cx="97708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itchFamily="18" charset="0"/>
                <a:cs typeface="Times New Roman" pitchFamily="18" charset="0"/>
              </a:rPr>
              <a:t>Module 1 – Data Loading</a:t>
            </a:r>
          </a:p>
          <a:p>
            <a:pPr algn="ctr"/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Import required libraries.</a:t>
            </a:r>
          </a:p>
          <a:p>
            <a:pPr algn="ctr"/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Load UPI Transaction CSV.</a:t>
            </a:r>
          </a:p>
          <a:p>
            <a:pPr algn="ctr"/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52502A97-D245-72B2-C4CE-36C3CF74332D}"/>
              </a:ext>
            </a:extLst>
          </p:cNvPr>
          <p:cNvSpPr/>
          <p:nvPr/>
        </p:nvSpPr>
        <p:spPr>
          <a:xfrm>
            <a:off x="4796282" y="2373939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34B842-9CD3-AA46-6CA7-F730C9D1D96E}"/>
              </a:ext>
            </a:extLst>
          </p:cNvPr>
          <p:cNvSpPr txBox="1"/>
          <p:nvPr/>
        </p:nvSpPr>
        <p:spPr>
          <a:xfrm>
            <a:off x="2766285" y="2609096"/>
            <a:ext cx="42498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2 – Data Exploration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dataset size.</a:t>
            </a:r>
          </a:p>
          <a:p>
            <a:pPr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Inspect Columns and  data types.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18714A5-46F1-BD0D-4A00-BB0C1211F660}"/>
              </a:ext>
            </a:extLst>
          </p:cNvPr>
          <p:cNvSpPr/>
          <p:nvPr/>
        </p:nvSpPr>
        <p:spPr>
          <a:xfrm>
            <a:off x="4756604" y="3814644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59C03E-C4CB-43D3-0C7D-3D50822A8B32}"/>
              </a:ext>
            </a:extLst>
          </p:cNvPr>
          <p:cNvSpPr txBox="1"/>
          <p:nvPr/>
        </p:nvSpPr>
        <p:spPr>
          <a:xfrm>
            <a:off x="2145238" y="4228115"/>
            <a:ext cx="576792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3 – Data Validation</a:t>
            </a:r>
          </a:p>
          <a:p>
            <a:pPr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and fill missing values.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 duplicate records.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Validate transaction amounts and fraud flags.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E02D8121-E16D-A49A-1052-85D8AFE05F58}"/>
              </a:ext>
            </a:extLst>
          </p:cNvPr>
          <p:cNvSpPr/>
          <p:nvPr/>
        </p:nvSpPr>
        <p:spPr>
          <a:xfrm>
            <a:off x="4850334" y="5797775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C9C953-BED3-2F43-1A1F-3B7650BC3A88}"/>
              </a:ext>
            </a:extLst>
          </p:cNvPr>
          <p:cNvSpPr txBox="1"/>
          <p:nvPr/>
        </p:nvSpPr>
        <p:spPr>
          <a:xfrm>
            <a:off x="2566639" y="6216465"/>
            <a:ext cx="50292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4 – Data Preprocessing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 timestamp into datetime format.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 hour, day and other time info.</a:t>
            </a:r>
          </a:p>
        </p:txBody>
      </p:sp>
    </p:spTree>
    <p:extLst>
      <p:ext uri="{BB962C8B-B14F-4D97-AF65-F5344CB8AC3E}">
        <p14:creationId xmlns:p14="http://schemas.microsoft.com/office/powerpoint/2010/main" val="314495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BE1A7-3004-3B9A-3BDF-6F0CD676F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8C6D514-1AF0-EDB1-7078-687065ECF56B}"/>
              </a:ext>
            </a:extLst>
          </p:cNvPr>
          <p:cNvSpPr txBox="1"/>
          <p:nvPr/>
        </p:nvSpPr>
        <p:spPr>
          <a:xfrm>
            <a:off x="2414826" y="437450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sz="20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METHODOLOGY</a:t>
            </a:r>
          </a:p>
        </p:txBody>
      </p:sp>
      <p:grpSp>
        <p:nvGrpSpPr>
          <p:cNvPr id="4" name="object 3">
            <a:extLst>
              <a:ext uri="{FF2B5EF4-FFF2-40B4-BE49-F238E27FC236}">
                <a16:creationId xmlns:a16="http://schemas.microsoft.com/office/drawing/2014/main" id="{F02D1B8B-963F-84C5-69F0-17C3EECCFD8D}"/>
              </a:ext>
            </a:extLst>
          </p:cNvPr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10" name="object 4">
              <a:extLst>
                <a:ext uri="{FF2B5EF4-FFF2-40B4-BE49-F238E27FC236}">
                  <a16:creationId xmlns:a16="http://schemas.microsoft.com/office/drawing/2014/main" id="{BD448D2F-A85D-4EA9-4AFA-DBD143FFC36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1" name="object 5">
              <a:extLst>
                <a:ext uri="{FF2B5EF4-FFF2-40B4-BE49-F238E27FC236}">
                  <a16:creationId xmlns:a16="http://schemas.microsoft.com/office/drawing/2014/main" id="{70B9531E-FF63-3CBC-8C76-5101CEB24CF2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2" name="object 6">
              <a:extLst>
                <a:ext uri="{FF2B5EF4-FFF2-40B4-BE49-F238E27FC236}">
                  <a16:creationId xmlns:a16="http://schemas.microsoft.com/office/drawing/2014/main" id="{A51A82D2-D894-569F-6C1F-514FA4F1297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3" name="object 7">
              <a:extLst>
                <a:ext uri="{FF2B5EF4-FFF2-40B4-BE49-F238E27FC236}">
                  <a16:creationId xmlns:a16="http://schemas.microsoft.com/office/drawing/2014/main" id="{B3782B54-B821-DE87-C2B7-79ECF9E77AF9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A5CA9835-2A27-E3B2-E349-E0FE4429CFBE}"/>
              </a:ext>
            </a:extLst>
          </p:cNvPr>
          <p:cNvSpPr txBox="1"/>
          <p:nvPr/>
        </p:nvSpPr>
        <p:spPr>
          <a:xfrm>
            <a:off x="2586213" y="413290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sz="20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METHODOLOGY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9BA950-6049-F76A-4A0C-CF5ED87D2763}"/>
              </a:ext>
            </a:extLst>
          </p:cNvPr>
          <p:cNvSpPr txBox="1"/>
          <p:nvPr/>
        </p:nvSpPr>
        <p:spPr>
          <a:xfrm>
            <a:off x="1816265" y="953427"/>
            <a:ext cx="665297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5 –Data Filtering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Separate successful transactions.</a:t>
            </a:r>
          </a:p>
          <a:p>
            <a:pPr lvl="0" algn="ctr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Separate fraudulent transactions.</a:t>
            </a:r>
          </a:p>
        </p:txBody>
      </p:sp>
      <p:sp>
        <p:nvSpPr>
          <p:cNvPr id="29" name="Arrow: Down 28">
            <a:extLst>
              <a:ext uri="{FF2B5EF4-FFF2-40B4-BE49-F238E27FC236}">
                <a16:creationId xmlns:a16="http://schemas.microsoft.com/office/drawing/2014/main" id="{3B0312D2-1C2D-0FC3-47A4-8970E0D691E7}"/>
              </a:ext>
            </a:extLst>
          </p:cNvPr>
          <p:cNvSpPr/>
          <p:nvPr/>
        </p:nvSpPr>
        <p:spPr>
          <a:xfrm>
            <a:off x="4850336" y="2073672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A49019-54D3-0F1F-3651-5D4892AE3078}"/>
              </a:ext>
            </a:extLst>
          </p:cNvPr>
          <p:cNvSpPr txBox="1"/>
          <p:nvPr/>
        </p:nvSpPr>
        <p:spPr>
          <a:xfrm>
            <a:off x="2895600" y="2407224"/>
            <a:ext cx="48768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6 –Data Aggregation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by transaction type.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by merchant category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by fraud status.</a:t>
            </a:r>
          </a:p>
          <a:p>
            <a:pPr algn="ctr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6D0F4567-D057-4BE7-32A7-334EC2164A2C}"/>
              </a:ext>
            </a:extLst>
          </p:cNvPr>
          <p:cNvSpPr/>
          <p:nvPr/>
        </p:nvSpPr>
        <p:spPr>
          <a:xfrm>
            <a:off x="4850336" y="3959586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3C43C12-4B70-F721-9E0A-DD8370D3BABC}"/>
              </a:ext>
            </a:extLst>
          </p:cNvPr>
          <p:cNvSpPr txBox="1"/>
          <p:nvPr/>
        </p:nvSpPr>
        <p:spPr>
          <a:xfrm>
            <a:off x="2628152" y="4271243"/>
            <a:ext cx="50292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7 – Data Visualization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counts.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totals.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transaction and fraud patterns.</a:t>
            </a:r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D2A13C47-9211-7F6A-3235-E7CA857CC45D}"/>
              </a:ext>
            </a:extLst>
          </p:cNvPr>
          <p:cNvSpPr/>
          <p:nvPr/>
        </p:nvSpPr>
        <p:spPr>
          <a:xfrm>
            <a:off x="4850336" y="5619639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78BCE5-A3E9-0942-2521-8A05596F86BE}"/>
              </a:ext>
            </a:extLst>
          </p:cNvPr>
          <p:cNvSpPr txBox="1"/>
          <p:nvPr/>
        </p:nvSpPr>
        <p:spPr>
          <a:xfrm>
            <a:off x="3124200" y="5931296"/>
            <a:ext cx="639217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8 –Visualization &amp; Interpretation </a:t>
            </a:r>
          </a:p>
          <a:p>
            <a:pPr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Generate charts.</a:t>
            </a:r>
          </a:p>
          <a:p>
            <a:pPr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Identify important patterns.</a:t>
            </a:r>
          </a:p>
          <a:p>
            <a:pPr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Interpret the results.</a:t>
            </a:r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D196A313-43DE-ECC7-0097-14BE1DBFC6D8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0750" y="80561"/>
            <a:ext cx="1614250" cy="65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172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3">
            <a:extLst>
              <a:ext uri="{FF2B5EF4-FFF2-40B4-BE49-F238E27FC236}">
                <a16:creationId xmlns:a16="http://schemas.microsoft.com/office/drawing/2014/main" id="{D26E0863-A3EE-1EC4-F128-4D4F1A60D3A0}"/>
              </a:ext>
            </a:extLst>
          </p:cNvPr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21" name="object 4">
              <a:extLst>
                <a:ext uri="{FF2B5EF4-FFF2-40B4-BE49-F238E27FC236}">
                  <a16:creationId xmlns:a16="http://schemas.microsoft.com/office/drawing/2014/main" id="{77890B8C-7EC3-B7B1-BF56-4F5DE13755D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2" name="object 5">
              <a:extLst>
                <a:ext uri="{FF2B5EF4-FFF2-40B4-BE49-F238E27FC236}">
                  <a16:creationId xmlns:a16="http://schemas.microsoft.com/office/drawing/2014/main" id="{E9CC3DEB-E45E-85F9-CD38-C2C4966FBC3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3" name="object 6">
              <a:extLst>
                <a:ext uri="{FF2B5EF4-FFF2-40B4-BE49-F238E27FC236}">
                  <a16:creationId xmlns:a16="http://schemas.microsoft.com/office/drawing/2014/main" id="{4C3D8E05-12DF-F9A5-1AF2-87C24DA53BB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4" name="object 7">
              <a:extLst>
                <a:ext uri="{FF2B5EF4-FFF2-40B4-BE49-F238E27FC236}">
                  <a16:creationId xmlns:a16="http://schemas.microsoft.com/office/drawing/2014/main" id="{EF5B48B8-D150-0E57-59D0-4E3B78C29486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468880" y="39684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Data Visualization</a:t>
            </a:r>
            <a:endParaRPr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11480" y="12344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808080"/>
                </a:solidFill>
                <a:latin typeface="Times New Roman"/>
              </a:rPr>
              <a:t>Illustrative sample charts — regenerate these using your own project's data</a:t>
            </a:r>
          </a:p>
        </p:txBody>
      </p:sp>
      <p:pic>
        <p:nvPicPr>
          <p:cNvPr id="27" name="Picture 26" descr="b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691640"/>
            <a:ext cx="4480560" cy="2926080"/>
          </a:xfrm>
          <a:prstGeom prst="rect">
            <a:avLst/>
          </a:prstGeom>
        </p:spPr>
      </p:pic>
      <p:pic>
        <p:nvPicPr>
          <p:cNvPr id="28" name="Picture 27" descr="pi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1691640"/>
            <a:ext cx="4480560" cy="2926080"/>
          </a:xfrm>
          <a:prstGeom prst="rect">
            <a:avLst/>
          </a:prstGeom>
        </p:spPr>
      </p:pic>
      <p:pic>
        <p:nvPicPr>
          <p:cNvPr id="29" name="Picture 28" descr="li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4709160"/>
            <a:ext cx="4480560" cy="2926080"/>
          </a:xfrm>
          <a:prstGeom prst="rect">
            <a:avLst/>
          </a:prstGeom>
        </p:spPr>
      </p:pic>
      <p:pic>
        <p:nvPicPr>
          <p:cNvPr id="30" name="Picture 29" descr="heatma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0" y="4709160"/>
            <a:ext cx="4480560" cy="29260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B63ABAF-C6E4-F348-CDC9-D8E5BA70FA7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2403"/>
            <a:ext cx="10058400" cy="7767594"/>
          </a:xfrm>
          <a:prstGeom prst="rect">
            <a:avLst/>
          </a:prstGeom>
        </p:spPr>
      </p:pic>
      <p:pic>
        <p:nvPicPr>
          <p:cNvPr id="5" name="object 3">
            <a:extLst>
              <a:ext uri="{FF2B5EF4-FFF2-40B4-BE49-F238E27FC236}">
                <a16:creationId xmlns:a16="http://schemas.microsoft.com/office/drawing/2014/main" id="{B455443E-A829-157F-AB82-8D2BE0405DCE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88457" y="110255"/>
            <a:ext cx="1968943" cy="72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606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D26E0863-A3EE-1EC4-F128-4D4F1A60D3A0}"/>
              </a:ext>
            </a:extLst>
          </p:cNvPr>
          <p:cNvGrpSpPr/>
          <p:nvPr/>
        </p:nvGrpSpPr>
        <p:grpSpPr>
          <a:xfrm>
            <a:off x="2590800" y="0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77890B8C-7EC3-B7B1-BF56-4F5DE13755D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E9CC3DEB-E45E-85F9-CD38-C2C4966FBC3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4C3D8E05-12DF-F9A5-1AF2-87C24DA53BB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EF5B48B8-D150-0E57-59D0-4E3B78C29486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3429000" y="152400"/>
            <a:ext cx="32659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Key Insights &amp; Analysis</a:t>
            </a:r>
          </a:p>
          <a:p>
            <a:endParaRPr lang="en-US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662192" y="1355421"/>
            <a:ext cx="8961120" cy="5524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/>
              <a:t>Overall Transaction Statistics : -</a:t>
            </a:r>
          </a:p>
          <a:p>
            <a:endParaRPr lang="en-IN" sz="2800" dirty="0"/>
          </a:p>
          <a:p>
            <a:pPr lvl="0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Total Transactions:</a:t>
            </a:r>
            <a:r>
              <a:rPr lang="en-IN" sz="2800" dirty="0"/>
              <a:t> 250,000 </a:t>
            </a:r>
          </a:p>
          <a:p>
            <a:pPr lvl="0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Total Transaction Value:</a:t>
            </a:r>
            <a:r>
              <a:rPr lang="en-IN" sz="2800" dirty="0"/>
              <a:t> ₹327,939,009 </a:t>
            </a:r>
          </a:p>
          <a:p>
            <a:pPr lvl="0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Average Transaction:</a:t>
            </a:r>
            <a:r>
              <a:rPr lang="en-IN" sz="2800" dirty="0"/>
              <a:t> ₹1,311.76 </a:t>
            </a:r>
          </a:p>
          <a:p>
            <a:pPr lvl="0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Minimum Transaction:</a:t>
            </a:r>
            <a:r>
              <a:rPr lang="en-IN" sz="2800" dirty="0"/>
              <a:t> ₹10 </a:t>
            </a:r>
          </a:p>
          <a:p>
            <a:pPr lvl="0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Maximum Transaction:</a:t>
            </a:r>
            <a:r>
              <a:rPr lang="en-IN" sz="2800" dirty="0"/>
              <a:t> ₹42,099 </a:t>
            </a:r>
          </a:p>
          <a:p>
            <a:pPr lvl="0"/>
            <a:endParaRPr lang="en-IN" sz="2800" dirty="0"/>
          </a:p>
          <a:p>
            <a:r>
              <a:rPr lang="en-IN" sz="2800" b="1" dirty="0"/>
              <a:t>Transaction Status : -</a:t>
            </a:r>
          </a:p>
          <a:p>
            <a:endParaRPr lang="en-IN" sz="2800" dirty="0"/>
          </a:p>
          <a:p>
            <a:pPr lvl="0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Successful:</a:t>
            </a:r>
            <a:r>
              <a:rPr lang="en-IN" sz="2800" dirty="0"/>
              <a:t> 237,624 — 95.05% </a:t>
            </a:r>
          </a:p>
          <a:p>
            <a:pPr lvl="0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Failed:</a:t>
            </a:r>
            <a:r>
              <a:rPr lang="en-IN" sz="2800" dirty="0"/>
              <a:t> 12,376 — 4.95% </a:t>
            </a:r>
          </a:p>
          <a:p>
            <a:pPr>
              <a:spcAft>
                <a:spcPts val="1400"/>
              </a:spcAft>
            </a:pPr>
            <a:endParaRPr sz="1700" dirty="0">
              <a:solidFill>
                <a:srgbClr val="2D2D2D"/>
              </a:solidFill>
              <a:latin typeface="Times New Roman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99605456-3336-9461-B70F-AEDE613C85C6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80561"/>
            <a:ext cx="1614250" cy="6567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>
            <a:extLst>
              <a:ext uri="{FF2B5EF4-FFF2-40B4-BE49-F238E27FC236}">
                <a16:creationId xmlns:a16="http://schemas.microsoft.com/office/drawing/2014/main" id="{67ACC245-70D9-3E8C-5FB8-754CFCF29BA7}"/>
              </a:ext>
            </a:extLst>
          </p:cNvPr>
          <p:cNvGrpSpPr/>
          <p:nvPr/>
        </p:nvGrpSpPr>
        <p:grpSpPr>
          <a:xfrm>
            <a:off x="2477248" y="152400"/>
            <a:ext cx="5103904" cy="1198311"/>
            <a:chOff x="2648188" y="47148"/>
            <a:chExt cx="5103904" cy="1198311"/>
          </a:xfrm>
        </p:grpSpPr>
        <p:pic>
          <p:nvPicPr>
            <p:cNvPr id="8" name="object 4">
              <a:extLst>
                <a:ext uri="{FF2B5EF4-FFF2-40B4-BE49-F238E27FC236}">
                  <a16:creationId xmlns:a16="http://schemas.microsoft.com/office/drawing/2014/main" id="{6520D471-D4E5-A862-75B1-D9BCC13CCE7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9" name="object 5">
              <a:extLst>
                <a:ext uri="{FF2B5EF4-FFF2-40B4-BE49-F238E27FC236}">
                  <a16:creationId xmlns:a16="http://schemas.microsoft.com/office/drawing/2014/main" id="{AD22DAB3-C37B-1766-28C4-6EB13F7079C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10" name="object 6">
              <a:extLst>
                <a:ext uri="{FF2B5EF4-FFF2-40B4-BE49-F238E27FC236}">
                  <a16:creationId xmlns:a16="http://schemas.microsoft.com/office/drawing/2014/main" id="{CDC96198-DF83-D7E8-5187-D35038090D7B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11" name="object 7">
              <a:extLst>
                <a:ext uri="{FF2B5EF4-FFF2-40B4-BE49-F238E27FC236}">
                  <a16:creationId xmlns:a16="http://schemas.microsoft.com/office/drawing/2014/main" id="{BAA191BE-B616-456E-A32A-06C5D11989B1}"/>
                </a:ext>
              </a:extLst>
            </p:cNvPr>
            <p:cNvSpPr/>
            <p:nvPr/>
          </p:nvSpPr>
          <p:spPr>
            <a:xfrm>
              <a:off x="2828925" y="282892"/>
              <a:ext cx="4534295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/>
                <a:t>                     </a:t>
              </a:r>
              <a:endParaRPr sz="2800" dirty="0">
                <a:solidFill>
                  <a:schemeClr val="bg1"/>
                </a:solidFill>
              </a:endParaR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2477248" y="39384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Implementation 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2344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808080"/>
                </a:solidFill>
                <a:latin typeface="Times New Roman"/>
              </a:rPr>
              <a:t>From raw data to actionable insights — adapt these stages to your own project</a:t>
            </a:r>
          </a:p>
        </p:txBody>
      </p:sp>
      <p:sp>
        <p:nvSpPr>
          <p:cNvPr id="14" name="Chevron 13"/>
          <p:cNvSpPr/>
          <p:nvPr/>
        </p:nvSpPr>
        <p:spPr>
          <a:xfrm>
            <a:off x="228600" y="1719103"/>
            <a:ext cx="3246120" cy="960120"/>
          </a:xfrm>
          <a:prstGeom prst="chevron">
            <a:avLst/>
          </a:prstGeom>
          <a:solidFill>
            <a:srgbClr val="2334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Times New Roman"/>
              </a:rPr>
              <a:t>1. Data
Collection</a:t>
            </a:r>
          </a:p>
        </p:txBody>
      </p:sp>
      <p:sp>
        <p:nvSpPr>
          <p:cNvPr id="15" name="Chevron 14"/>
          <p:cNvSpPr/>
          <p:nvPr/>
        </p:nvSpPr>
        <p:spPr>
          <a:xfrm>
            <a:off x="3124200" y="1719103"/>
            <a:ext cx="3246120" cy="960120"/>
          </a:xfrm>
          <a:prstGeom prst="chevron">
            <a:avLst/>
          </a:prstGeom>
          <a:solidFill>
            <a:srgbClr val="FF66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Times New Roman"/>
              </a:rPr>
              <a:t>2. Data
Cleaning</a:t>
            </a:r>
          </a:p>
        </p:txBody>
      </p:sp>
      <p:sp>
        <p:nvSpPr>
          <p:cNvPr id="16" name="Chevron 15"/>
          <p:cNvSpPr/>
          <p:nvPr/>
        </p:nvSpPr>
        <p:spPr>
          <a:xfrm>
            <a:off x="6049537" y="1711855"/>
            <a:ext cx="3246120" cy="960120"/>
          </a:xfrm>
          <a:prstGeom prst="chevron">
            <a:avLst/>
          </a:prstGeom>
          <a:solidFill>
            <a:srgbClr val="2334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3. Pre-
processing</a:t>
            </a:r>
          </a:p>
        </p:txBody>
      </p:sp>
      <p:sp>
        <p:nvSpPr>
          <p:cNvPr id="17" name="Chevron 16"/>
          <p:cNvSpPr/>
          <p:nvPr/>
        </p:nvSpPr>
        <p:spPr>
          <a:xfrm>
            <a:off x="228600" y="3361863"/>
            <a:ext cx="3246120" cy="960120"/>
          </a:xfrm>
          <a:prstGeom prst="chevron">
            <a:avLst/>
          </a:prstGeom>
          <a:solidFill>
            <a:srgbClr val="FF66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Times New Roman"/>
              </a:rPr>
              <a:t>4. EDA</a:t>
            </a:r>
          </a:p>
        </p:txBody>
      </p:sp>
      <p:sp>
        <p:nvSpPr>
          <p:cNvPr id="18" name="Chevron 17"/>
          <p:cNvSpPr/>
          <p:nvPr/>
        </p:nvSpPr>
        <p:spPr>
          <a:xfrm>
            <a:off x="3189806" y="3404423"/>
            <a:ext cx="3246120" cy="960120"/>
          </a:xfrm>
          <a:prstGeom prst="chevron">
            <a:avLst/>
          </a:prstGeom>
          <a:solidFill>
            <a:srgbClr val="2334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5. Visualization</a:t>
            </a:r>
          </a:p>
        </p:txBody>
      </p:sp>
      <p:sp>
        <p:nvSpPr>
          <p:cNvPr id="19" name="Chevron 18"/>
          <p:cNvSpPr/>
          <p:nvPr/>
        </p:nvSpPr>
        <p:spPr>
          <a:xfrm>
            <a:off x="6151012" y="3373014"/>
            <a:ext cx="3246120" cy="960120"/>
          </a:xfrm>
          <a:prstGeom prst="chevron">
            <a:avLst/>
          </a:prstGeom>
          <a:solidFill>
            <a:srgbClr val="FF66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6. Insights &amp;
Report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4572000" y="2721783"/>
            <a:ext cx="640080" cy="640080"/>
          </a:xfrm>
          <a:prstGeom prst="downArrow">
            <a:avLst/>
          </a:prstGeom>
          <a:solidFill>
            <a:srgbClr val="C25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65379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 dirty="0">
                <a:solidFill>
                  <a:srgbClr val="233464"/>
                </a:solidFill>
                <a:latin typeface="Times New Roman"/>
              </a:rPr>
              <a:t>Output: cleaned dataset → charts → a short set of actionable insights</a:t>
            </a:r>
          </a:p>
        </p:txBody>
      </p:sp>
      <p:sp>
        <p:nvSpPr>
          <p:cNvPr id="3" name="Chevron 16">
            <a:extLst>
              <a:ext uri="{FF2B5EF4-FFF2-40B4-BE49-F238E27FC236}">
                <a16:creationId xmlns:a16="http://schemas.microsoft.com/office/drawing/2014/main" id="{268F1796-F832-068C-424F-4A3FB35C26ED}"/>
              </a:ext>
            </a:extLst>
          </p:cNvPr>
          <p:cNvSpPr/>
          <p:nvPr/>
        </p:nvSpPr>
        <p:spPr>
          <a:xfrm>
            <a:off x="3155795" y="5082309"/>
            <a:ext cx="3246120" cy="960120"/>
          </a:xfrm>
          <a:prstGeom prst="chevron">
            <a:avLst/>
          </a:prstGeom>
          <a:solidFill>
            <a:srgbClr val="FF66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Times New Roman"/>
              </a:rPr>
              <a:t>4. EDA</a:t>
            </a:r>
          </a:p>
        </p:txBody>
      </p:sp>
      <p:pic>
        <p:nvPicPr>
          <p:cNvPr id="4" name="object 3">
            <a:extLst>
              <a:ext uri="{FF2B5EF4-FFF2-40B4-BE49-F238E27FC236}">
                <a16:creationId xmlns:a16="http://schemas.microsoft.com/office/drawing/2014/main" id="{9A1C42DA-9884-4451-4E2A-97B0D5DA38D0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80561"/>
            <a:ext cx="1614250" cy="6567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D327D7-0E4B-404C-4A2D-CBAD087DE9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27" y="-1717"/>
            <a:ext cx="10058400" cy="7772400"/>
          </a:xfrm>
          <a:prstGeom prst="rect">
            <a:avLst/>
          </a:prstGeom>
        </p:spPr>
      </p:pic>
      <p:pic>
        <p:nvPicPr>
          <p:cNvPr id="23" name="object 3">
            <a:extLst>
              <a:ext uri="{FF2B5EF4-FFF2-40B4-BE49-F238E27FC236}">
                <a16:creationId xmlns:a16="http://schemas.microsoft.com/office/drawing/2014/main" id="{47C9DFE9-82BA-23A8-88A0-004737DF865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76450" y="127888"/>
            <a:ext cx="184285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525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>
            <a:extLst>
              <a:ext uri="{FF2B5EF4-FFF2-40B4-BE49-F238E27FC236}">
                <a16:creationId xmlns:a16="http://schemas.microsoft.com/office/drawing/2014/main" id="{20B8B724-A73F-F006-222B-6A4FF27EB83E}"/>
              </a:ext>
            </a:extLst>
          </p:cNvPr>
          <p:cNvGrpSpPr/>
          <p:nvPr/>
        </p:nvGrpSpPr>
        <p:grpSpPr>
          <a:xfrm>
            <a:off x="2477248" y="152400"/>
            <a:ext cx="5103904" cy="1198311"/>
            <a:chOff x="2648188" y="47148"/>
            <a:chExt cx="5103904" cy="1198311"/>
          </a:xfrm>
        </p:grpSpPr>
        <p:pic>
          <p:nvPicPr>
            <p:cNvPr id="8" name="object 4">
              <a:extLst>
                <a:ext uri="{FF2B5EF4-FFF2-40B4-BE49-F238E27FC236}">
                  <a16:creationId xmlns:a16="http://schemas.microsoft.com/office/drawing/2014/main" id="{8D96FE08-6C48-29F6-B8BF-733A1FE4EFC2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9" name="object 5">
              <a:extLst>
                <a:ext uri="{FF2B5EF4-FFF2-40B4-BE49-F238E27FC236}">
                  <a16:creationId xmlns:a16="http://schemas.microsoft.com/office/drawing/2014/main" id="{F663E0BF-F2C3-9990-10F0-85152F3B749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10" name="object 6">
              <a:extLst>
                <a:ext uri="{FF2B5EF4-FFF2-40B4-BE49-F238E27FC236}">
                  <a16:creationId xmlns:a16="http://schemas.microsoft.com/office/drawing/2014/main" id="{AF92C391-8A67-101D-C7DE-D42721562E91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11" name="object 7">
              <a:extLst>
                <a:ext uri="{FF2B5EF4-FFF2-40B4-BE49-F238E27FC236}">
                  <a16:creationId xmlns:a16="http://schemas.microsoft.com/office/drawing/2014/main" id="{5C67209A-2109-EE49-1C12-165FDE2056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object 3">
            <a:extLst>
              <a:ext uri="{FF2B5EF4-FFF2-40B4-BE49-F238E27FC236}">
                <a16:creationId xmlns:a16="http://schemas.microsoft.com/office/drawing/2014/main" id="{A2CEDFE4-2383-831F-CDEE-1CF3B0215E16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88870" y="36844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CONCLUSION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981" y="1475556"/>
            <a:ext cx="841248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The project demonstrates a complete UPI transaction data-analysis workflow. </a:t>
            </a:r>
          </a:p>
          <a:p>
            <a:pPr lvl="0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Python and Pandas were used to process and analyse 250,000 transaction records. </a:t>
            </a:r>
          </a:p>
          <a:p>
            <a:pPr lvl="0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Data validation confirmed zero missing values and zero duplicate records. </a:t>
            </a:r>
          </a:p>
          <a:p>
            <a:pPr lvl="0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Statistical analysis provided an understanding of transaction amounts, status and types. </a:t>
            </a:r>
          </a:p>
          <a:p>
            <a:pPr lvl="0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Visualization helped identify patterns across time, merchant, device, network and geographical dimensions. </a:t>
            </a:r>
          </a:p>
          <a:p>
            <a:pPr lvl="0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Fraud analysis helped identify characteristics associated with fraudulent transactions. </a:t>
            </a:r>
          </a:p>
          <a:p>
            <a:pPr lvl="0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The project demonstrates how raw transaction data can be converted into meaningful analytical insights.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03485" y="6016903"/>
            <a:ext cx="8138160" cy="1536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C25B30"/>
                </a:solidFill>
                <a:latin typeface="Aptos"/>
              </a:defRPr>
            </a:pPr>
            <a:r>
              <a:rPr sz="2400" dirty="0">
                <a:latin typeface="Times New Roman" pitchFamily="18" charset="0"/>
                <a:cs typeface="Times New Roman" pitchFamily="18" charset="0"/>
              </a:rPr>
              <a:t>Future scope:</a:t>
            </a:r>
            <a:r>
              <a:rPr lang="en-IN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IN" sz="2000" b="1" i="1" dirty="0"/>
              <a:t>“Transforming UPI data insights into smarter, faster, and more secure digital payment solutions through advanced analytics and fraud detection.”</a:t>
            </a:r>
            <a:endParaRPr lang="en-IN" sz="2000" b="1" dirty="0"/>
          </a:p>
          <a:p>
            <a:pPr algn="ctr">
              <a:spcAft>
                <a:spcPts val="700"/>
              </a:spcAft>
              <a:defRPr sz="1600" b="1">
                <a:solidFill>
                  <a:srgbClr val="C25B30"/>
                </a:solidFill>
                <a:latin typeface="Aptos"/>
              </a:defRPr>
            </a:pPr>
            <a:endParaRPr sz="24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4192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58400" cy="7772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Freeform: Shape 23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9400" y="0"/>
            <a:ext cx="8219599" cy="77724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5372" y="0"/>
            <a:ext cx="8207655" cy="77724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257302" y="2266230"/>
            <a:ext cx="7543800" cy="3132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700"/>
              </a:spcAft>
              <a:defRPr sz="3400" b="1">
                <a:solidFill>
                  <a:srgbClr val="233464"/>
                </a:solidFill>
                <a:latin typeface="Aptos"/>
              </a:defRPr>
            </a:pPr>
            <a:r>
              <a:rPr lang="en-US" sz="3600" kern="1200" dirty="0">
                <a:solidFill>
                  <a:schemeClr val="tx1"/>
                </a:solidFill>
                <a:latin typeface="Times New Roman" pitchFamily="18" charset="0"/>
                <a:ea typeface="+mj-ea"/>
                <a:cs typeface="Times New Roman" pitchFamily="18" charset="0"/>
              </a:rPr>
              <a:t>THANK YOU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67812" y="6261424"/>
            <a:ext cx="3922776" cy="310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object 3">
            <a:extLst>
              <a:ext uri="{FF2B5EF4-FFF2-40B4-BE49-F238E27FC236}">
                <a16:creationId xmlns:a16="http://schemas.microsoft.com/office/drawing/2014/main" id="{A36E30A8-BD1B-0058-4620-F390351DADB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778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3409</TotalTime>
  <Words>1023</Words>
  <Application>Microsoft Office PowerPoint</Application>
  <PresentationFormat>Custom</PresentationFormat>
  <Paragraphs>186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Calibri</vt:lpstr>
      <vt:lpstr>Palatino Linotype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Zeroth Review</dc:title>
  <dc:creator>RESHMA BASAPATHI</dc:creator>
  <cp:lastModifiedBy>divija aalla</cp:lastModifiedBy>
  <cp:revision>113</cp:revision>
  <cp:lastPrinted>2025-10-14T18:21:49Z</cp:lastPrinted>
  <dcterms:created xsi:type="dcterms:W3CDTF">2025-10-10T08:28:06Z</dcterms:created>
  <dcterms:modified xsi:type="dcterms:W3CDTF">2026-09-29T08:56:16Z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2025-09-12T00:00:00Z</vt:filetime>
  </property>
  <property fmtid="{D5CDD505-2E9C-101B-9397-08002B2CF9AE}" pid="3" name="LastSaved">
    <vt:filetime>2025-10-10T00:00:00Z</vt:filetime>
  </property>
</Properties>
</file>