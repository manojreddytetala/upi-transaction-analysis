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1" r:id="rId10"/>
    <p:sldId id="281" r:id="rId11"/>
    <p:sldId id="283" r:id="rId12"/>
    <p:sldId id="285" r:id="rId13"/>
    <p:sldId id="268" r:id="rId14"/>
    <p:sldId id="269" r:id="rId1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660"/>
  </p:normalViewPr>
  <p:slideViewPr>
    <p:cSldViewPr>
      <p:cViewPr varScale="1">
        <p:scale>
          <a:sx n="63" d="100"/>
          <a:sy n="63" d="100"/>
        </p:scale>
        <p:origin x="13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Reddy Tetala" userId="d0a499fca1df3751" providerId="LiveId" clId="{844F9A02-E604-4125-9813-311D2C5B92A5}"/>
    <pc:docChg chg="undo custSel delSld modSld">
      <pc:chgData name="Manoj Reddy Tetala" userId="d0a499fca1df3751" providerId="LiveId" clId="{844F9A02-E604-4125-9813-311D2C5B92A5}" dt="2026-10-30T04:12:36.374" v="144" actId="20577"/>
      <pc:docMkLst>
        <pc:docMk/>
      </pc:docMkLst>
      <pc:sldChg chg="modSp mod">
        <pc:chgData name="Manoj Reddy Tetala" userId="d0a499fca1df3751" providerId="LiveId" clId="{844F9A02-E604-4125-9813-311D2C5B92A5}" dt="2026-10-26T10:54:21.252" v="117" actId="1076"/>
        <pc:sldMkLst>
          <pc:docMk/>
          <pc:sldMk cId="0" sldId="256"/>
        </pc:sldMkLst>
        <pc:spChg chg="mod">
          <ac:chgData name="Manoj Reddy Tetala" userId="d0a499fca1df3751" providerId="LiveId" clId="{844F9A02-E604-4125-9813-311D2C5B92A5}" dt="2026-10-26T10:54:21.252" v="117" actId="107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Manoj Reddy Tetala" userId="d0a499fca1df3751" providerId="LiveId" clId="{844F9A02-E604-4125-9813-311D2C5B92A5}" dt="2026-10-30T04:12:36.374" v="144" actId="20577"/>
        <pc:sldMkLst>
          <pc:docMk/>
          <pc:sldMk cId="0" sldId="257"/>
        </pc:sldMkLst>
        <pc:spChg chg="mod">
          <ac:chgData name="Manoj Reddy Tetala" userId="d0a499fca1df3751" providerId="LiveId" clId="{844F9A02-E604-4125-9813-311D2C5B92A5}" dt="2026-10-26T10:17:09.998" v="72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noj Reddy Tetala" userId="d0a499fca1df3751" providerId="LiveId" clId="{844F9A02-E604-4125-9813-311D2C5B92A5}" dt="2026-10-30T04:12:36.374" v="144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 mod">
        <pc:chgData name="Manoj Reddy Tetala" userId="d0a499fca1df3751" providerId="LiveId" clId="{844F9A02-E604-4125-9813-311D2C5B92A5}" dt="2026-10-26T10:17:23.987" v="73"/>
        <pc:sldMkLst>
          <pc:docMk/>
          <pc:sldMk cId="0" sldId="258"/>
        </pc:sldMkLst>
        <pc:spChg chg="mod">
          <ac:chgData name="Manoj Reddy Tetala" userId="d0a499fca1df3751" providerId="LiveId" clId="{844F9A02-E604-4125-9813-311D2C5B92A5}" dt="2026-10-26T10:17:23.987" v="73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Manoj Reddy Tetala" userId="d0a499fca1df3751" providerId="LiveId" clId="{844F9A02-E604-4125-9813-311D2C5B92A5}" dt="2026-10-26T10:17:30.153" v="74"/>
        <pc:sldMkLst>
          <pc:docMk/>
          <pc:sldMk cId="86789223" sldId="259"/>
        </pc:sldMkLst>
        <pc:spChg chg="mod">
          <ac:chgData name="Manoj Reddy Tetala" userId="d0a499fca1df3751" providerId="LiveId" clId="{844F9A02-E604-4125-9813-311D2C5B92A5}" dt="2026-10-26T10:17:30.153" v="74"/>
          <ac:spMkLst>
            <pc:docMk/>
            <pc:sldMk cId="86789223" sldId="259"/>
            <ac:spMk id="18" creationId="{00000000-0000-0000-0000-000000000000}"/>
          </ac:spMkLst>
        </pc:spChg>
      </pc:sldChg>
      <pc:sldChg chg="modSp mod">
        <pc:chgData name="Manoj Reddy Tetala" userId="d0a499fca1df3751" providerId="LiveId" clId="{844F9A02-E604-4125-9813-311D2C5B92A5}" dt="2026-10-26T10:21:16.522" v="105" actId="1076"/>
        <pc:sldMkLst>
          <pc:docMk/>
          <pc:sldMk cId="314495878" sldId="271"/>
        </pc:sldMkLst>
        <pc:spChg chg="mod">
          <ac:chgData name="Manoj Reddy Tetala" userId="d0a499fca1df3751" providerId="LiveId" clId="{844F9A02-E604-4125-9813-311D2C5B92A5}" dt="2026-10-26T10:21:16.522" v="105" actId="1076"/>
          <ac:spMkLst>
            <pc:docMk/>
            <pc:sldMk cId="314495878" sldId="271"/>
            <ac:spMk id="12" creationId="{00000000-0000-0000-0000-000000000000}"/>
          </ac:spMkLst>
        </pc:spChg>
      </pc:sldChg>
      <pc:sldChg chg="modSp mod">
        <pc:chgData name="Manoj Reddy Tetala" userId="d0a499fca1df3751" providerId="LiveId" clId="{844F9A02-E604-4125-9813-311D2C5B92A5}" dt="2026-10-26T10:18:07.166" v="79" actId="1076"/>
        <pc:sldMkLst>
          <pc:docMk/>
          <pc:sldMk cId="4273835673" sldId="274"/>
        </pc:sldMkLst>
        <pc:spChg chg="mod">
          <ac:chgData name="Manoj Reddy Tetala" userId="d0a499fca1df3751" providerId="LiveId" clId="{844F9A02-E604-4125-9813-311D2C5B92A5}" dt="2026-10-26T10:17:53.100" v="77" actId="1076"/>
          <ac:spMkLst>
            <pc:docMk/>
            <pc:sldMk cId="4273835673" sldId="274"/>
            <ac:spMk id="18" creationId="{00000000-0000-0000-0000-000000000000}"/>
          </ac:spMkLst>
        </pc:spChg>
        <pc:grpChg chg="mod">
          <ac:chgData name="Manoj Reddy Tetala" userId="d0a499fca1df3751" providerId="LiveId" clId="{844F9A02-E604-4125-9813-311D2C5B92A5}" dt="2026-10-26T10:18:07.166" v="79" actId="1076"/>
          <ac:grpSpMkLst>
            <pc:docMk/>
            <pc:sldMk cId="4273835673" sldId="274"/>
            <ac:grpSpMk id="4" creationId="{2B9EFFBF-7726-ED21-BD6C-4021B49E4438}"/>
          </ac:grpSpMkLst>
        </pc:grpChg>
        <pc:picChg chg="mod">
          <ac:chgData name="Manoj Reddy Tetala" userId="d0a499fca1df3751" providerId="LiveId" clId="{844F9A02-E604-4125-9813-311D2C5B92A5}" dt="2026-10-26T10:17:48.509" v="76" actId="1076"/>
          <ac:picMkLst>
            <pc:docMk/>
            <pc:sldMk cId="4273835673" sldId="274"/>
            <ac:picMk id="7" creationId="{5FC53D65-7751-C01A-F243-C971B8A54510}"/>
          </ac:picMkLst>
        </pc:picChg>
      </pc:sldChg>
      <pc:sldChg chg="modSp mod">
        <pc:chgData name="Manoj Reddy Tetala" userId="d0a499fca1df3751" providerId="LiveId" clId="{844F9A02-E604-4125-9813-311D2C5B92A5}" dt="2026-10-26T10:21:02.530" v="103" actId="122"/>
        <pc:sldMkLst>
          <pc:docMk/>
          <pc:sldMk cId="709256651" sldId="276"/>
        </pc:sldMkLst>
        <pc:spChg chg="mod">
          <ac:chgData name="Manoj Reddy Tetala" userId="d0a499fca1df3751" providerId="LiveId" clId="{844F9A02-E604-4125-9813-311D2C5B92A5}" dt="2026-10-26T10:21:02.530" v="103" actId="122"/>
          <ac:spMkLst>
            <pc:docMk/>
            <pc:sldMk cId="709256651" sldId="276"/>
            <ac:spMk id="7" creationId="{6FF94120-5DAA-BA86-6F61-CE59BF796C68}"/>
          </ac:spMkLst>
        </pc:spChg>
        <pc:spChg chg="mod">
          <ac:chgData name="Manoj Reddy Tetala" userId="d0a499fca1df3751" providerId="LiveId" clId="{844F9A02-E604-4125-9813-311D2C5B92A5}" dt="2026-10-26T10:20:50.537" v="96" actId="1076"/>
          <ac:spMkLst>
            <pc:docMk/>
            <pc:sldMk cId="709256651" sldId="276"/>
            <ac:spMk id="18" creationId="{00000000-0000-0000-0000-000000000000}"/>
          </ac:spMkLst>
        </pc:spChg>
        <pc:grpChg chg="mod">
          <ac:chgData name="Manoj Reddy Tetala" userId="d0a499fca1df3751" providerId="LiveId" clId="{844F9A02-E604-4125-9813-311D2C5B92A5}" dt="2026-10-26T10:20:54.378" v="97" actId="1076"/>
          <ac:grpSpMkLst>
            <pc:docMk/>
            <pc:sldMk cId="709256651" sldId="276"/>
            <ac:grpSpMk id="3" creationId="{39A132B5-7282-BB0D-41D0-2D605FAF9D2A}"/>
          </ac:grpSpMkLst>
        </pc:grpChg>
      </pc:sldChg>
      <pc:sldChg chg="modSp mod">
        <pc:chgData name="Manoj Reddy Tetala" userId="d0a499fca1df3751" providerId="LiveId" clId="{844F9A02-E604-4125-9813-311D2C5B92A5}" dt="2026-10-26T10:20:12.028" v="91" actId="122"/>
        <pc:sldMkLst>
          <pc:docMk/>
          <pc:sldMk cId="1626336424" sldId="279"/>
        </pc:sldMkLst>
        <pc:spChg chg="mod">
          <ac:chgData name="Manoj Reddy Tetala" userId="d0a499fca1df3751" providerId="LiveId" clId="{844F9A02-E604-4125-9813-311D2C5B92A5}" dt="2026-10-26T10:19:46.859" v="88" actId="122"/>
          <ac:spMkLst>
            <pc:docMk/>
            <pc:sldMk cId="1626336424" sldId="279"/>
            <ac:spMk id="6" creationId="{2F06FBF5-D468-2472-2E09-3659EB0BF5ED}"/>
          </ac:spMkLst>
        </pc:spChg>
        <pc:spChg chg="mod">
          <ac:chgData name="Manoj Reddy Tetala" userId="d0a499fca1df3751" providerId="LiveId" clId="{844F9A02-E604-4125-9813-311D2C5B92A5}" dt="2026-10-26T10:20:12.028" v="91" actId="122"/>
          <ac:spMkLst>
            <pc:docMk/>
            <pc:sldMk cId="1626336424" sldId="279"/>
            <ac:spMk id="18" creationId="{00000000-0000-0000-0000-000000000000}"/>
          </ac:spMkLst>
        </pc:spChg>
        <pc:spChg chg="mod">
          <ac:chgData name="Manoj Reddy Tetala" userId="d0a499fca1df3751" providerId="LiveId" clId="{844F9A02-E604-4125-9813-311D2C5B92A5}" dt="2026-10-26T10:19:46.859" v="88" actId="122"/>
          <ac:spMkLst>
            <pc:docMk/>
            <pc:sldMk cId="1626336424" sldId="279"/>
            <ac:spMk id="19" creationId="{00000000-0000-0000-0000-000000000000}"/>
          </ac:spMkLst>
        </pc:spChg>
        <pc:grpChg chg="mod">
          <ac:chgData name="Manoj Reddy Tetala" userId="d0a499fca1df3751" providerId="LiveId" clId="{844F9A02-E604-4125-9813-311D2C5B92A5}" dt="2026-10-26T10:19:38.113" v="84" actId="1076"/>
          <ac:grpSpMkLst>
            <pc:docMk/>
            <pc:sldMk cId="1626336424" sldId="279"/>
            <ac:grpSpMk id="2" creationId="{5B758792-840A-895D-A2CD-A09955CC1720}"/>
          </ac:grpSpMkLst>
        </pc:grpChg>
      </pc:sldChg>
      <pc:sldChg chg="modSp mod">
        <pc:chgData name="Manoj Reddy Tetala" userId="d0a499fca1df3751" providerId="LiveId" clId="{844F9A02-E604-4125-9813-311D2C5B92A5}" dt="2026-10-26T10:16:33.701" v="44" actId="20577"/>
        <pc:sldMkLst>
          <pc:docMk/>
          <pc:sldMk cId="3510378788" sldId="280"/>
        </pc:sldMkLst>
        <pc:spChg chg="mod">
          <ac:chgData name="Manoj Reddy Tetala" userId="d0a499fca1df3751" providerId="LiveId" clId="{844F9A02-E604-4125-9813-311D2C5B92A5}" dt="2026-10-26T10:16:33.701" v="44" actId="20577"/>
          <ac:spMkLst>
            <pc:docMk/>
            <pc:sldMk cId="3510378788" sldId="280"/>
            <ac:spMk id="18" creationId="{00000000-0000-0000-0000-000000000000}"/>
          </ac:spMkLst>
        </pc:spChg>
      </pc:sldChg>
      <pc:sldChg chg="modSp mod">
        <pc:chgData name="Manoj Reddy Tetala" userId="d0a499fca1df3751" providerId="LiveId" clId="{844F9A02-E604-4125-9813-311D2C5B92A5}" dt="2026-10-26T10:22:27.268" v="112" actId="255"/>
        <pc:sldMkLst>
          <pc:docMk/>
          <pc:sldMk cId="3744217247" sldId="281"/>
        </pc:sldMkLst>
        <pc:spChg chg="mod">
          <ac:chgData name="Manoj Reddy Tetala" userId="d0a499fca1df3751" providerId="LiveId" clId="{844F9A02-E604-4125-9813-311D2C5B92A5}" dt="2026-10-26T10:22:27.268" v="112" actId="255"/>
          <ac:spMkLst>
            <pc:docMk/>
            <pc:sldMk cId="3744217247" sldId="281"/>
            <ac:spMk id="25" creationId="{A5CA9835-2A27-E3B2-E349-E0FE4429CFBE}"/>
          </ac:spMkLst>
        </pc:spChg>
      </pc:sldChg>
      <pc:sldChg chg="modSp">
        <pc:chgData name="Manoj Reddy Tetala" userId="d0a499fca1df3751" providerId="LiveId" clId="{844F9A02-E604-4125-9813-311D2C5B92A5}" dt="2026-10-26T10:21:42.745" v="106"/>
        <pc:sldMkLst>
          <pc:docMk/>
          <pc:sldMk cId="3751606688" sldId="283"/>
        </pc:sldMkLst>
        <pc:spChg chg="mod">
          <ac:chgData name="Manoj Reddy Tetala" userId="d0a499fca1df3751" providerId="LiveId" clId="{844F9A02-E604-4125-9813-311D2C5B92A5}" dt="2026-10-26T10:21:42.745" v="106"/>
          <ac:spMkLst>
            <pc:docMk/>
            <pc:sldMk cId="3751606688" sldId="283"/>
            <ac:spMk id="25" creationId="{00000000-0000-0000-0000-000000000000}"/>
          </ac:spMkLst>
        </pc:spChg>
      </pc:sldChg>
      <pc:sldChg chg="modSp del mod">
        <pc:chgData name="Manoj Reddy Tetala" userId="d0a499fca1df3751" providerId="LiveId" clId="{844F9A02-E604-4125-9813-311D2C5B92A5}" dt="2026-10-29T14:55:10.002" v="118" actId="47"/>
        <pc:sldMkLst>
          <pc:docMk/>
          <pc:sldMk cId="49352596" sldId="284"/>
        </pc:sldMkLst>
      </pc:sldChg>
      <pc:sldChg chg="modSp mod">
        <pc:chgData name="Manoj Reddy Tetala" userId="d0a499fca1df3751" providerId="LiveId" clId="{844F9A02-E604-4125-9813-311D2C5B92A5}" dt="2026-10-26T10:22:04.522" v="111" actId="113"/>
        <pc:sldMkLst>
          <pc:docMk/>
          <pc:sldMk cId="0" sldId="285"/>
        </pc:sldMkLst>
        <pc:spChg chg="mod">
          <ac:chgData name="Manoj Reddy Tetala" userId="d0a499fca1df3751" providerId="LiveId" clId="{844F9A02-E604-4125-9813-311D2C5B92A5}" dt="2026-10-26T10:22:04.522" v="111" actId="113"/>
          <ac:spMkLst>
            <pc:docMk/>
            <pc:sldMk cId="0" sldId="285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500" b="0" dirty="0">
                <a:latin typeface="Arial"/>
              </a:rPr>
              <a:t>Transaction Type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F77B4"/>
            </a:solidFill>
            <a:ln>
              <a:solidFill>
                <a:srgbClr val="1F77B4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P2P</c:v>
                </c:pt>
                <c:pt idx="1">
                  <c:v>P2M</c:v>
                </c:pt>
                <c:pt idx="2">
                  <c:v>Bill Payment</c:v>
                </c:pt>
                <c:pt idx="3">
                  <c:v>Recharge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112000</c:v>
                </c:pt>
                <c:pt idx="1">
                  <c:v>88000</c:v>
                </c:pt>
                <c:pt idx="2">
                  <c:v>37000</c:v>
                </c:pt>
                <c:pt idx="3">
                  <c:v>13000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F77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0A1-4BBE-8568-DB081FEC4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000"/>
          <c:min val="0"/>
        </c:scaling>
        <c:delete val="0"/>
        <c:axPos val="l"/>
        <c:majorGridlines>
          <c:spPr>
            <a:ln w="7620">
              <a:solidFill>
                <a:srgbClr val="BEBEB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500" dirty="0"/>
                  <a:t>Number of Transactions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  <c:majorUnit val="200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500" b="0" dirty="0">
                <a:latin typeface="Arial"/>
              </a:rPr>
              <a:t>Weekday vs Weekend Transactions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F77B4"/>
            </a:solidFill>
            <a:ln>
              <a:solidFill>
                <a:srgbClr val="1F77B4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179000</c:v>
                </c:pt>
                <c:pt idx="1">
                  <c:v>72000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F77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84F-4634-BFF4-ACE3F2DE76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0000"/>
          <c:min val="0"/>
        </c:scaling>
        <c:delete val="0"/>
        <c:axPos val="l"/>
        <c:majorGridlines>
          <c:spPr>
            <a:ln w="7620">
              <a:solidFill>
                <a:srgbClr val="BEBEB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500" dirty="0"/>
                  <a:t>Number of Transactions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  <c:majorUnit val="250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500" b="0" dirty="0">
                <a:latin typeface="Arial"/>
              </a:rPr>
              <a:t>Transaction Activity by Hour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ln w="19050">
              <a:solidFill>
                <a:srgbClr val="1F77B4"/>
              </a:solidFill>
            </a:ln>
          </c:spPr>
          <c:marker>
            <c:symbol val="diamond"/>
            <c:size val="4"/>
            <c:spPr>
              <a:solidFill>
                <a:srgbClr val="1F77B4"/>
              </a:solidFill>
              <a:ln>
                <a:solidFill>
                  <a:srgbClr val="1F77B4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3500</c:v>
                </c:pt>
                <c:pt idx="1">
                  <c:v>2500</c:v>
                </c:pt>
                <c:pt idx="2">
                  <c:v>1800</c:v>
                </c:pt>
                <c:pt idx="3">
                  <c:v>1500</c:v>
                </c:pt>
                <c:pt idx="4">
                  <c:v>1300</c:v>
                </c:pt>
                <c:pt idx="5">
                  <c:v>1400</c:v>
                </c:pt>
                <c:pt idx="6">
                  <c:v>2000</c:v>
                </c:pt>
                <c:pt idx="7">
                  <c:v>3500</c:v>
                </c:pt>
                <c:pt idx="8">
                  <c:v>6500</c:v>
                </c:pt>
                <c:pt idx="9">
                  <c:v>8500</c:v>
                </c:pt>
                <c:pt idx="10">
                  <c:v>10500</c:v>
                </c:pt>
                <c:pt idx="11">
                  <c:v>14000</c:v>
                </c:pt>
                <c:pt idx="12">
                  <c:v>15500</c:v>
                </c:pt>
                <c:pt idx="13">
                  <c:v>17000</c:v>
                </c:pt>
                <c:pt idx="14">
                  <c:v>11500</c:v>
                </c:pt>
                <c:pt idx="15">
                  <c:v>12500</c:v>
                </c:pt>
                <c:pt idx="16">
                  <c:v>14000</c:v>
                </c:pt>
                <c:pt idx="17">
                  <c:v>18000</c:v>
                </c:pt>
                <c:pt idx="18">
                  <c:v>20500</c:v>
                </c:pt>
                <c:pt idx="19">
                  <c:v>22000</c:v>
                </c:pt>
                <c:pt idx="20">
                  <c:v>18500</c:v>
                </c:pt>
                <c:pt idx="21">
                  <c:v>16000</c:v>
                </c:pt>
                <c:pt idx="22">
                  <c:v>9500</c:v>
                </c:pt>
                <c:pt idx="23">
                  <c:v>5500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86-47E4-BDB7-9196C17166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500" dirty="0"/>
                  <a:t>Hour of Day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000"/>
          <c:min val="0"/>
        </c:scaling>
        <c:delete val="0"/>
        <c:axPos val="l"/>
        <c:majorGridlines>
          <c:spPr>
            <a:ln w="7620">
              <a:solidFill>
                <a:srgbClr val="BEBEB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500" dirty="0"/>
                  <a:t>Number of Transactions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  <c:majorUnit val="500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500" b="0" dirty="0">
                <a:latin typeface="Arial"/>
              </a:rPr>
              <a:t>Transactions by Device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F77B4"/>
            </a:solidFill>
            <a:ln>
              <a:solidFill>
                <a:srgbClr val="1F77B4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Android</c:v>
                </c:pt>
                <c:pt idx="1">
                  <c:v>iOS</c:v>
                </c:pt>
                <c:pt idx="2">
                  <c:v>Web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185000</c:v>
                </c:pt>
                <c:pt idx="1">
                  <c:v>50000</c:v>
                </c:pt>
                <c:pt idx="2">
                  <c:v>12000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F77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16F-4806-9015-20F0510395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500" dirty="0"/>
                  <a:t>Device Type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0000"/>
          <c:min val="0"/>
        </c:scaling>
        <c:delete val="0"/>
        <c:axPos val="l"/>
        <c:majorGridlines>
          <c:spPr>
            <a:ln w="7620">
              <a:solidFill>
                <a:srgbClr val="BEBEB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500" dirty="0"/>
                  <a:t>Number of Transactions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  <c:majorUnit val="250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2.png"/><Relationship Id="rId7" Type="http://schemas.openxmlformats.org/officeDocument/2006/relationships/chart" Target="../charts/chart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8.png"/><Relationship Id="rId9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UPI TRANSACTION ANALYSIS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352800"/>
            <a:ext cx="7955279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T.MANOJ REDDY(25B11CS946)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K.SURYA(25B11CS002)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A.DIVIJA(25B11CS005)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S. JASWANTHI(25B11CS845)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Guide: Mr. </a:t>
            </a:r>
            <a:r>
              <a:rPr sz="1600" b="1" dirty="0" err="1">
                <a:latin typeface="Times New Roman" pitchFamily="18" charset="0"/>
                <a:cs typeface="Times New Roman" pitchFamily="18" charset="0"/>
              </a:rPr>
              <a:t>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624" y="589401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459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Problem Understanding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Current Approach &amp; Limitations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Approach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Description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Methodology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Insights 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&amp;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20" y="1462390"/>
            <a:ext cx="86868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UPI generates a huge volume of digital transaction data every day.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Raw transaction records are difficult to understand without systematic analysis.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Manual examination of thousands of transactions is time-consuming.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Important patterns related to transaction behaviour, time, location and fraud may remain hidden.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Data analytics can transform raw UPI records into meaningful insights.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This project analyses UPI transactions to identify transaction patterns and characteristics associated with fraudulent transactions</a:t>
            </a:r>
            <a:r>
              <a:rPr lang="en-IN"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129711"/>
            <a:ext cx="877824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/>
              <a:t>UPI has become an important digital payment method.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/>
              <a:t>Large volumes of transaction data are generated through different transaction types and channels.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/>
              <a:t>The dataset contains information about transaction amount, status, merchant category, location, device, network and fraud.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/>
              <a:t>Python-based data analysis helps process and interpret this information.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/>
              <a:t>Pandas is used for data loading, filtering, grouping and statistical analysis.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dirty="0"/>
              <a:t>Matplotlib is used to visualize important transaction patterns.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19784" y="63329"/>
            <a:ext cx="5334000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0942" y="266940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89304" y="339794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CURRENT / MANUAL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52600"/>
            <a:ext cx="877824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Transaction data is stored in large CSV/database records.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Manual inspection of individual transactions is difficult.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Finding transaction trends manually takes significant time.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Fraudulent transactions can be difficult to identify from raw records.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Comparing transaction categories manually is inefficient.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Raw numerical data is difficult to interpret without visualization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5B758792-840A-895D-A2CD-A09955CC1720}"/>
              </a:ext>
            </a:extLst>
          </p:cNvPr>
          <p:cNvGrpSpPr/>
          <p:nvPr/>
        </p:nvGrpSpPr>
        <p:grpSpPr>
          <a:xfrm>
            <a:off x="2209800" y="87763"/>
            <a:ext cx="6858000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290B6E4-4C6A-D92F-FFFC-B388B78435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7F4EE37-279F-308C-F87F-6E638DA193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ED23BED-35EB-2EF2-62D6-17D1E3CB00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06FBF5-D468-2472-2E09-3659EB0BF5E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476500" y="300038"/>
            <a:ext cx="6324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LIMITATIONS OF MANUAL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452223"/>
            <a:ext cx="87782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Time-consuming for large datasets. </a:t>
            </a:r>
          </a:p>
          <a:p>
            <a:pPr lvl="0" algn="just"/>
            <a:endParaRPr lang="en-IN" sz="2400" dirty="0"/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Difficult to process 250,000 transactions manually.</a:t>
            </a:r>
          </a:p>
          <a:p>
            <a:pPr lvl="0" algn="just"/>
            <a:r>
              <a:rPr lang="en-IN" sz="2400" dirty="0"/>
              <a:t>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High possibility of human error. </a:t>
            </a:r>
          </a:p>
          <a:p>
            <a:pPr lvl="0" algn="just"/>
            <a:endParaRPr lang="en-IN" sz="2400" dirty="0"/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Difficult to identify time-based patterns. </a:t>
            </a:r>
          </a:p>
          <a:p>
            <a:pPr lvl="0" algn="just"/>
            <a:endParaRPr lang="en-IN" sz="2400" dirty="0"/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Fraud patterns may remain hidden. </a:t>
            </a:r>
          </a:p>
          <a:p>
            <a:pPr lvl="0" algn="just"/>
            <a:endParaRPr lang="en-IN" sz="2400" dirty="0"/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2400" dirty="0"/>
              <a:t>Comparing states, devices, networks and merchant categories is difficult. </a:t>
            </a:r>
          </a:p>
          <a:p>
            <a:pPr lvl="0" algn="just"/>
            <a:endParaRPr lang="en-IN" sz="2400" dirty="0"/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Raw data does not provide an easy visual understanding.</a:t>
            </a:r>
          </a:p>
          <a:p>
            <a:pPr algn="just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24116" y="204311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662680" y="36142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058200"/>
            <a:ext cx="8503920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Load the UPI dataset using Python and Pandas.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Explore the dataset structure and attributes.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Validate missing values and duplicate records.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Filter successful and fraudulent transactions.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Convert timestamp information into useful time attributes.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Group transactions by important categories.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Perform statistical and comparative analysis.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Create visualizations using Matplotlib. 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/>
              <a:t>Interpret patterns and identify characteristics associated with fraud.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ESCRIPTION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6A059D-6856-DDF6-C2FA-11C5B1B11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328752"/>
              </p:ext>
            </p:extLst>
          </p:nvPr>
        </p:nvGraphicFramePr>
        <p:xfrm>
          <a:off x="425450" y="2571217"/>
          <a:ext cx="44831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701">
                  <a:extLst>
                    <a:ext uri="{9D8B030D-6E8A-4147-A177-3AD203B41FA5}">
                      <a16:colId xmlns:a16="http://schemas.microsoft.com/office/drawing/2014/main" val="3790256215"/>
                    </a:ext>
                  </a:extLst>
                </a:gridCol>
                <a:gridCol w="2699399">
                  <a:extLst>
                    <a:ext uri="{9D8B030D-6E8A-4147-A177-3AD203B41FA5}">
                      <a16:colId xmlns:a16="http://schemas.microsoft.com/office/drawing/2014/main" val="123890867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Field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Description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268975674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transaction id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Unique ID assigned to each transaction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277488591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timestamp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Date and time of the transaction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41808099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transaction type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Type of transaction (P2P / P2M)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121516388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merchant_category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Merchant category for the payment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84551229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amount (INR)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Transaction amount in Indian Rupees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176088608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transaction_status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Transaction outcome (SUCCESS / FAILED)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338131512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sender_state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State of the sender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319441589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fraud_flag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tc>
                  <a:txBody>
                    <a:bodyPr/>
                    <a:lstStyle/>
                    <a:p>
                      <a:pPr marL="0"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Fraud indicator (0 = non-fraud, 1 = fraud)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3152" anchor="ctr"/>
                </a:tc>
                <a:extLst>
                  <a:ext uri="{0D108BD9-81ED-4DB2-BD59-A6C34878D82A}">
                    <a16:rowId xmlns:a16="http://schemas.microsoft.com/office/drawing/2014/main" val="3802110629"/>
                  </a:ext>
                </a:extLst>
              </a:tr>
            </a:tbl>
          </a:graphicData>
        </a:graphic>
      </p:graphicFrame>
      <p:sp>
        <p:nvSpPr>
          <p:cNvPr id="33" name="Rounded Rectangle 20">
            <a:extLst>
              <a:ext uri="{FF2B5EF4-FFF2-40B4-BE49-F238E27FC236}">
                <a16:creationId xmlns:a16="http://schemas.microsoft.com/office/drawing/2014/main" id="{E15AB9C0-757E-54D3-2838-99550CA9508C}"/>
              </a:ext>
            </a:extLst>
          </p:cNvPr>
          <p:cNvSpPr/>
          <p:nvPr/>
        </p:nvSpPr>
        <p:spPr>
          <a:xfrm>
            <a:off x="5241370" y="2571217"/>
            <a:ext cx="4526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6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941781-A925-ECE9-CBEF-751ED2AF3790}"/>
              </a:ext>
            </a:extLst>
          </p:cNvPr>
          <p:cNvSpPr txBox="1"/>
          <p:nvPr/>
        </p:nvSpPr>
        <p:spPr>
          <a:xfrm>
            <a:off x="5652850" y="2726665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6F11"/>
                </a:solidFill>
                <a:latin typeface="Times New Roman"/>
              </a:rPr>
              <a:t>Dataset Snapshot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20CCD-5BF6-36CF-6B16-75C2B1AFC6C7}"/>
              </a:ext>
            </a:extLst>
          </p:cNvPr>
          <p:cNvSpPr txBox="1"/>
          <p:nvPr/>
        </p:nvSpPr>
        <p:spPr>
          <a:xfrm>
            <a:off x="5652850" y="3046705"/>
            <a:ext cx="3840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F4E79"/>
                </a:solidFill>
                <a:latin typeface="Arial"/>
              </a:rPr>
              <a:t>250,000 records   |   </a:t>
            </a:r>
            <a:r>
              <a:rPr lang="en-US" sz="1000" dirty="0">
                <a:solidFill>
                  <a:srgbClr val="1F4E79"/>
                </a:solidFill>
                <a:latin typeface="Arial"/>
              </a:rPr>
              <a:t>27</a:t>
            </a:r>
            <a:r>
              <a:rPr sz="1000" b="0" i="0" dirty="0">
                <a:solidFill>
                  <a:srgbClr val="1F4E79"/>
                </a:solidFill>
                <a:latin typeface="Arial"/>
              </a:rPr>
              <a:t> columns   |   Year: 2024</a:t>
            </a: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CCA4B64E-9B16-1B11-E6D8-87696664218C}"/>
              </a:ext>
            </a:extLst>
          </p:cNvPr>
          <p:cNvSpPr/>
          <p:nvPr/>
        </p:nvSpPr>
        <p:spPr>
          <a:xfrm>
            <a:off x="5241370" y="3577057"/>
            <a:ext cx="4526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6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171A38-BCB1-B1C1-8E56-A1BFFE370385}"/>
              </a:ext>
            </a:extLst>
          </p:cNvPr>
          <p:cNvSpPr txBox="1"/>
          <p:nvPr/>
        </p:nvSpPr>
        <p:spPr>
          <a:xfrm>
            <a:off x="5652850" y="3732505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6F11"/>
                </a:solidFill>
                <a:latin typeface="Times New Roman"/>
              </a:rPr>
              <a:t>Data Quality Checks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2D66CC-9164-61D1-B6F9-84E4A61B1C1B}"/>
              </a:ext>
            </a:extLst>
          </p:cNvPr>
          <p:cNvSpPr txBox="1"/>
          <p:nvPr/>
        </p:nvSpPr>
        <p:spPr>
          <a:xfrm>
            <a:off x="5652850" y="405254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F4E79"/>
                </a:solidFill>
                <a:latin typeface="Arial"/>
              </a:rPr>
              <a:t>0 missing values   •   0 duplicate rows   •   numeric and categorical fields verified</a:t>
            </a:r>
          </a:p>
        </p:txBody>
      </p:sp>
      <p:sp>
        <p:nvSpPr>
          <p:cNvPr id="45" name="Rounded Rectangle 26">
            <a:extLst>
              <a:ext uri="{FF2B5EF4-FFF2-40B4-BE49-F238E27FC236}">
                <a16:creationId xmlns:a16="http://schemas.microsoft.com/office/drawing/2014/main" id="{76CC8FE3-D438-438F-102D-69D410D0FD03}"/>
              </a:ext>
            </a:extLst>
          </p:cNvPr>
          <p:cNvSpPr/>
          <p:nvPr/>
        </p:nvSpPr>
        <p:spPr>
          <a:xfrm>
            <a:off x="5241370" y="4582896"/>
            <a:ext cx="4526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6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6CA88C-F9A3-3831-3FF2-F59CC9F10D87}"/>
              </a:ext>
            </a:extLst>
          </p:cNvPr>
          <p:cNvSpPr txBox="1"/>
          <p:nvPr/>
        </p:nvSpPr>
        <p:spPr>
          <a:xfrm>
            <a:off x="5652850" y="473834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6F11"/>
                </a:solidFill>
                <a:latin typeface="Times New Roman"/>
              </a:rPr>
              <a:t>Tools &amp; Libraries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F75649-22A8-74AA-8BD0-FBFFA993304B}"/>
              </a:ext>
            </a:extLst>
          </p:cNvPr>
          <p:cNvSpPr txBox="1"/>
          <p:nvPr/>
        </p:nvSpPr>
        <p:spPr>
          <a:xfrm>
            <a:off x="5652850" y="5058384"/>
            <a:ext cx="3840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F4E79"/>
                </a:solidFill>
                <a:latin typeface="Arial"/>
              </a:rPr>
              <a:t>Python   •   Pandas   •   NumPy   •   Matplotlib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417630-B02B-9BFD-C4E7-8078E6A9BE9B}"/>
              </a:ext>
            </a:extLst>
          </p:cNvPr>
          <p:cNvSpPr txBox="1"/>
          <p:nvPr/>
        </p:nvSpPr>
        <p:spPr>
          <a:xfrm>
            <a:off x="777240" y="11430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1F4E79"/>
                </a:solidFill>
                <a:latin typeface="Times New Roman"/>
              </a:rPr>
              <a:t>UPI Transactions 2024 dataset — transaction-level data for payment analysis</a:t>
            </a:r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20919" y="37267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53" y="1115220"/>
            <a:ext cx="9770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Module 1 – Data Loading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required libraries.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Load UPI Transaction CSV.</a:t>
            </a: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2502A97-D245-72B2-C4CE-36C3CF74332D}"/>
              </a:ext>
            </a:extLst>
          </p:cNvPr>
          <p:cNvSpPr/>
          <p:nvPr/>
        </p:nvSpPr>
        <p:spPr>
          <a:xfrm>
            <a:off x="4796282" y="2373939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4B842-9CD3-AA46-6CA7-F730C9D1D96E}"/>
              </a:ext>
            </a:extLst>
          </p:cNvPr>
          <p:cNvSpPr txBox="1"/>
          <p:nvPr/>
        </p:nvSpPr>
        <p:spPr>
          <a:xfrm>
            <a:off x="2766285" y="2609096"/>
            <a:ext cx="42498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Exploration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dataset size.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 Columns and  data types.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18714A5-46F1-BD0D-4A00-BB0C1211F660}"/>
              </a:ext>
            </a:extLst>
          </p:cNvPr>
          <p:cNvSpPr/>
          <p:nvPr/>
        </p:nvSpPr>
        <p:spPr>
          <a:xfrm>
            <a:off x="4756604" y="3814644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59C03E-C4CB-43D3-0C7D-3D50822A8B32}"/>
              </a:ext>
            </a:extLst>
          </p:cNvPr>
          <p:cNvSpPr txBox="1"/>
          <p:nvPr/>
        </p:nvSpPr>
        <p:spPr>
          <a:xfrm>
            <a:off x="2145238" y="4228115"/>
            <a:ext cx="57679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Data Validation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fill missing values.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transaction amounts and fraud flags.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02D8121-E16D-A49A-1052-85D8AFE05F58}"/>
              </a:ext>
            </a:extLst>
          </p:cNvPr>
          <p:cNvSpPr/>
          <p:nvPr/>
        </p:nvSpPr>
        <p:spPr>
          <a:xfrm>
            <a:off x="4850334" y="5797775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9C953-BED3-2F43-1A1F-3B7650BC3A88}"/>
              </a:ext>
            </a:extLst>
          </p:cNvPr>
          <p:cNvSpPr txBox="1"/>
          <p:nvPr/>
        </p:nvSpPr>
        <p:spPr>
          <a:xfrm>
            <a:off x="2566639" y="6216465"/>
            <a:ext cx="5029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Data Preprocessing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timestamp into datetime format.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hour, day and other time info.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C6D514-1AF0-EDB1-7078-687065ECF56B}"/>
              </a:ext>
            </a:extLst>
          </p:cNvPr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F02D1B8B-963F-84C5-69F0-17C3EECCFD8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BD448D2F-A85D-4EA9-4AFA-DBD143FFC36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1" name="object 5">
              <a:extLst>
                <a:ext uri="{FF2B5EF4-FFF2-40B4-BE49-F238E27FC236}">
                  <a16:creationId xmlns:a16="http://schemas.microsoft.com/office/drawing/2014/main" id="{70B9531E-FF63-3CBC-8C76-5101CEB24CF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2" name="object 6">
              <a:extLst>
                <a:ext uri="{FF2B5EF4-FFF2-40B4-BE49-F238E27FC236}">
                  <a16:creationId xmlns:a16="http://schemas.microsoft.com/office/drawing/2014/main" id="{A51A82D2-D894-569F-6C1F-514FA4F1297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3" name="object 7">
              <a:extLst>
                <a:ext uri="{FF2B5EF4-FFF2-40B4-BE49-F238E27FC236}">
                  <a16:creationId xmlns:a16="http://schemas.microsoft.com/office/drawing/2014/main" id="{B3782B54-B821-DE87-C2B7-79ECF9E77AF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5CA9835-2A27-E3B2-E349-E0FE4429CFBE}"/>
              </a:ext>
            </a:extLst>
          </p:cNvPr>
          <p:cNvSpPr txBox="1"/>
          <p:nvPr/>
        </p:nvSpPr>
        <p:spPr>
          <a:xfrm>
            <a:off x="2586213" y="413290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sz="2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9BA950-6049-F76A-4A0C-CF5ED87D2763}"/>
              </a:ext>
            </a:extLst>
          </p:cNvPr>
          <p:cNvSpPr txBox="1"/>
          <p:nvPr/>
        </p:nvSpPr>
        <p:spPr>
          <a:xfrm>
            <a:off x="1816265" y="953427"/>
            <a:ext cx="66529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–Data Filtering</a:t>
            </a: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successful transactions.</a:t>
            </a:r>
          </a:p>
          <a:p>
            <a:pPr lvl="0"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fraudulent transactions.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3B0312D2-1C2D-0FC3-47A4-8970E0D691E7}"/>
              </a:ext>
            </a:extLst>
          </p:cNvPr>
          <p:cNvSpPr/>
          <p:nvPr/>
        </p:nvSpPr>
        <p:spPr>
          <a:xfrm>
            <a:off x="4850336" y="2073672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A49019-54D3-0F1F-3651-5D4892AE3078}"/>
              </a:ext>
            </a:extLst>
          </p:cNvPr>
          <p:cNvSpPr txBox="1"/>
          <p:nvPr/>
        </p:nvSpPr>
        <p:spPr>
          <a:xfrm>
            <a:off x="2895600" y="2407224"/>
            <a:ext cx="4876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–Data Aggregation</a:t>
            </a: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transaction type.</a:t>
            </a: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merchant category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fraud status.</a:t>
            </a:r>
          </a:p>
          <a:p>
            <a:pPr algn="ctr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6D0F4567-D057-4BE7-32A7-334EC2164A2C}"/>
              </a:ext>
            </a:extLst>
          </p:cNvPr>
          <p:cNvSpPr/>
          <p:nvPr/>
        </p:nvSpPr>
        <p:spPr>
          <a:xfrm>
            <a:off x="4850336" y="3959586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C43C12-4B70-F721-9E0A-DD8370D3BABC}"/>
              </a:ext>
            </a:extLst>
          </p:cNvPr>
          <p:cNvSpPr txBox="1"/>
          <p:nvPr/>
        </p:nvSpPr>
        <p:spPr>
          <a:xfrm>
            <a:off x="2628152" y="4271243"/>
            <a:ext cx="502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Data Visualization</a:t>
            </a: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counts.</a:t>
            </a: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totals.</a:t>
            </a: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transaction and fraud patterns.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D2A13C47-9211-7F6A-3235-E7CA857CC45D}"/>
              </a:ext>
            </a:extLst>
          </p:cNvPr>
          <p:cNvSpPr/>
          <p:nvPr/>
        </p:nvSpPr>
        <p:spPr>
          <a:xfrm>
            <a:off x="4850336" y="5619639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8BCE5-A3E9-0942-2521-8A05596F86BE}"/>
              </a:ext>
            </a:extLst>
          </p:cNvPr>
          <p:cNvSpPr txBox="1"/>
          <p:nvPr/>
        </p:nvSpPr>
        <p:spPr>
          <a:xfrm>
            <a:off x="3124200" y="5931296"/>
            <a:ext cx="63921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–Visualization &amp; Interpretation 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Generate charts.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Identify important patterns.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Interpret the results.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8391EE48-4536-CEE1-28E6-C78CC277B6C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82820B1-24F5-11B0-D6C9-6AEE95AB9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51496"/>
              </p:ext>
            </p:extLst>
          </p:nvPr>
        </p:nvGraphicFramePr>
        <p:xfrm>
          <a:off x="0" y="1965960"/>
          <a:ext cx="48920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22FAEAE2-B88A-6D0F-066D-3A6537C85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22529"/>
              </p:ext>
            </p:extLst>
          </p:nvPr>
        </p:nvGraphicFramePr>
        <p:xfrm>
          <a:off x="5486400" y="1965960"/>
          <a:ext cx="45720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18ECC0A3-857E-6A4F-3C4F-C20F8257B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163693"/>
              </p:ext>
            </p:extLst>
          </p:nvPr>
        </p:nvGraphicFramePr>
        <p:xfrm>
          <a:off x="0" y="4343400"/>
          <a:ext cx="48920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1A5C935E-A7D8-3F76-5737-8ED93306C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140259"/>
              </p:ext>
            </p:extLst>
          </p:nvPr>
        </p:nvGraphicFramePr>
        <p:xfrm>
          <a:off x="5486400" y="4343400"/>
          <a:ext cx="45720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34" name="object 3">
            <a:extLst>
              <a:ext uri="{FF2B5EF4-FFF2-40B4-BE49-F238E27FC236}">
                <a16:creationId xmlns:a16="http://schemas.microsoft.com/office/drawing/2014/main" id="{34AF480C-426C-0B6C-66B9-3146420461A2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921913" y="196401"/>
            <a:ext cx="4214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 INSIGHTS &amp; ANALYSIS</a:t>
            </a:r>
          </a:p>
          <a:p>
            <a:endParaRPr lang="en-US" sz="2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62192" y="1355421"/>
            <a:ext cx="8961120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1" dirty="0"/>
              <a:t>Overall Transaction Statistics : -</a:t>
            </a:r>
          </a:p>
          <a:p>
            <a:pPr algn="just"/>
            <a:endParaRPr lang="en-IN" sz="2800" dirty="0"/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dirty="0"/>
              <a:t>Total Transactions:</a:t>
            </a:r>
            <a:r>
              <a:rPr lang="en-IN" sz="2800" dirty="0"/>
              <a:t> 250,000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dirty="0"/>
              <a:t>Total Transaction Value:</a:t>
            </a:r>
            <a:r>
              <a:rPr lang="en-IN" sz="2800" dirty="0"/>
              <a:t> ₹327,939,009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dirty="0"/>
              <a:t>Average Transaction:</a:t>
            </a:r>
            <a:r>
              <a:rPr lang="en-IN" sz="2800" dirty="0"/>
              <a:t> ₹1,311.76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dirty="0"/>
              <a:t>Minimum Transaction:</a:t>
            </a:r>
            <a:r>
              <a:rPr lang="en-IN" sz="2800" dirty="0"/>
              <a:t> ₹10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dirty="0"/>
              <a:t>Maximum Transaction:</a:t>
            </a:r>
            <a:r>
              <a:rPr lang="en-IN" sz="2800" dirty="0"/>
              <a:t> ₹42,099 </a:t>
            </a:r>
          </a:p>
          <a:p>
            <a:pPr lvl="0" algn="just"/>
            <a:endParaRPr lang="en-IN" sz="2800" dirty="0"/>
          </a:p>
          <a:p>
            <a:pPr algn="just"/>
            <a:r>
              <a:rPr lang="en-IN" sz="2800" b="1" dirty="0"/>
              <a:t>Transaction Status : -</a:t>
            </a:r>
          </a:p>
          <a:p>
            <a:pPr algn="just"/>
            <a:endParaRPr lang="en-IN" sz="2800" dirty="0"/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dirty="0"/>
              <a:t>Successful:</a:t>
            </a:r>
            <a:r>
              <a:rPr lang="en-IN" sz="2800" dirty="0"/>
              <a:t> 237,624 — 95.05% </a:t>
            </a:r>
          </a:p>
          <a:p>
            <a:pPr lvl="0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dirty="0"/>
              <a:t>Failed:</a:t>
            </a:r>
            <a:r>
              <a:rPr lang="en-IN" sz="2800" dirty="0"/>
              <a:t> 12,376 — 4.95% </a:t>
            </a:r>
          </a:p>
          <a:p>
            <a:pPr algn="just">
              <a:spcAft>
                <a:spcPts val="1400"/>
              </a:spcAft>
            </a:pPr>
            <a:endParaRPr sz="1700" dirty="0">
              <a:solidFill>
                <a:srgbClr val="2D2D2D"/>
              </a:solidFill>
              <a:latin typeface="Times New Roman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24A4BBF2-B375-F3AA-E53A-2414F823FDD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81" y="1475556"/>
            <a:ext cx="84124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/>
              <a:t>The project demonstrates a complete UPI transaction data-analysis workflow.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/>
              <a:t>Python and Pandas were used to process and analyse 250,000 transaction records.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/>
              <a:t>Data validation confirmed zero missing values and zero duplicate records.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/>
              <a:t>Statistical analysis provided an understanding of transaction amounts, status and types.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/>
              <a:t>Visualization helped identify patterns across time, merchant, device, network and geographical dimensions.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/>
              <a:t>Fraud analysis helped identify characteristics associated with fraudulent transactions.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/>
              <a:t>The project demonstrates how raw transaction data can be converted into meaningful analytical insights.</a:t>
            </a:r>
          </a:p>
          <a:p>
            <a:pPr algn="just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3485" y="6016903"/>
            <a:ext cx="8138160" cy="153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C25B30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Future scope: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i="1" dirty="0"/>
              <a:t>“Transforming UPI data insights into smarter, faster, and more secure digital payment solutions through advanced analytics and fraud detection.”</a:t>
            </a:r>
            <a:endParaRPr lang="en-IN" sz="2000" b="1" dirty="0"/>
          </a:p>
          <a:p>
            <a:pPr algn="ctr">
              <a:spcAft>
                <a:spcPts val="700"/>
              </a:spcAft>
              <a:defRPr sz="1600" b="1">
                <a:solidFill>
                  <a:srgbClr val="C25B30"/>
                </a:solidFill>
                <a:latin typeface="Aptos"/>
              </a:defRPr>
            </a:pP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3455</TotalTime>
  <Words>944</Words>
  <Application>Microsoft Office PowerPoint</Application>
  <PresentationFormat>Custom</PresentationFormat>
  <Paragraphs>174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Manoj Reddy Tetala</cp:lastModifiedBy>
  <cp:revision>118</cp:revision>
  <cp:lastPrinted>2025-10-14T18:21:49Z</cp:lastPrinted>
  <dcterms:created xsi:type="dcterms:W3CDTF">2025-10-10T08:28:06Z</dcterms:created>
  <dcterms:modified xsi:type="dcterms:W3CDTF">2026-10-30T04:12:37Z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